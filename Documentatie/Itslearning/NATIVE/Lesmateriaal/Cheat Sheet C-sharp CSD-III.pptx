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69" r:id="rId5"/>
    <p:sldId id="270" r:id="rId6"/>
    <p:sldId id="357" r:id="rId7"/>
    <p:sldId id="276" r:id="rId8"/>
    <p:sldId id="278" r:id="rId9"/>
    <p:sldId id="279" r:id="rId10"/>
    <p:sldId id="272" r:id="rId11"/>
    <p:sldId id="280" r:id="rId12"/>
    <p:sldId id="283" r:id="rId13"/>
    <p:sldId id="281" r:id="rId14"/>
    <p:sldId id="282" r:id="rId15"/>
    <p:sldId id="277" r:id="rId16"/>
    <p:sldId id="284" r:id="rId17"/>
    <p:sldId id="285" r:id="rId18"/>
    <p:sldId id="273" r:id="rId19"/>
    <p:sldId id="286" r:id="rId20"/>
    <p:sldId id="287" r:id="rId21"/>
  </p:sldIdLst>
  <p:sldSz cx="12192000" cy="6858000"/>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739D90-CE68-46CD-A071-FA9154CD3304}" v="40" dt="2022-02-22T13:22:05.854"/>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9" autoAdjust="0"/>
    <p:restoredTop sz="94660"/>
  </p:normalViewPr>
  <p:slideViewPr>
    <p:cSldViewPr snapToGrid="0">
      <p:cViewPr varScale="1">
        <p:scale>
          <a:sx n="86" d="100"/>
          <a:sy n="86" d="100"/>
        </p:scale>
        <p:origin x="56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7D3C4896-1A24-4335-9280-AEF139A273B1}" type="datetimeFigureOut">
              <a:rPr lang="nl-NL" smtClean="0"/>
              <a:t>6-9-2022</a:t>
            </a:fld>
            <a:endParaRPr lang="nl-NL"/>
          </a:p>
        </p:txBody>
      </p:sp>
      <p:sp>
        <p:nvSpPr>
          <p:cNvPr id="4" name="Tijdelijke aanduiding voor dia-afbeelding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31FC2250-C9C7-47D6-9352-0D56E0D7B648}" type="slidenum">
              <a:rPr lang="nl-NL" smtClean="0"/>
              <a:t>‹nr.›</a:t>
            </a:fld>
            <a:endParaRPr lang="nl-NL"/>
          </a:p>
        </p:txBody>
      </p:sp>
    </p:spTree>
    <p:extLst>
      <p:ext uri="{BB962C8B-B14F-4D97-AF65-F5344CB8AC3E}">
        <p14:creationId xmlns:p14="http://schemas.microsoft.com/office/powerpoint/2010/main" val="618313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1</a:t>
            </a:fld>
            <a:endParaRPr lang="nl-NL" dirty="0"/>
          </a:p>
        </p:txBody>
      </p:sp>
    </p:spTree>
    <p:extLst>
      <p:ext uri="{BB962C8B-B14F-4D97-AF65-F5344CB8AC3E}">
        <p14:creationId xmlns:p14="http://schemas.microsoft.com/office/powerpoint/2010/main" val="3264325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2</a:t>
            </a:fld>
            <a:endParaRPr lang="nl-NL" dirty="0"/>
          </a:p>
        </p:txBody>
      </p:sp>
    </p:spTree>
    <p:extLst>
      <p:ext uri="{BB962C8B-B14F-4D97-AF65-F5344CB8AC3E}">
        <p14:creationId xmlns:p14="http://schemas.microsoft.com/office/powerpoint/2010/main" val="3139333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Dit zijn de conventies voor C#; sommige kennen jullie al, zoals </a:t>
            </a:r>
            <a:r>
              <a:rPr lang="nl-NL" dirty="0" err="1"/>
              <a:t>PascalCase</a:t>
            </a:r>
            <a:r>
              <a:rPr lang="nl-NL" dirty="0"/>
              <a:t> voor classes en </a:t>
            </a:r>
            <a:r>
              <a:rPr lang="nl-NL" dirty="0" err="1"/>
              <a:t>camelCase</a:t>
            </a:r>
            <a:r>
              <a:rPr lang="nl-NL" dirty="0"/>
              <a:t> voor private fields. Tot nu toe hebben we weinig onderscheid gemaakt tussen private en public, meestal koos je daarom maar voor Public, want dan kreeg je tenminste geen foutmeldingen. In de komende weken gaan we dit omdraaien: In principe moet iedere variabele en </a:t>
            </a:r>
            <a:r>
              <a:rPr lang="nl-NL" dirty="0" err="1"/>
              <a:t>method</a:t>
            </a:r>
            <a:r>
              <a:rPr lang="nl-NL" dirty="0"/>
              <a:t> </a:t>
            </a:r>
            <a:r>
              <a:rPr lang="nl-NL" i="1" dirty="0"/>
              <a:t>private</a:t>
            </a:r>
            <a:r>
              <a:rPr lang="nl-NL" i="0" dirty="0"/>
              <a:t> zijn, tenzij die methode publiekelijk toegankelijk </a:t>
            </a:r>
            <a:r>
              <a:rPr lang="nl-NL" i="1" dirty="0"/>
              <a:t>MOET</a:t>
            </a:r>
            <a:r>
              <a:rPr lang="nl-NL" i="0" dirty="0"/>
              <a:t> zijn, fields mogen in principe niet meer public zijn. We gaan later verder in op waarom dat zo is en hoe je dan toegang krijgt tot gegevens van andere objecten.</a:t>
            </a:r>
          </a:p>
          <a:p>
            <a:endParaRPr lang="nl-NL" i="0" dirty="0"/>
          </a:p>
          <a:p>
            <a:r>
              <a:rPr lang="nl-NL" i="0" dirty="0"/>
              <a:t>LET GOED OP DE CONVENTIES: Tot nu toe maakte het allemaal niet zoveel uit, maar je zult nu gaan merken dat die hoofd- en kleine letters écht uit gaan maken: Het maakt uit of je de Update- of update-methode aanroept. Daarom is het belangrijk dat je deze conventies kent en goed gebruikt.</a:t>
            </a:r>
          </a:p>
          <a:p>
            <a:endParaRPr lang="nl-NL" i="0" dirty="0"/>
          </a:p>
          <a:p>
            <a:r>
              <a:rPr lang="nl-NL" i="0" dirty="0"/>
              <a:t>Alle publieke fields, classes, </a:t>
            </a:r>
            <a:r>
              <a:rPr lang="nl-NL" i="0" dirty="0" err="1"/>
              <a:t>methods</a:t>
            </a:r>
            <a:r>
              <a:rPr lang="nl-NL" i="0" dirty="0"/>
              <a:t>, etc. zijn altijd </a:t>
            </a:r>
            <a:r>
              <a:rPr lang="nl-NL" i="0" dirty="0" err="1"/>
              <a:t>PascalCase</a:t>
            </a:r>
            <a:r>
              <a:rPr lang="nl-NL" i="0" dirty="0"/>
              <a:t> (maar let op: public fields gaan we niet meer gebruiken); private fields schrijven we </a:t>
            </a:r>
            <a:r>
              <a:rPr lang="nl-NL" i="0" dirty="0" err="1"/>
              <a:t>camelCase</a:t>
            </a:r>
            <a:r>
              <a:rPr lang="nl-NL" i="0" dirty="0"/>
              <a:t>.</a:t>
            </a:r>
          </a:p>
          <a:p>
            <a:endParaRPr lang="nl-NL" i="0" dirty="0"/>
          </a:p>
          <a:p>
            <a:r>
              <a:rPr lang="nl-NL" i="0" dirty="0"/>
              <a:t>We gaan deze periode ook beginnen met het gebruik van Interfaces: hierover later meer. Voor nu hoef je alleen te onthouden dat wanneer je een </a:t>
            </a:r>
            <a:r>
              <a:rPr lang="nl-NL" i="0" dirty="0" err="1"/>
              <a:t>PascalCase</a:t>
            </a:r>
            <a:r>
              <a:rPr lang="nl-NL" i="0" dirty="0"/>
              <a:t>-naam met een hoofdletter I ervoor tegenkomt, dit een interface is (en: als je zelf een interface gaat maken, geef je die een toepasselijke naam in </a:t>
            </a:r>
            <a:r>
              <a:rPr lang="nl-NL" i="0" dirty="0" err="1"/>
              <a:t>PascalCase</a:t>
            </a:r>
            <a:r>
              <a:rPr lang="nl-NL" i="0" dirty="0"/>
              <a:t> met een hoofdletter I ervoor).</a:t>
            </a:r>
          </a:p>
          <a:p>
            <a:endParaRPr lang="nl-NL" i="0" dirty="0"/>
          </a:p>
          <a:p>
            <a:endParaRPr lang="nl-NL" i="0" dirty="0"/>
          </a:p>
          <a:p>
            <a:endParaRPr lang="nl-NL" dirty="0"/>
          </a:p>
        </p:txBody>
      </p:sp>
      <p:sp>
        <p:nvSpPr>
          <p:cNvPr id="4" name="Tijdelijke aanduiding voor dianummer 3"/>
          <p:cNvSpPr>
            <a:spLocks noGrp="1"/>
          </p:cNvSpPr>
          <p:nvPr>
            <p:ph type="sldNum" sz="quarter" idx="5"/>
          </p:nvPr>
        </p:nvSpPr>
        <p:spPr/>
        <p:txBody>
          <a:bodyPr/>
          <a:lstStyle/>
          <a:p>
            <a:fld id="{283AC586-181C-C84F-A27D-96D784670D75}" type="slidenum">
              <a:rPr lang="nl-NL" smtClean="0"/>
              <a:t>3</a:t>
            </a:fld>
            <a:endParaRPr lang="nl-NL"/>
          </a:p>
        </p:txBody>
      </p:sp>
    </p:spTree>
    <p:extLst>
      <p:ext uri="{BB962C8B-B14F-4D97-AF65-F5344CB8AC3E}">
        <p14:creationId xmlns:p14="http://schemas.microsoft.com/office/powerpoint/2010/main" val="4058146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4</a:t>
            </a:fld>
            <a:endParaRPr lang="nl-NL" dirty="0"/>
          </a:p>
        </p:txBody>
      </p:sp>
    </p:spTree>
    <p:extLst>
      <p:ext uri="{BB962C8B-B14F-4D97-AF65-F5344CB8AC3E}">
        <p14:creationId xmlns:p14="http://schemas.microsoft.com/office/powerpoint/2010/main" val="1666055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5</a:t>
            </a:fld>
            <a:endParaRPr lang="nl-NL" dirty="0"/>
          </a:p>
        </p:txBody>
      </p:sp>
    </p:spTree>
    <p:extLst>
      <p:ext uri="{BB962C8B-B14F-4D97-AF65-F5344CB8AC3E}">
        <p14:creationId xmlns:p14="http://schemas.microsoft.com/office/powerpoint/2010/main" val="1835432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6</a:t>
            </a:fld>
            <a:endParaRPr lang="nl-NL" dirty="0"/>
          </a:p>
        </p:txBody>
      </p:sp>
    </p:spTree>
    <p:extLst>
      <p:ext uri="{BB962C8B-B14F-4D97-AF65-F5344CB8AC3E}">
        <p14:creationId xmlns:p14="http://schemas.microsoft.com/office/powerpoint/2010/main" val="395511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7</a:t>
            </a:fld>
            <a:endParaRPr lang="nl-NL" dirty="0"/>
          </a:p>
        </p:txBody>
      </p:sp>
    </p:spTree>
    <p:extLst>
      <p:ext uri="{BB962C8B-B14F-4D97-AF65-F5344CB8AC3E}">
        <p14:creationId xmlns:p14="http://schemas.microsoft.com/office/powerpoint/2010/main" val="2563779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8</a:t>
            </a:fld>
            <a:endParaRPr lang="nl-NL" dirty="0"/>
          </a:p>
        </p:txBody>
      </p:sp>
    </p:spTree>
    <p:extLst>
      <p:ext uri="{BB962C8B-B14F-4D97-AF65-F5344CB8AC3E}">
        <p14:creationId xmlns:p14="http://schemas.microsoft.com/office/powerpoint/2010/main" val="2707566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9</a:t>
            </a:fld>
            <a:endParaRPr lang="nl-NL" dirty="0"/>
          </a:p>
        </p:txBody>
      </p:sp>
    </p:spTree>
    <p:extLst>
      <p:ext uri="{BB962C8B-B14F-4D97-AF65-F5344CB8AC3E}">
        <p14:creationId xmlns:p14="http://schemas.microsoft.com/office/powerpoint/2010/main" val="2308132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10</a:t>
            </a:fld>
            <a:endParaRPr lang="nl-NL" dirty="0"/>
          </a:p>
        </p:txBody>
      </p:sp>
    </p:spTree>
    <p:extLst>
      <p:ext uri="{BB962C8B-B14F-4D97-AF65-F5344CB8AC3E}">
        <p14:creationId xmlns:p14="http://schemas.microsoft.com/office/powerpoint/2010/main" val="3436361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11</a:t>
            </a:fld>
            <a:endParaRPr lang="nl-NL" dirty="0"/>
          </a:p>
        </p:txBody>
      </p:sp>
    </p:spTree>
    <p:extLst>
      <p:ext uri="{BB962C8B-B14F-4D97-AF65-F5344CB8AC3E}">
        <p14:creationId xmlns:p14="http://schemas.microsoft.com/office/powerpoint/2010/main" val="575446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12</a:t>
            </a:fld>
            <a:endParaRPr lang="nl-NL" dirty="0"/>
          </a:p>
        </p:txBody>
      </p:sp>
    </p:spTree>
    <p:extLst>
      <p:ext uri="{BB962C8B-B14F-4D97-AF65-F5344CB8AC3E}">
        <p14:creationId xmlns:p14="http://schemas.microsoft.com/office/powerpoint/2010/main" val="728480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13</a:t>
            </a:fld>
            <a:endParaRPr lang="nl-NL" dirty="0"/>
          </a:p>
        </p:txBody>
      </p:sp>
    </p:spTree>
    <p:extLst>
      <p:ext uri="{BB962C8B-B14F-4D97-AF65-F5344CB8AC3E}">
        <p14:creationId xmlns:p14="http://schemas.microsoft.com/office/powerpoint/2010/main" val="502031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14</a:t>
            </a:fld>
            <a:endParaRPr lang="nl-NL" dirty="0"/>
          </a:p>
        </p:txBody>
      </p:sp>
    </p:spTree>
    <p:extLst>
      <p:ext uri="{BB962C8B-B14F-4D97-AF65-F5344CB8AC3E}">
        <p14:creationId xmlns:p14="http://schemas.microsoft.com/office/powerpoint/2010/main" val="682665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15</a:t>
            </a:fld>
            <a:endParaRPr lang="nl-NL" dirty="0"/>
          </a:p>
        </p:txBody>
      </p:sp>
    </p:spTree>
    <p:extLst>
      <p:ext uri="{BB962C8B-B14F-4D97-AF65-F5344CB8AC3E}">
        <p14:creationId xmlns:p14="http://schemas.microsoft.com/office/powerpoint/2010/main" val="2277871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16</a:t>
            </a:fld>
            <a:endParaRPr lang="nl-NL" dirty="0"/>
          </a:p>
        </p:txBody>
      </p:sp>
    </p:spTree>
    <p:extLst>
      <p:ext uri="{BB962C8B-B14F-4D97-AF65-F5344CB8AC3E}">
        <p14:creationId xmlns:p14="http://schemas.microsoft.com/office/powerpoint/2010/main" val="24336047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F8801EF-050B-4DFE-9662-589085ED7D0D}" type="slidenum">
              <a:rPr lang="nl-NL" smtClean="0"/>
              <a:t>17</a:t>
            </a:fld>
            <a:endParaRPr lang="nl-NL" dirty="0"/>
          </a:p>
        </p:txBody>
      </p:sp>
    </p:spTree>
    <p:extLst>
      <p:ext uri="{BB962C8B-B14F-4D97-AF65-F5344CB8AC3E}">
        <p14:creationId xmlns:p14="http://schemas.microsoft.com/office/powerpoint/2010/main" val="1804431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Hoofdstuk">
    <p:bg>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6B7026-F689-47F3-A380-2937BF2630EA}"/>
              </a:ext>
            </a:extLst>
          </p:cNvPr>
          <p:cNvSpPr>
            <a:spLocks noGrp="1"/>
          </p:cNvSpPr>
          <p:nvPr>
            <p:ph type="title"/>
          </p:nvPr>
        </p:nvSpPr>
        <p:spPr>
          <a:xfrm>
            <a:off x="324000" y="288000"/>
            <a:ext cx="11520000" cy="1872000"/>
          </a:xfrm>
        </p:spPr>
        <p:txBody>
          <a:bodyPr/>
          <a:lstStyle>
            <a:lvl1pPr>
              <a:defRPr sz="5363">
                <a:solidFill>
                  <a:schemeClr val="accent1"/>
                </a:solidFill>
              </a:defRPr>
            </a:lvl1pPr>
          </a:lstStyle>
          <a:p>
            <a:r>
              <a:rPr lang="nl-NL"/>
              <a:t>Klik om de stijl te bewerken</a:t>
            </a:r>
            <a:endParaRPr lang="nl-NL" dirty="0"/>
          </a:p>
        </p:txBody>
      </p:sp>
      <p:sp>
        <p:nvSpPr>
          <p:cNvPr id="4" name="Tijdelijke aanduiding voor datum 3">
            <a:extLst>
              <a:ext uri="{FF2B5EF4-FFF2-40B4-BE49-F238E27FC236}">
                <a16:creationId xmlns:a16="http://schemas.microsoft.com/office/drawing/2014/main" id="{64E27E2C-1D1C-4583-BE92-667A3F59195E}"/>
              </a:ext>
            </a:extLst>
          </p:cNvPr>
          <p:cNvSpPr>
            <a:spLocks noGrp="1"/>
          </p:cNvSpPr>
          <p:nvPr>
            <p:ph type="dt" sz="half" idx="10"/>
          </p:nvPr>
        </p:nvSpPr>
        <p:spPr/>
        <p:txBody>
          <a:bodyPr/>
          <a:lstStyle/>
          <a:p>
            <a:r>
              <a:rPr lang="nl-NL"/>
              <a:t>1 november 2019</a:t>
            </a:r>
          </a:p>
        </p:txBody>
      </p:sp>
      <p:sp>
        <p:nvSpPr>
          <p:cNvPr id="5" name="Tijdelijke aanduiding voor voettekst 4">
            <a:extLst>
              <a:ext uri="{FF2B5EF4-FFF2-40B4-BE49-F238E27FC236}">
                <a16:creationId xmlns:a16="http://schemas.microsoft.com/office/drawing/2014/main" id="{C5975139-6F7D-413F-A27C-C9F0FF41A9D0}"/>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544E85F-82EE-4EE8-932D-1F60D0238F40}"/>
              </a:ext>
            </a:extLst>
          </p:cNvPr>
          <p:cNvSpPr>
            <a:spLocks noGrp="1"/>
          </p:cNvSpPr>
          <p:nvPr>
            <p:ph type="sldNum" sz="quarter" idx="12"/>
          </p:nvPr>
        </p:nvSpPr>
        <p:spPr/>
        <p:txBody>
          <a:bodyPr/>
          <a:lstStyle>
            <a:lvl1pPr>
              <a:defRPr>
                <a:solidFill>
                  <a:schemeClr val="accent1"/>
                </a:solidFill>
              </a:defRPr>
            </a:lvl1pPr>
          </a:lstStyle>
          <a:p>
            <a:fld id="{F42B3F14-D836-496B-80A2-23BE75BD68CB}" type="slidenum">
              <a:rPr lang="nl-NL" smtClean="0"/>
              <a:pPr/>
              <a:t>‹nr.›</a:t>
            </a:fld>
            <a:endParaRPr lang="nl-NL" dirty="0"/>
          </a:p>
        </p:txBody>
      </p:sp>
      <p:grpSp>
        <p:nvGrpSpPr>
          <p:cNvPr id="7" name="Graphic 9">
            <a:extLst>
              <a:ext uri="{FF2B5EF4-FFF2-40B4-BE49-F238E27FC236}">
                <a16:creationId xmlns:a16="http://schemas.microsoft.com/office/drawing/2014/main" id="{6A9C89B8-CF81-4BC7-A3A9-BF88721EC925}"/>
              </a:ext>
            </a:extLst>
          </p:cNvPr>
          <p:cNvGrpSpPr/>
          <p:nvPr userDrawn="1"/>
        </p:nvGrpSpPr>
        <p:grpSpPr>
          <a:xfrm>
            <a:off x="11166424" y="6268654"/>
            <a:ext cx="662400" cy="229292"/>
            <a:chOff x="9591675" y="6288523"/>
            <a:chExt cx="662400" cy="229292"/>
          </a:xfrm>
        </p:grpSpPr>
        <p:sp>
          <p:nvSpPr>
            <p:cNvPr id="8" name="Vrije vorm: vorm 7">
              <a:extLst>
                <a:ext uri="{FF2B5EF4-FFF2-40B4-BE49-F238E27FC236}">
                  <a16:creationId xmlns:a16="http://schemas.microsoft.com/office/drawing/2014/main" id="{23796ABA-F4D2-4090-B864-0036D6E9FEEA}"/>
                </a:ext>
              </a:extLst>
            </p:cNvPr>
            <p:cNvSpPr/>
            <p:nvPr/>
          </p:nvSpPr>
          <p:spPr>
            <a:xfrm>
              <a:off x="9591675" y="6359476"/>
              <a:ext cx="140123" cy="152861"/>
            </a:xfrm>
            <a:custGeom>
              <a:avLst/>
              <a:gdLst>
                <a:gd name="connsiteX0" fmla="*/ 80291 w 140123"/>
                <a:gd name="connsiteY0" fmla="*/ 159014 h 152861"/>
                <a:gd name="connsiteX1" fmla="*/ 0 w 140123"/>
                <a:gd name="connsiteY1" fmla="*/ 79666 h 152861"/>
                <a:gd name="connsiteX2" fmla="*/ 80291 w 140123"/>
                <a:gd name="connsiteY2" fmla="*/ 0 h 152861"/>
                <a:gd name="connsiteX3" fmla="*/ 147511 w 140123"/>
                <a:gd name="connsiteY3" fmla="*/ 37642 h 152861"/>
                <a:gd name="connsiteX4" fmla="*/ 110481 w 140123"/>
                <a:gd name="connsiteY4" fmla="*/ 58813 h 152861"/>
                <a:gd name="connsiteX5" fmla="*/ 80291 w 140123"/>
                <a:gd name="connsiteY5" fmla="*/ 41999 h 152861"/>
                <a:gd name="connsiteX6" fmla="*/ 42954 w 140123"/>
                <a:gd name="connsiteY6" fmla="*/ 79666 h 152861"/>
                <a:gd name="connsiteX7" fmla="*/ 80291 w 140123"/>
                <a:gd name="connsiteY7" fmla="*/ 117003 h 152861"/>
                <a:gd name="connsiteX8" fmla="*/ 113270 w 140123"/>
                <a:gd name="connsiteY8" fmla="*/ 97704 h 152861"/>
                <a:gd name="connsiteX9" fmla="*/ 152174 w 140123"/>
                <a:gd name="connsiteY9" fmla="*/ 115130 h 152861"/>
                <a:gd name="connsiteX10" fmla="*/ 80291 w 140123"/>
                <a:gd name="connsiteY10" fmla="*/ 159014 h 15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0123" h="152861">
                  <a:moveTo>
                    <a:pt x="80291" y="159014"/>
                  </a:moveTo>
                  <a:cubicBezTo>
                    <a:pt x="34547" y="159014"/>
                    <a:pt x="0" y="125092"/>
                    <a:pt x="0" y="79666"/>
                  </a:cubicBezTo>
                  <a:cubicBezTo>
                    <a:pt x="0" y="34228"/>
                    <a:pt x="34547" y="0"/>
                    <a:pt x="80291" y="0"/>
                  </a:cubicBezTo>
                  <a:cubicBezTo>
                    <a:pt x="110162" y="0"/>
                    <a:pt x="135372" y="14929"/>
                    <a:pt x="147511" y="37642"/>
                  </a:cubicBezTo>
                  <a:lnTo>
                    <a:pt x="110481" y="58813"/>
                  </a:lnTo>
                  <a:cubicBezTo>
                    <a:pt x="104876" y="48546"/>
                    <a:pt x="93679" y="41999"/>
                    <a:pt x="80291" y="41999"/>
                  </a:cubicBezTo>
                  <a:cubicBezTo>
                    <a:pt x="58508" y="41999"/>
                    <a:pt x="42954" y="58189"/>
                    <a:pt x="42954" y="79666"/>
                  </a:cubicBezTo>
                  <a:cubicBezTo>
                    <a:pt x="42954" y="100825"/>
                    <a:pt x="58508" y="117003"/>
                    <a:pt x="80291" y="117003"/>
                  </a:cubicBezTo>
                  <a:cubicBezTo>
                    <a:pt x="95233" y="117003"/>
                    <a:pt x="107360" y="109844"/>
                    <a:pt x="113270" y="97704"/>
                  </a:cubicBezTo>
                  <a:lnTo>
                    <a:pt x="152174" y="115130"/>
                  </a:lnTo>
                  <a:cubicBezTo>
                    <a:pt x="140658" y="141588"/>
                    <a:pt x="112965" y="159014"/>
                    <a:pt x="80291" y="159014"/>
                  </a:cubicBezTo>
                </a:path>
              </a:pathLst>
            </a:custGeom>
            <a:solidFill>
              <a:schemeClr val="accent1"/>
            </a:solidFill>
            <a:ln w="12639" cap="flat">
              <a:noFill/>
              <a:prstDash val="solid"/>
              <a:miter/>
            </a:ln>
          </p:spPr>
          <p:txBody>
            <a:bodyPr rtlCol="0" anchor="ctr"/>
            <a:lstStyle/>
            <a:p>
              <a:endParaRPr lang="de-DE" sz="1463"/>
            </a:p>
          </p:txBody>
        </p:sp>
        <p:sp>
          <p:nvSpPr>
            <p:cNvPr id="9" name="Vrije vorm: vorm 8">
              <a:extLst>
                <a:ext uri="{FF2B5EF4-FFF2-40B4-BE49-F238E27FC236}">
                  <a16:creationId xmlns:a16="http://schemas.microsoft.com/office/drawing/2014/main" id="{873E1536-FBA3-4694-B373-E8E39ACC6BC4}"/>
                </a:ext>
              </a:extLst>
            </p:cNvPr>
            <p:cNvSpPr/>
            <p:nvPr/>
          </p:nvSpPr>
          <p:spPr>
            <a:xfrm>
              <a:off x="9752396" y="6362584"/>
              <a:ext cx="140123" cy="152861"/>
            </a:xfrm>
            <a:custGeom>
              <a:avLst/>
              <a:gdLst>
                <a:gd name="connsiteX0" fmla="*/ 145320 w 140123"/>
                <a:gd name="connsiteY0" fmla="*/ 81845 h 152861"/>
                <a:gd name="connsiteX1" fmla="*/ 72495 w 140123"/>
                <a:gd name="connsiteY1" fmla="*/ 155906 h 152861"/>
                <a:gd name="connsiteX2" fmla="*/ 0 w 140123"/>
                <a:gd name="connsiteY2" fmla="*/ 81845 h 152861"/>
                <a:gd name="connsiteX3" fmla="*/ 0 w 140123"/>
                <a:gd name="connsiteY3" fmla="*/ 0 h 152861"/>
                <a:gd name="connsiteX4" fmla="*/ 43566 w 140123"/>
                <a:gd name="connsiteY4" fmla="*/ 0 h 152861"/>
                <a:gd name="connsiteX5" fmla="*/ 43566 w 140123"/>
                <a:gd name="connsiteY5" fmla="*/ 81845 h 152861"/>
                <a:gd name="connsiteX6" fmla="*/ 72495 w 140123"/>
                <a:gd name="connsiteY6" fmla="*/ 113894 h 152861"/>
                <a:gd name="connsiteX7" fmla="*/ 101436 w 140123"/>
                <a:gd name="connsiteY7" fmla="*/ 81845 h 152861"/>
                <a:gd name="connsiteX8" fmla="*/ 101436 w 140123"/>
                <a:gd name="connsiteY8" fmla="*/ 0 h 152861"/>
                <a:gd name="connsiteX9" fmla="*/ 145320 w 140123"/>
                <a:gd name="connsiteY9" fmla="*/ 0 h 152861"/>
                <a:gd name="connsiteX10" fmla="*/ 145320 w 140123"/>
                <a:gd name="connsiteY10" fmla="*/ 81845 h 15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0123" h="152861">
                  <a:moveTo>
                    <a:pt x="145320" y="81845"/>
                  </a:moveTo>
                  <a:cubicBezTo>
                    <a:pt x="145320" y="125410"/>
                    <a:pt x="115449" y="155906"/>
                    <a:pt x="72495" y="155906"/>
                  </a:cubicBezTo>
                  <a:cubicBezTo>
                    <a:pt x="29872" y="155906"/>
                    <a:pt x="0" y="125410"/>
                    <a:pt x="0" y="81845"/>
                  </a:cubicBezTo>
                  <a:lnTo>
                    <a:pt x="0" y="0"/>
                  </a:lnTo>
                  <a:lnTo>
                    <a:pt x="43566" y="0"/>
                  </a:lnTo>
                  <a:lnTo>
                    <a:pt x="43566" y="81845"/>
                  </a:lnTo>
                  <a:cubicBezTo>
                    <a:pt x="43566" y="101449"/>
                    <a:pt x="54763" y="113894"/>
                    <a:pt x="72495" y="113894"/>
                  </a:cubicBezTo>
                  <a:cubicBezTo>
                    <a:pt x="90239" y="113894"/>
                    <a:pt x="101436" y="101449"/>
                    <a:pt x="101436" y="81845"/>
                  </a:cubicBezTo>
                  <a:lnTo>
                    <a:pt x="101436" y="0"/>
                  </a:lnTo>
                  <a:lnTo>
                    <a:pt x="145320" y="0"/>
                  </a:lnTo>
                  <a:lnTo>
                    <a:pt x="145320" y="81845"/>
                  </a:lnTo>
                  <a:close/>
                </a:path>
              </a:pathLst>
            </a:custGeom>
            <a:solidFill>
              <a:schemeClr val="accent1"/>
            </a:solidFill>
            <a:ln w="12639" cap="flat">
              <a:noFill/>
              <a:prstDash val="solid"/>
              <a:miter/>
            </a:ln>
          </p:spPr>
          <p:txBody>
            <a:bodyPr rtlCol="0" anchor="ctr"/>
            <a:lstStyle/>
            <a:p>
              <a:endParaRPr lang="de-DE" sz="1463"/>
            </a:p>
          </p:txBody>
        </p:sp>
        <p:sp>
          <p:nvSpPr>
            <p:cNvPr id="10" name="Vrije vorm: vorm 9">
              <a:extLst>
                <a:ext uri="{FF2B5EF4-FFF2-40B4-BE49-F238E27FC236}">
                  <a16:creationId xmlns:a16="http://schemas.microsoft.com/office/drawing/2014/main" id="{5208324C-6366-4839-85F3-721BD4B76F5F}"/>
                </a:ext>
              </a:extLst>
            </p:cNvPr>
            <p:cNvSpPr/>
            <p:nvPr/>
          </p:nvSpPr>
          <p:spPr>
            <a:xfrm>
              <a:off x="9920098" y="6362572"/>
              <a:ext cx="89169" cy="140123"/>
            </a:xfrm>
            <a:custGeom>
              <a:avLst/>
              <a:gdLst>
                <a:gd name="connsiteX0" fmla="*/ 93666 w 89169"/>
                <a:gd name="connsiteY0" fmla="*/ 41706 h 140122"/>
                <a:gd name="connsiteX1" fmla="*/ 43566 w 89169"/>
                <a:gd name="connsiteY1" fmla="*/ 41706 h 140122"/>
                <a:gd name="connsiteX2" fmla="*/ 43566 w 89169"/>
                <a:gd name="connsiteY2" fmla="*/ 152798 h 140122"/>
                <a:gd name="connsiteX3" fmla="*/ 0 w 89169"/>
                <a:gd name="connsiteY3" fmla="*/ 152798 h 140122"/>
                <a:gd name="connsiteX4" fmla="*/ 0 w 89169"/>
                <a:gd name="connsiteY4" fmla="*/ 0 h 140122"/>
                <a:gd name="connsiteX5" fmla="*/ 93666 w 89169"/>
                <a:gd name="connsiteY5" fmla="*/ 0 h 140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169" h="140122">
                  <a:moveTo>
                    <a:pt x="93666" y="41706"/>
                  </a:moveTo>
                  <a:lnTo>
                    <a:pt x="43566" y="41706"/>
                  </a:lnTo>
                  <a:lnTo>
                    <a:pt x="43566" y="152798"/>
                  </a:lnTo>
                  <a:lnTo>
                    <a:pt x="0" y="152798"/>
                  </a:lnTo>
                  <a:lnTo>
                    <a:pt x="0" y="0"/>
                  </a:lnTo>
                  <a:lnTo>
                    <a:pt x="93666" y="0"/>
                  </a:lnTo>
                  <a:close/>
                </a:path>
              </a:pathLst>
            </a:custGeom>
            <a:solidFill>
              <a:schemeClr val="accent1"/>
            </a:solidFill>
            <a:ln w="12639" cap="flat">
              <a:noFill/>
              <a:prstDash val="solid"/>
              <a:miter/>
            </a:ln>
          </p:spPr>
          <p:txBody>
            <a:bodyPr rtlCol="0" anchor="ctr"/>
            <a:lstStyle/>
            <a:p>
              <a:endParaRPr lang="de-DE" sz="1463"/>
            </a:p>
          </p:txBody>
        </p:sp>
        <p:sp>
          <p:nvSpPr>
            <p:cNvPr id="11" name="Vrije vorm: vorm 10">
              <a:extLst>
                <a:ext uri="{FF2B5EF4-FFF2-40B4-BE49-F238E27FC236}">
                  <a16:creationId xmlns:a16="http://schemas.microsoft.com/office/drawing/2014/main" id="{9F259AA9-A262-4D50-8971-F2DE15FA849C}"/>
                </a:ext>
              </a:extLst>
            </p:cNvPr>
            <p:cNvSpPr/>
            <p:nvPr/>
          </p:nvSpPr>
          <p:spPr>
            <a:xfrm>
              <a:off x="10027496" y="6288523"/>
              <a:ext cx="50954" cy="216554"/>
            </a:xfrm>
            <a:custGeom>
              <a:avLst/>
              <a:gdLst>
                <a:gd name="connsiteX0" fmla="*/ 48865 w 50953"/>
                <a:gd name="connsiteY0" fmla="*/ 226859 h 216553"/>
                <a:gd name="connsiteX1" fmla="*/ 4981 w 50953"/>
                <a:gd name="connsiteY1" fmla="*/ 226859 h 216553"/>
                <a:gd name="connsiteX2" fmla="*/ 4981 w 50953"/>
                <a:gd name="connsiteY2" fmla="*/ 74061 h 216553"/>
                <a:gd name="connsiteX3" fmla="*/ 48865 w 50953"/>
                <a:gd name="connsiteY3" fmla="*/ 74061 h 216553"/>
                <a:gd name="connsiteX4" fmla="*/ 48865 w 50953"/>
                <a:gd name="connsiteY4" fmla="*/ 226859 h 216553"/>
                <a:gd name="connsiteX5" fmla="*/ 53527 w 50953"/>
                <a:gd name="connsiteY5" fmla="*/ 26445 h 216553"/>
                <a:gd name="connsiteX6" fmla="*/ 26763 w 50953"/>
                <a:gd name="connsiteY6" fmla="*/ 53208 h 216553"/>
                <a:gd name="connsiteX7" fmla="*/ 0 w 50953"/>
                <a:gd name="connsiteY7" fmla="*/ 26445 h 216553"/>
                <a:gd name="connsiteX8" fmla="*/ 26763 w 50953"/>
                <a:gd name="connsiteY8" fmla="*/ 0 h 216553"/>
                <a:gd name="connsiteX9" fmla="*/ 53527 w 50953"/>
                <a:gd name="connsiteY9" fmla="*/ 26445 h 21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3" h="216553">
                  <a:moveTo>
                    <a:pt x="48865" y="226859"/>
                  </a:moveTo>
                  <a:lnTo>
                    <a:pt x="4981" y="226859"/>
                  </a:lnTo>
                  <a:lnTo>
                    <a:pt x="4981" y="74061"/>
                  </a:lnTo>
                  <a:lnTo>
                    <a:pt x="48865" y="74061"/>
                  </a:lnTo>
                  <a:lnTo>
                    <a:pt x="48865" y="226859"/>
                  </a:lnTo>
                  <a:close/>
                  <a:moveTo>
                    <a:pt x="53527" y="26445"/>
                  </a:moveTo>
                  <a:cubicBezTo>
                    <a:pt x="53527" y="41069"/>
                    <a:pt x="41387" y="53208"/>
                    <a:pt x="26763" y="53208"/>
                  </a:cubicBezTo>
                  <a:cubicBezTo>
                    <a:pt x="12140" y="53208"/>
                    <a:pt x="0" y="41069"/>
                    <a:pt x="0" y="26445"/>
                  </a:cubicBezTo>
                  <a:cubicBezTo>
                    <a:pt x="0" y="12127"/>
                    <a:pt x="12140" y="0"/>
                    <a:pt x="26763" y="0"/>
                  </a:cubicBezTo>
                  <a:cubicBezTo>
                    <a:pt x="41387" y="0"/>
                    <a:pt x="53527" y="12127"/>
                    <a:pt x="53527" y="26445"/>
                  </a:cubicBezTo>
                </a:path>
              </a:pathLst>
            </a:custGeom>
            <a:solidFill>
              <a:schemeClr val="accent1"/>
            </a:solidFill>
            <a:ln w="12639" cap="flat">
              <a:noFill/>
              <a:prstDash val="solid"/>
              <a:miter/>
            </a:ln>
          </p:spPr>
          <p:txBody>
            <a:bodyPr rtlCol="0" anchor="ctr"/>
            <a:lstStyle/>
            <a:p>
              <a:endParaRPr lang="de-DE" sz="1463"/>
            </a:p>
          </p:txBody>
        </p:sp>
        <p:sp>
          <p:nvSpPr>
            <p:cNvPr id="12" name="Vrije vorm: vorm 11">
              <a:extLst>
                <a:ext uri="{FF2B5EF4-FFF2-40B4-BE49-F238E27FC236}">
                  <a16:creationId xmlns:a16="http://schemas.microsoft.com/office/drawing/2014/main" id="{51DF067A-FCE6-44B5-A4B9-B1433FFC1389}"/>
                </a:ext>
              </a:extLst>
            </p:cNvPr>
            <p:cNvSpPr/>
            <p:nvPr/>
          </p:nvSpPr>
          <p:spPr>
            <a:xfrm>
              <a:off x="10096933" y="6359476"/>
              <a:ext cx="152862" cy="152861"/>
            </a:xfrm>
            <a:custGeom>
              <a:avLst/>
              <a:gdLst>
                <a:gd name="connsiteX0" fmla="*/ 42941 w 152861"/>
                <a:gd name="connsiteY0" fmla="*/ 79666 h 152861"/>
                <a:gd name="connsiteX1" fmla="*/ 79361 w 152861"/>
                <a:gd name="connsiteY1" fmla="*/ 117003 h 152861"/>
                <a:gd name="connsiteX2" fmla="*/ 115767 w 152861"/>
                <a:gd name="connsiteY2" fmla="*/ 79666 h 152861"/>
                <a:gd name="connsiteX3" fmla="*/ 79361 w 152861"/>
                <a:gd name="connsiteY3" fmla="*/ 42011 h 152861"/>
                <a:gd name="connsiteX4" fmla="*/ 42941 w 152861"/>
                <a:gd name="connsiteY4" fmla="*/ 79666 h 152861"/>
                <a:gd name="connsiteX5" fmla="*/ 158708 w 152861"/>
                <a:gd name="connsiteY5" fmla="*/ 79666 h 152861"/>
                <a:gd name="connsiteX6" fmla="*/ 79361 w 152861"/>
                <a:gd name="connsiteY6" fmla="*/ 159014 h 152861"/>
                <a:gd name="connsiteX7" fmla="*/ 0 w 152861"/>
                <a:gd name="connsiteY7" fmla="*/ 79666 h 152861"/>
                <a:gd name="connsiteX8" fmla="*/ 79361 w 152861"/>
                <a:gd name="connsiteY8" fmla="*/ 0 h 152861"/>
                <a:gd name="connsiteX9" fmla="*/ 158708 w 152861"/>
                <a:gd name="connsiteY9" fmla="*/ 79666 h 15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861" h="152861">
                  <a:moveTo>
                    <a:pt x="42941" y="79666"/>
                  </a:moveTo>
                  <a:cubicBezTo>
                    <a:pt x="42941" y="100825"/>
                    <a:pt x="58508" y="117003"/>
                    <a:pt x="79361" y="117003"/>
                  </a:cubicBezTo>
                  <a:cubicBezTo>
                    <a:pt x="99895" y="117003"/>
                    <a:pt x="115767" y="100825"/>
                    <a:pt x="115767" y="79666"/>
                  </a:cubicBezTo>
                  <a:cubicBezTo>
                    <a:pt x="115767" y="57883"/>
                    <a:pt x="99895" y="42011"/>
                    <a:pt x="79361" y="42011"/>
                  </a:cubicBezTo>
                  <a:cubicBezTo>
                    <a:pt x="58508" y="42011"/>
                    <a:pt x="42941" y="57883"/>
                    <a:pt x="42941" y="79666"/>
                  </a:cubicBezTo>
                  <a:moveTo>
                    <a:pt x="158708" y="79666"/>
                  </a:moveTo>
                  <a:cubicBezTo>
                    <a:pt x="158708" y="125104"/>
                    <a:pt x="124162" y="159014"/>
                    <a:pt x="79361" y="159014"/>
                  </a:cubicBezTo>
                  <a:cubicBezTo>
                    <a:pt x="34228" y="159014"/>
                    <a:pt x="0" y="125104"/>
                    <a:pt x="0" y="79666"/>
                  </a:cubicBezTo>
                  <a:cubicBezTo>
                    <a:pt x="0" y="34228"/>
                    <a:pt x="34228" y="0"/>
                    <a:pt x="79361" y="0"/>
                  </a:cubicBezTo>
                  <a:cubicBezTo>
                    <a:pt x="124162" y="0"/>
                    <a:pt x="158708" y="34228"/>
                    <a:pt x="158708" y="79666"/>
                  </a:cubicBezTo>
                </a:path>
              </a:pathLst>
            </a:custGeom>
            <a:solidFill>
              <a:schemeClr val="accent1"/>
            </a:solidFill>
            <a:ln w="12639" cap="flat">
              <a:noFill/>
              <a:prstDash val="solid"/>
              <a:miter/>
            </a:ln>
          </p:spPr>
          <p:txBody>
            <a:bodyPr rtlCol="0" anchor="ctr"/>
            <a:lstStyle/>
            <a:p>
              <a:endParaRPr lang="de-DE" sz="1463"/>
            </a:p>
          </p:txBody>
        </p:sp>
      </p:grpSp>
    </p:spTree>
    <p:extLst>
      <p:ext uri="{BB962C8B-B14F-4D97-AF65-F5344CB8AC3E}">
        <p14:creationId xmlns:p14="http://schemas.microsoft.com/office/powerpoint/2010/main" val="501206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6B7026-F689-47F3-A380-2937BF2630EA}"/>
              </a:ext>
            </a:extLst>
          </p:cNvPr>
          <p:cNvSpPr>
            <a:spLocks noGrp="1"/>
          </p:cNvSpPr>
          <p:nvPr>
            <p:ph type="title"/>
          </p:nvPr>
        </p:nvSpPr>
        <p:spPr/>
        <p:txBody>
          <a:bodyPr/>
          <a:lstStyle/>
          <a:p>
            <a:r>
              <a:rPr lang="nl-NL"/>
              <a:t>Klik om de stijl te bewerken</a:t>
            </a:r>
          </a:p>
        </p:txBody>
      </p:sp>
      <p:sp>
        <p:nvSpPr>
          <p:cNvPr id="3" name="Tijdelijke aanduiding voor inhoud 2">
            <a:extLst>
              <a:ext uri="{FF2B5EF4-FFF2-40B4-BE49-F238E27FC236}">
                <a16:creationId xmlns:a16="http://schemas.microsoft.com/office/drawing/2014/main" id="{7B057708-D1C8-4296-B46B-067A31C01D23}"/>
              </a:ext>
            </a:extLst>
          </p:cNvPr>
          <p:cNvSpPr>
            <a:spLocks noGrp="1"/>
          </p:cNvSpPr>
          <p:nvPr>
            <p:ph idx="1"/>
          </p:nvPr>
        </p:nvSpPr>
        <p:spPr/>
        <p:txBody>
          <a:bodyPr numCol="1" spcCol="360000"/>
          <a:lstStyle/>
          <a:p>
            <a:pPr lvl="0"/>
            <a:r>
              <a:rPr lang="nl-NL"/>
              <a:t>Tekststijl van het model bewerken</a:t>
            </a:r>
          </a:p>
          <a:p>
            <a:pPr lvl="1"/>
            <a:r>
              <a:rPr lang="nl-NL"/>
              <a:t>Tweede niveau</a:t>
            </a:r>
          </a:p>
          <a:p>
            <a:pPr lvl="2"/>
            <a:r>
              <a:rPr lang="nl-NL"/>
              <a:t>Derde niveau</a:t>
            </a:r>
          </a:p>
          <a:p>
            <a:pPr lvl="3"/>
            <a:r>
              <a:rPr lang="nl-NL"/>
              <a:t>Vierde niveau</a:t>
            </a:r>
          </a:p>
        </p:txBody>
      </p:sp>
      <p:sp>
        <p:nvSpPr>
          <p:cNvPr id="4" name="Tijdelijke aanduiding voor datum 3">
            <a:extLst>
              <a:ext uri="{FF2B5EF4-FFF2-40B4-BE49-F238E27FC236}">
                <a16:creationId xmlns:a16="http://schemas.microsoft.com/office/drawing/2014/main" id="{64E27E2C-1D1C-4583-BE92-667A3F59195E}"/>
              </a:ext>
            </a:extLst>
          </p:cNvPr>
          <p:cNvSpPr>
            <a:spLocks noGrp="1"/>
          </p:cNvSpPr>
          <p:nvPr>
            <p:ph type="dt" sz="half" idx="10"/>
          </p:nvPr>
        </p:nvSpPr>
        <p:spPr/>
        <p:txBody>
          <a:bodyPr/>
          <a:lstStyle/>
          <a:p>
            <a:r>
              <a:rPr lang="nl-NL"/>
              <a:t>1 november 2019</a:t>
            </a:r>
          </a:p>
        </p:txBody>
      </p:sp>
      <p:sp>
        <p:nvSpPr>
          <p:cNvPr id="5" name="Tijdelijke aanduiding voor voettekst 4">
            <a:extLst>
              <a:ext uri="{FF2B5EF4-FFF2-40B4-BE49-F238E27FC236}">
                <a16:creationId xmlns:a16="http://schemas.microsoft.com/office/drawing/2014/main" id="{C5975139-6F7D-413F-A27C-C9F0FF41A9D0}"/>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544E85F-82EE-4EE8-932D-1F60D0238F40}"/>
              </a:ext>
            </a:extLst>
          </p:cNvPr>
          <p:cNvSpPr>
            <a:spLocks noGrp="1"/>
          </p:cNvSpPr>
          <p:nvPr>
            <p:ph type="sldNum" sz="quarter" idx="12"/>
          </p:nvPr>
        </p:nvSpPr>
        <p:spPr/>
        <p:txBody>
          <a:bodyPr/>
          <a:lstStyle/>
          <a:p>
            <a:fld id="{F42B3F14-D836-496B-80A2-23BE75BD68CB}" type="slidenum">
              <a:rPr lang="nl-NL" smtClean="0"/>
              <a:t>‹nr.›</a:t>
            </a:fld>
            <a:endParaRPr lang="nl-NL"/>
          </a:p>
        </p:txBody>
      </p:sp>
    </p:spTree>
    <p:extLst>
      <p:ext uri="{BB962C8B-B14F-4D97-AF65-F5344CB8AC3E}">
        <p14:creationId xmlns:p14="http://schemas.microsoft.com/office/powerpoint/2010/main" val="3177739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eldia Geel">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59332A-8BBF-4C61-B4B5-8825C5AEBAEF}"/>
              </a:ext>
            </a:extLst>
          </p:cNvPr>
          <p:cNvSpPr>
            <a:spLocks noGrp="1"/>
          </p:cNvSpPr>
          <p:nvPr>
            <p:ph type="ctrTitle" hasCustomPrompt="1"/>
          </p:nvPr>
        </p:nvSpPr>
        <p:spPr>
          <a:xfrm>
            <a:off x="321899" y="357850"/>
            <a:ext cx="7560000" cy="1260000"/>
          </a:xfrm>
        </p:spPr>
        <p:txBody>
          <a:bodyPr anchor="t" anchorCtr="0">
            <a:noAutofit/>
          </a:bodyPr>
          <a:lstStyle>
            <a:lvl1pPr algn="l">
              <a:lnSpc>
                <a:spcPct val="80000"/>
              </a:lnSpc>
              <a:defRPr sz="4063" spc="0" baseline="0">
                <a:solidFill>
                  <a:schemeClr val="tx2"/>
                </a:solidFill>
              </a:defRPr>
            </a:lvl1pPr>
          </a:lstStyle>
          <a:p>
            <a:r>
              <a:rPr lang="nl-NL" dirty="0"/>
              <a:t>Lange titel presentatie over twee regels</a:t>
            </a:r>
          </a:p>
        </p:txBody>
      </p:sp>
      <p:sp>
        <p:nvSpPr>
          <p:cNvPr id="3" name="Ondertitel 2">
            <a:extLst>
              <a:ext uri="{FF2B5EF4-FFF2-40B4-BE49-F238E27FC236}">
                <a16:creationId xmlns:a16="http://schemas.microsoft.com/office/drawing/2014/main" id="{5B0A17F5-F68D-450E-924D-50BE1E84C574}"/>
              </a:ext>
            </a:extLst>
          </p:cNvPr>
          <p:cNvSpPr>
            <a:spLocks noGrp="1"/>
          </p:cNvSpPr>
          <p:nvPr>
            <p:ph type="subTitle" idx="1" hasCustomPrompt="1"/>
          </p:nvPr>
        </p:nvSpPr>
        <p:spPr>
          <a:xfrm>
            <a:off x="8115306" y="360000"/>
            <a:ext cx="3714745" cy="360000"/>
          </a:xfrm>
        </p:spPr>
        <p:txBody>
          <a:bodyPr/>
          <a:lstStyle>
            <a:lvl1pPr marL="0" marR="0" indent="0" algn="l" defTabSz="742950" rtl="0" eaLnBrk="1" fontAlgn="auto" latinLnBrk="0" hangingPunct="1">
              <a:lnSpc>
                <a:spcPct val="90000"/>
              </a:lnSpc>
              <a:spcBef>
                <a:spcPts val="813"/>
              </a:spcBef>
              <a:spcAft>
                <a:spcPts val="0"/>
              </a:spcAft>
              <a:buClrTx/>
              <a:buSzTx/>
              <a:buFont typeface="Arial" panose="020B0604020202020204" pitchFamily="34" charset="0"/>
              <a:buNone/>
              <a:tabLst/>
              <a:defRPr sz="2438">
                <a:solidFill>
                  <a:schemeClr val="tx2"/>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pPr marL="0" marR="0" lvl="0" indent="0" algn="l" defTabSz="742950" rtl="0" eaLnBrk="1" fontAlgn="auto" latinLnBrk="0" hangingPunct="1">
              <a:lnSpc>
                <a:spcPct val="90000"/>
              </a:lnSpc>
              <a:spcBef>
                <a:spcPts val="813"/>
              </a:spcBef>
              <a:spcAft>
                <a:spcPts val="0"/>
              </a:spcAft>
              <a:buClrTx/>
              <a:buSzTx/>
              <a:buFont typeface="Arial" panose="020B0604020202020204" pitchFamily="34" charset="0"/>
              <a:buNone/>
              <a:tabLst/>
              <a:defRPr/>
            </a:pPr>
            <a:r>
              <a:rPr lang="nl-NL" dirty="0"/>
              <a:t>Naam auteur</a:t>
            </a:r>
          </a:p>
          <a:p>
            <a:endParaRPr lang="nl-NL" dirty="0"/>
          </a:p>
        </p:txBody>
      </p:sp>
      <p:grpSp>
        <p:nvGrpSpPr>
          <p:cNvPr id="18" name="Graphic 9">
            <a:extLst>
              <a:ext uri="{FF2B5EF4-FFF2-40B4-BE49-F238E27FC236}">
                <a16:creationId xmlns:a16="http://schemas.microsoft.com/office/drawing/2014/main" id="{9F5E53E0-AA8E-44E2-AF49-D1FF4E4EC752}"/>
              </a:ext>
            </a:extLst>
          </p:cNvPr>
          <p:cNvGrpSpPr>
            <a:grpSpLocks noChangeAspect="1"/>
          </p:cNvGrpSpPr>
          <p:nvPr/>
        </p:nvGrpSpPr>
        <p:grpSpPr>
          <a:xfrm>
            <a:off x="360001" y="2524825"/>
            <a:ext cx="11473200" cy="3976867"/>
            <a:chOff x="1795462" y="1938337"/>
            <a:chExt cx="8601075" cy="2981325"/>
          </a:xfrm>
        </p:grpSpPr>
        <p:sp>
          <p:nvSpPr>
            <p:cNvPr id="19" name="Vrije vorm: vorm 18">
              <a:extLst>
                <a:ext uri="{FF2B5EF4-FFF2-40B4-BE49-F238E27FC236}">
                  <a16:creationId xmlns:a16="http://schemas.microsoft.com/office/drawing/2014/main" id="{7677880F-F039-4B7A-A04B-C6E05CF5077A}"/>
                </a:ext>
              </a:extLst>
            </p:cNvPr>
            <p:cNvSpPr/>
            <p:nvPr/>
          </p:nvSpPr>
          <p:spPr>
            <a:xfrm>
              <a:off x="1795462" y="2857795"/>
              <a:ext cx="1971675" cy="2057400"/>
            </a:xfrm>
            <a:custGeom>
              <a:avLst/>
              <a:gdLst>
                <a:gd name="connsiteX0" fmla="*/ 1040416 w 1971675"/>
                <a:gd name="connsiteY0" fmla="*/ 2060696 h 2057400"/>
                <a:gd name="connsiteX1" fmla="*/ 0 w 1971675"/>
                <a:gd name="connsiteY1" fmla="*/ 1032367 h 2057400"/>
                <a:gd name="connsiteX2" fmla="*/ 1040416 w 1971675"/>
                <a:gd name="connsiteY2" fmla="*/ 0 h 2057400"/>
                <a:gd name="connsiteX3" fmla="*/ 1911487 w 1971675"/>
                <a:gd name="connsiteY3" fmla="*/ 487937 h 2057400"/>
                <a:gd name="connsiteX4" fmla="*/ 1431589 w 1971675"/>
                <a:gd name="connsiteY4" fmla="*/ 762152 h 2057400"/>
                <a:gd name="connsiteX5" fmla="*/ 1040416 w 1971675"/>
                <a:gd name="connsiteY5" fmla="*/ 544363 h 2057400"/>
                <a:gd name="connsiteX6" fmla="*/ 556517 w 1971675"/>
                <a:gd name="connsiteY6" fmla="*/ 1032367 h 2057400"/>
                <a:gd name="connsiteX7" fmla="*/ 1040416 w 1971675"/>
                <a:gd name="connsiteY7" fmla="*/ 1516266 h 2057400"/>
                <a:gd name="connsiteX8" fmla="*/ 1467850 w 1971675"/>
                <a:gd name="connsiteY8" fmla="*/ 1266254 h 2057400"/>
                <a:gd name="connsiteX9" fmla="*/ 1971989 w 1971675"/>
                <a:gd name="connsiteY9" fmla="*/ 1492063 h 2057400"/>
                <a:gd name="connsiteX10" fmla="*/ 1040416 w 1971675"/>
                <a:gd name="connsiteY10" fmla="*/ 2060696 h 20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1675" h="2057400">
                  <a:moveTo>
                    <a:pt x="1040416" y="2060696"/>
                  </a:moveTo>
                  <a:cubicBezTo>
                    <a:pt x="447618" y="2060696"/>
                    <a:pt x="0" y="1621098"/>
                    <a:pt x="0" y="1032367"/>
                  </a:cubicBezTo>
                  <a:cubicBezTo>
                    <a:pt x="0" y="443570"/>
                    <a:pt x="447618" y="0"/>
                    <a:pt x="1040416" y="0"/>
                  </a:cubicBezTo>
                  <a:cubicBezTo>
                    <a:pt x="1427540" y="0"/>
                    <a:pt x="1754210" y="193538"/>
                    <a:pt x="1911487" y="487937"/>
                  </a:cubicBezTo>
                  <a:lnTo>
                    <a:pt x="1431589" y="762152"/>
                  </a:lnTo>
                  <a:cubicBezTo>
                    <a:pt x="1358999" y="629079"/>
                    <a:pt x="1213818" y="544363"/>
                    <a:pt x="1040416" y="544363"/>
                  </a:cubicBezTo>
                  <a:cubicBezTo>
                    <a:pt x="758104" y="544363"/>
                    <a:pt x="556517" y="754094"/>
                    <a:pt x="556517" y="1032367"/>
                  </a:cubicBezTo>
                  <a:cubicBezTo>
                    <a:pt x="556517" y="1306582"/>
                    <a:pt x="758104" y="1516266"/>
                    <a:pt x="1040416" y="1516266"/>
                  </a:cubicBezTo>
                  <a:cubicBezTo>
                    <a:pt x="1233983" y="1516266"/>
                    <a:pt x="1391279" y="1423521"/>
                    <a:pt x="1467850" y="1266254"/>
                  </a:cubicBezTo>
                  <a:lnTo>
                    <a:pt x="1971989" y="1492063"/>
                  </a:lnTo>
                  <a:cubicBezTo>
                    <a:pt x="1822752" y="1834810"/>
                    <a:pt x="1463869" y="2060696"/>
                    <a:pt x="1040416" y="2060696"/>
                  </a:cubicBezTo>
                </a:path>
              </a:pathLst>
            </a:custGeom>
            <a:solidFill>
              <a:schemeClr val="tx2"/>
            </a:solidFill>
            <a:ln w="9525" cap="flat">
              <a:noFill/>
              <a:prstDash val="solid"/>
              <a:miter/>
            </a:ln>
          </p:spPr>
          <p:txBody>
            <a:bodyPr rtlCol="0" anchor="ctr"/>
            <a:lstStyle/>
            <a:p>
              <a:endParaRPr lang="nl-NL" sz="1463" dirty="0"/>
            </a:p>
          </p:txBody>
        </p:sp>
        <p:sp>
          <p:nvSpPr>
            <p:cNvPr id="20" name="Vrije vorm: vorm 19">
              <a:extLst>
                <a:ext uri="{FF2B5EF4-FFF2-40B4-BE49-F238E27FC236}">
                  <a16:creationId xmlns:a16="http://schemas.microsoft.com/office/drawing/2014/main" id="{B12215EF-FF89-4B85-AC73-B2A42C1AAA7C}"/>
                </a:ext>
              </a:extLst>
            </p:cNvPr>
            <p:cNvSpPr/>
            <p:nvPr/>
          </p:nvSpPr>
          <p:spPr>
            <a:xfrm>
              <a:off x="3878046" y="2898067"/>
              <a:ext cx="1876425" cy="2019300"/>
            </a:xfrm>
            <a:custGeom>
              <a:avLst/>
              <a:gdLst>
                <a:gd name="connsiteX0" fmla="*/ 1883254 w 1876425"/>
                <a:gd name="connsiteY0" fmla="*/ 1060609 h 2019300"/>
                <a:gd name="connsiteX1" fmla="*/ 939594 w 1876425"/>
                <a:gd name="connsiteY1" fmla="*/ 2020424 h 2019300"/>
                <a:gd name="connsiteX2" fmla="*/ 0 w 1876425"/>
                <a:gd name="connsiteY2" fmla="*/ 1060609 h 2019300"/>
                <a:gd name="connsiteX3" fmla="*/ 0 w 1876425"/>
                <a:gd name="connsiteY3" fmla="*/ 0 h 2019300"/>
                <a:gd name="connsiteX4" fmla="*/ 564566 w 1876425"/>
                <a:gd name="connsiteY4" fmla="*/ 0 h 2019300"/>
                <a:gd name="connsiteX5" fmla="*/ 564566 w 1876425"/>
                <a:gd name="connsiteY5" fmla="*/ 1060609 h 2019300"/>
                <a:gd name="connsiteX6" fmla="*/ 939594 w 1876425"/>
                <a:gd name="connsiteY6" fmla="*/ 1475985 h 2019300"/>
                <a:gd name="connsiteX7" fmla="*/ 1314641 w 1876425"/>
                <a:gd name="connsiteY7" fmla="*/ 1060609 h 2019300"/>
                <a:gd name="connsiteX8" fmla="*/ 1314641 w 1876425"/>
                <a:gd name="connsiteY8" fmla="*/ 0 h 2019300"/>
                <a:gd name="connsiteX9" fmla="*/ 1883254 w 1876425"/>
                <a:gd name="connsiteY9" fmla="*/ 0 h 2019300"/>
                <a:gd name="connsiteX10" fmla="*/ 1883254 w 1876425"/>
                <a:gd name="connsiteY10" fmla="*/ 1060609 h 201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76425" h="2019300">
                  <a:moveTo>
                    <a:pt x="1883254" y="1060609"/>
                  </a:moveTo>
                  <a:cubicBezTo>
                    <a:pt x="1883254" y="1625203"/>
                    <a:pt x="1496101" y="2020424"/>
                    <a:pt x="939594" y="2020424"/>
                  </a:cubicBezTo>
                  <a:cubicBezTo>
                    <a:pt x="387163" y="2020424"/>
                    <a:pt x="0" y="1625203"/>
                    <a:pt x="0" y="1060609"/>
                  </a:cubicBezTo>
                  <a:lnTo>
                    <a:pt x="0" y="0"/>
                  </a:lnTo>
                  <a:lnTo>
                    <a:pt x="564566" y="0"/>
                  </a:lnTo>
                  <a:lnTo>
                    <a:pt x="564566" y="1060609"/>
                  </a:lnTo>
                  <a:cubicBezTo>
                    <a:pt x="564566" y="1314679"/>
                    <a:pt x="709765" y="1475985"/>
                    <a:pt x="939594" y="1475985"/>
                  </a:cubicBezTo>
                  <a:cubicBezTo>
                    <a:pt x="1169461" y="1475985"/>
                    <a:pt x="1314641" y="1314679"/>
                    <a:pt x="1314641" y="1060609"/>
                  </a:cubicBezTo>
                  <a:lnTo>
                    <a:pt x="1314641" y="0"/>
                  </a:lnTo>
                  <a:lnTo>
                    <a:pt x="1883254" y="0"/>
                  </a:lnTo>
                  <a:lnTo>
                    <a:pt x="1883254" y="1060609"/>
                  </a:lnTo>
                  <a:close/>
                </a:path>
              </a:pathLst>
            </a:custGeom>
            <a:solidFill>
              <a:schemeClr val="tx2"/>
            </a:solidFill>
            <a:ln w="9525" cap="flat">
              <a:noFill/>
              <a:prstDash val="solid"/>
              <a:miter/>
            </a:ln>
          </p:spPr>
          <p:txBody>
            <a:bodyPr rtlCol="0" anchor="ctr"/>
            <a:lstStyle/>
            <a:p>
              <a:endParaRPr lang="nl-NL" sz="1463" dirty="0"/>
            </a:p>
          </p:txBody>
        </p:sp>
        <p:sp>
          <p:nvSpPr>
            <p:cNvPr id="21" name="Vrije vorm: vorm 20">
              <a:extLst>
                <a:ext uri="{FF2B5EF4-FFF2-40B4-BE49-F238E27FC236}">
                  <a16:creationId xmlns:a16="http://schemas.microsoft.com/office/drawing/2014/main" id="{DD083472-B62A-494C-84A6-8A48FE7EC4A2}"/>
                </a:ext>
              </a:extLst>
            </p:cNvPr>
            <p:cNvSpPr/>
            <p:nvPr/>
          </p:nvSpPr>
          <p:spPr>
            <a:xfrm>
              <a:off x="6051413" y="2898076"/>
              <a:ext cx="1209675" cy="1971675"/>
            </a:xfrm>
            <a:custGeom>
              <a:avLst/>
              <a:gdLst>
                <a:gd name="connsiteX0" fmla="*/ 1213809 w 1209675"/>
                <a:gd name="connsiteY0" fmla="*/ 540391 h 1971675"/>
                <a:gd name="connsiteX1" fmla="*/ 564547 w 1209675"/>
                <a:gd name="connsiteY1" fmla="*/ 540391 h 1971675"/>
                <a:gd name="connsiteX2" fmla="*/ 564547 w 1209675"/>
                <a:gd name="connsiteY2" fmla="*/ 1980057 h 1971675"/>
                <a:gd name="connsiteX3" fmla="*/ 0 w 1209675"/>
                <a:gd name="connsiteY3" fmla="*/ 1980057 h 1971675"/>
                <a:gd name="connsiteX4" fmla="*/ 0 w 1209675"/>
                <a:gd name="connsiteY4" fmla="*/ 0 h 1971675"/>
                <a:gd name="connsiteX5" fmla="*/ 1213809 w 1209675"/>
                <a:gd name="connsiteY5" fmla="*/ 0 h 1971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9675" h="1971675">
                  <a:moveTo>
                    <a:pt x="1213809" y="540391"/>
                  </a:moveTo>
                  <a:lnTo>
                    <a:pt x="564547" y="540391"/>
                  </a:lnTo>
                  <a:lnTo>
                    <a:pt x="564547" y="1980057"/>
                  </a:lnTo>
                  <a:lnTo>
                    <a:pt x="0" y="1980057"/>
                  </a:lnTo>
                  <a:lnTo>
                    <a:pt x="0" y="0"/>
                  </a:lnTo>
                  <a:lnTo>
                    <a:pt x="1213809" y="0"/>
                  </a:lnTo>
                  <a:close/>
                </a:path>
              </a:pathLst>
            </a:custGeom>
            <a:solidFill>
              <a:schemeClr val="tx2"/>
            </a:solidFill>
            <a:ln w="9525" cap="flat">
              <a:noFill/>
              <a:prstDash val="solid"/>
              <a:miter/>
            </a:ln>
          </p:spPr>
          <p:txBody>
            <a:bodyPr rtlCol="0" anchor="ctr"/>
            <a:lstStyle/>
            <a:p>
              <a:endParaRPr lang="nl-NL" sz="1463" dirty="0"/>
            </a:p>
          </p:txBody>
        </p:sp>
        <p:sp>
          <p:nvSpPr>
            <p:cNvPr id="22" name="Vrije vorm: vorm 21">
              <a:extLst>
                <a:ext uri="{FF2B5EF4-FFF2-40B4-BE49-F238E27FC236}">
                  <a16:creationId xmlns:a16="http://schemas.microsoft.com/office/drawing/2014/main" id="{92A6DA24-7F6B-4B70-AA4E-9C05077D16C0}"/>
                </a:ext>
              </a:extLst>
            </p:cNvPr>
            <p:cNvSpPr/>
            <p:nvPr/>
          </p:nvSpPr>
          <p:spPr>
            <a:xfrm>
              <a:off x="7443130" y="1938337"/>
              <a:ext cx="685800" cy="2933700"/>
            </a:xfrm>
            <a:custGeom>
              <a:avLst/>
              <a:gdLst>
                <a:gd name="connsiteX0" fmla="*/ 633146 w 685800"/>
                <a:gd name="connsiteY0" fmla="*/ 2939796 h 2933700"/>
                <a:gd name="connsiteX1" fmla="*/ 64532 w 685800"/>
                <a:gd name="connsiteY1" fmla="*/ 2939796 h 2933700"/>
                <a:gd name="connsiteX2" fmla="*/ 64532 w 685800"/>
                <a:gd name="connsiteY2" fmla="*/ 959730 h 2933700"/>
                <a:gd name="connsiteX3" fmla="*/ 633146 w 685800"/>
                <a:gd name="connsiteY3" fmla="*/ 959730 h 2933700"/>
                <a:gd name="connsiteX4" fmla="*/ 633146 w 685800"/>
                <a:gd name="connsiteY4" fmla="*/ 2939796 h 2933700"/>
                <a:gd name="connsiteX5" fmla="*/ 693629 w 685800"/>
                <a:gd name="connsiteY5" fmla="*/ 342748 h 2933700"/>
                <a:gd name="connsiteX6" fmla="*/ 346862 w 685800"/>
                <a:gd name="connsiteY6" fmla="*/ 689553 h 2933700"/>
                <a:gd name="connsiteX7" fmla="*/ 0 w 685800"/>
                <a:gd name="connsiteY7" fmla="*/ 342748 h 2933700"/>
                <a:gd name="connsiteX8" fmla="*/ 346862 w 685800"/>
                <a:gd name="connsiteY8" fmla="*/ 0 h 2933700"/>
                <a:gd name="connsiteX9" fmla="*/ 693629 w 685800"/>
                <a:gd name="connsiteY9" fmla="*/ 342748 h 2933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800" h="2933700">
                  <a:moveTo>
                    <a:pt x="633146" y="2939796"/>
                  </a:moveTo>
                  <a:lnTo>
                    <a:pt x="64532" y="2939796"/>
                  </a:lnTo>
                  <a:lnTo>
                    <a:pt x="64532" y="959730"/>
                  </a:lnTo>
                  <a:lnTo>
                    <a:pt x="633146" y="959730"/>
                  </a:lnTo>
                  <a:lnTo>
                    <a:pt x="633146" y="2939796"/>
                  </a:lnTo>
                  <a:close/>
                  <a:moveTo>
                    <a:pt x="693629" y="342748"/>
                  </a:moveTo>
                  <a:cubicBezTo>
                    <a:pt x="693629" y="532314"/>
                    <a:pt x="536371" y="689553"/>
                    <a:pt x="346862" y="689553"/>
                  </a:cubicBezTo>
                  <a:cubicBezTo>
                    <a:pt x="157267" y="689553"/>
                    <a:pt x="0" y="532314"/>
                    <a:pt x="0" y="342748"/>
                  </a:cubicBezTo>
                  <a:cubicBezTo>
                    <a:pt x="0" y="157286"/>
                    <a:pt x="157267" y="0"/>
                    <a:pt x="346862" y="0"/>
                  </a:cubicBezTo>
                  <a:cubicBezTo>
                    <a:pt x="536371" y="0"/>
                    <a:pt x="693629" y="157286"/>
                    <a:pt x="693629" y="342748"/>
                  </a:cubicBezTo>
                </a:path>
              </a:pathLst>
            </a:custGeom>
            <a:solidFill>
              <a:schemeClr val="tx2"/>
            </a:solidFill>
            <a:ln w="9525" cap="flat">
              <a:noFill/>
              <a:prstDash val="solid"/>
              <a:miter/>
            </a:ln>
          </p:spPr>
          <p:txBody>
            <a:bodyPr rtlCol="0" anchor="ctr"/>
            <a:lstStyle/>
            <a:p>
              <a:endParaRPr lang="nl-NL" sz="1463" dirty="0"/>
            </a:p>
          </p:txBody>
        </p:sp>
        <p:sp>
          <p:nvSpPr>
            <p:cNvPr id="23" name="Vrije vorm: vorm 22">
              <a:extLst>
                <a:ext uri="{FF2B5EF4-FFF2-40B4-BE49-F238E27FC236}">
                  <a16:creationId xmlns:a16="http://schemas.microsoft.com/office/drawing/2014/main" id="{BC3A4FF2-B008-4895-9187-7EDA36BE61DA}"/>
                </a:ext>
              </a:extLst>
            </p:cNvPr>
            <p:cNvSpPr/>
            <p:nvPr/>
          </p:nvSpPr>
          <p:spPr>
            <a:xfrm>
              <a:off x="8342890" y="2857795"/>
              <a:ext cx="2047875" cy="2057400"/>
            </a:xfrm>
            <a:custGeom>
              <a:avLst/>
              <a:gdLst>
                <a:gd name="connsiteX0" fmla="*/ 556527 w 2047875"/>
                <a:gd name="connsiteY0" fmla="*/ 1032367 h 2057400"/>
                <a:gd name="connsiteX1" fmla="*/ 1028329 w 2047875"/>
                <a:gd name="connsiteY1" fmla="*/ 1516266 h 2057400"/>
                <a:gd name="connsiteX2" fmla="*/ 1500169 w 2047875"/>
                <a:gd name="connsiteY2" fmla="*/ 1032367 h 2057400"/>
                <a:gd name="connsiteX3" fmla="*/ 1028329 w 2047875"/>
                <a:gd name="connsiteY3" fmla="*/ 544363 h 2057400"/>
                <a:gd name="connsiteX4" fmla="*/ 556527 w 2047875"/>
                <a:gd name="connsiteY4" fmla="*/ 1032367 h 2057400"/>
                <a:gd name="connsiteX5" fmla="*/ 2056657 w 2047875"/>
                <a:gd name="connsiteY5" fmla="*/ 1032367 h 2057400"/>
                <a:gd name="connsiteX6" fmla="*/ 1028329 w 2047875"/>
                <a:gd name="connsiteY6" fmla="*/ 2060696 h 2057400"/>
                <a:gd name="connsiteX7" fmla="*/ 0 w 2047875"/>
                <a:gd name="connsiteY7" fmla="*/ 1032367 h 2057400"/>
                <a:gd name="connsiteX8" fmla="*/ 1028329 w 2047875"/>
                <a:gd name="connsiteY8" fmla="*/ 0 h 2057400"/>
                <a:gd name="connsiteX9" fmla="*/ 2056657 w 2047875"/>
                <a:gd name="connsiteY9" fmla="*/ 1032367 h 20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7875" h="2057400">
                  <a:moveTo>
                    <a:pt x="556527" y="1032367"/>
                  </a:moveTo>
                  <a:cubicBezTo>
                    <a:pt x="556527" y="1306582"/>
                    <a:pt x="758133" y="1516266"/>
                    <a:pt x="1028329" y="1516266"/>
                  </a:cubicBezTo>
                  <a:cubicBezTo>
                    <a:pt x="1294486" y="1516266"/>
                    <a:pt x="1500169" y="1306582"/>
                    <a:pt x="1500169" y="1032367"/>
                  </a:cubicBezTo>
                  <a:cubicBezTo>
                    <a:pt x="1500169" y="750056"/>
                    <a:pt x="1294486" y="544363"/>
                    <a:pt x="1028329" y="544363"/>
                  </a:cubicBezTo>
                  <a:cubicBezTo>
                    <a:pt x="758133" y="544363"/>
                    <a:pt x="556527" y="750056"/>
                    <a:pt x="556527" y="1032367"/>
                  </a:cubicBezTo>
                  <a:moveTo>
                    <a:pt x="2056657" y="1032367"/>
                  </a:moveTo>
                  <a:cubicBezTo>
                    <a:pt x="2056657" y="1621098"/>
                    <a:pt x="1609040" y="2060696"/>
                    <a:pt x="1028329" y="2060696"/>
                  </a:cubicBezTo>
                  <a:cubicBezTo>
                    <a:pt x="443579" y="2060696"/>
                    <a:pt x="0" y="1621098"/>
                    <a:pt x="0" y="1032367"/>
                  </a:cubicBezTo>
                  <a:cubicBezTo>
                    <a:pt x="0" y="443570"/>
                    <a:pt x="443579" y="0"/>
                    <a:pt x="1028329" y="0"/>
                  </a:cubicBezTo>
                  <a:cubicBezTo>
                    <a:pt x="1609040" y="0"/>
                    <a:pt x="2056657" y="443570"/>
                    <a:pt x="2056657" y="1032367"/>
                  </a:cubicBezTo>
                </a:path>
              </a:pathLst>
            </a:custGeom>
            <a:solidFill>
              <a:schemeClr val="tx2"/>
            </a:solidFill>
            <a:ln w="9525" cap="flat">
              <a:noFill/>
              <a:prstDash val="solid"/>
              <a:miter/>
            </a:ln>
          </p:spPr>
          <p:txBody>
            <a:bodyPr rtlCol="0" anchor="ctr"/>
            <a:lstStyle/>
            <a:p>
              <a:endParaRPr lang="nl-NL" sz="1463" dirty="0"/>
            </a:p>
          </p:txBody>
        </p:sp>
      </p:grpSp>
      <p:sp>
        <p:nvSpPr>
          <p:cNvPr id="7" name="Tijdelijke aanduiding voor datum 6">
            <a:extLst>
              <a:ext uri="{FF2B5EF4-FFF2-40B4-BE49-F238E27FC236}">
                <a16:creationId xmlns:a16="http://schemas.microsoft.com/office/drawing/2014/main" id="{AAA3FE77-D963-4061-ABFC-458D33B78382}"/>
              </a:ext>
            </a:extLst>
          </p:cNvPr>
          <p:cNvSpPr>
            <a:spLocks noGrp="1"/>
          </p:cNvSpPr>
          <p:nvPr>
            <p:ph type="dt" sz="half" idx="10"/>
          </p:nvPr>
        </p:nvSpPr>
        <p:spPr>
          <a:xfrm>
            <a:off x="8114401" y="720000"/>
            <a:ext cx="3714744" cy="360000"/>
          </a:xfrm>
        </p:spPr>
        <p:txBody>
          <a:bodyPr/>
          <a:lstStyle>
            <a:lvl1pPr>
              <a:defRPr sz="2438">
                <a:solidFill>
                  <a:schemeClr val="tx2"/>
                </a:solidFill>
              </a:defRPr>
            </a:lvl1pPr>
          </a:lstStyle>
          <a:p>
            <a:r>
              <a:rPr lang="nl-NL" dirty="0"/>
              <a:t>1 november 2019</a:t>
            </a:r>
          </a:p>
        </p:txBody>
      </p:sp>
      <p:sp>
        <p:nvSpPr>
          <p:cNvPr id="8" name="Tijdelijke aanduiding voor voettekst 7">
            <a:extLst>
              <a:ext uri="{FF2B5EF4-FFF2-40B4-BE49-F238E27FC236}">
                <a16:creationId xmlns:a16="http://schemas.microsoft.com/office/drawing/2014/main" id="{13F0238C-86C9-487B-98C7-03CA64C586CA}"/>
              </a:ext>
            </a:extLst>
          </p:cNvPr>
          <p:cNvSpPr>
            <a:spLocks noGrp="1"/>
          </p:cNvSpPr>
          <p:nvPr>
            <p:ph type="ftr" sz="quarter" idx="11"/>
          </p:nvPr>
        </p:nvSpPr>
        <p:spPr/>
        <p:txBody>
          <a:bodyPr/>
          <a:lstStyle/>
          <a:p>
            <a:endParaRPr lang="nl-NL" dirty="0"/>
          </a:p>
        </p:txBody>
      </p:sp>
      <p:sp>
        <p:nvSpPr>
          <p:cNvPr id="9" name="Tijdelijke aanduiding voor dianummer 8">
            <a:extLst>
              <a:ext uri="{FF2B5EF4-FFF2-40B4-BE49-F238E27FC236}">
                <a16:creationId xmlns:a16="http://schemas.microsoft.com/office/drawing/2014/main" id="{34C88BAC-8FEF-42D3-A024-166434050EB7}"/>
              </a:ext>
            </a:extLst>
          </p:cNvPr>
          <p:cNvSpPr>
            <a:spLocks noGrp="1"/>
          </p:cNvSpPr>
          <p:nvPr>
            <p:ph type="sldNum" sz="quarter" idx="12"/>
          </p:nvPr>
        </p:nvSpPr>
        <p:spPr>
          <a:xfrm>
            <a:off x="324001" y="7020003"/>
            <a:ext cx="600075" cy="317209"/>
          </a:xfrm>
        </p:spPr>
        <p:txBody>
          <a:bodyPr/>
          <a:lstStyle>
            <a:lvl1pPr>
              <a:defRPr>
                <a:solidFill>
                  <a:srgbClr val="E6E6E6"/>
                </a:solidFill>
              </a:defRPr>
            </a:lvl1pPr>
          </a:lstStyle>
          <a:p>
            <a:fld id="{F42B3F14-D836-496B-80A2-23BE75BD68CB}" type="slidenum">
              <a:rPr lang="nl-NL" smtClean="0"/>
              <a:pPr/>
              <a:t>‹nr.›</a:t>
            </a:fld>
            <a:endParaRPr lang="nl-NL" dirty="0"/>
          </a:p>
        </p:txBody>
      </p:sp>
    </p:spTree>
    <p:extLst>
      <p:ext uri="{BB962C8B-B14F-4D97-AF65-F5344CB8AC3E}">
        <p14:creationId xmlns:p14="http://schemas.microsoft.com/office/powerpoint/2010/main" val="406604582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3" orient="horz" pos="232" userDrawn="1">
          <p15:clr>
            <a:srgbClr val="FBAE40"/>
          </p15:clr>
        </p15:guide>
        <p15:guide id="4" pos="7452"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78E966F5-006F-433A-9691-0B17633B2A97}"/>
              </a:ext>
            </a:extLst>
          </p:cNvPr>
          <p:cNvSpPr>
            <a:spLocks noGrp="1"/>
          </p:cNvSpPr>
          <p:nvPr>
            <p:ph type="title"/>
          </p:nvPr>
        </p:nvSpPr>
        <p:spPr>
          <a:xfrm>
            <a:off x="324000" y="288000"/>
            <a:ext cx="11520000" cy="720000"/>
          </a:xfrm>
          <a:prstGeom prst="rect">
            <a:avLst/>
          </a:prstGeom>
        </p:spPr>
        <p:txBody>
          <a:bodyPr vert="horz" lIns="0" tIns="0" rIns="0" bIns="0" rtlCol="0" anchor="t">
            <a:noAutofit/>
          </a:bodyPr>
          <a:lstStyle/>
          <a:p>
            <a:endParaRPr lang="nl-NL" dirty="0"/>
          </a:p>
        </p:txBody>
      </p:sp>
      <p:sp>
        <p:nvSpPr>
          <p:cNvPr id="3" name="Tijdelijke aanduiding voor tekst 2">
            <a:extLst>
              <a:ext uri="{FF2B5EF4-FFF2-40B4-BE49-F238E27FC236}">
                <a16:creationId xmlns:a16="http://schemas.microsoft.com/office/drawing/2014/main" id="{71B2E2CE-1F7F-4603-9A75-FEAAFF7381A1}"/>
              </a:ext>
            </a:extLst>
          </p:cNvPr>
          <p:cNvSpPr>
            <a:spLocks noGrp="1"/>
          </p:cNvSpPr>
          <p:nvPr>
            <p:ph type="body" idx="1"/>
          </p:nvPr>
        </p:nvSpPr>
        <p:spPr>
          <a:xfrm>
            <a:off x="324000" y="1692000"/>
            <a:ext cx="11520000" cy="4320000"/>
          </a:xfrm>
          <a:prstGeom prst="rect">
            <a:avLst/>
          </a:prstGeom>
        </p:spPr>
        <p:txBody>
          <a:bodyPr vert="horz" lIns="0" tIns="0" rIns="0" bIns="0" rtlCol="0">
            <a:noAutofit/>
          </a:bodyPr>
          <a:lstStyle/>
          <a:p>
            <a:pPr lvl="0"/>
            <a:r>
              <a:rPr lang="nl-NL" dirty="0"/>
              <a:t>Eerste niveau</a:t>
            </a:r>
          </a:p>
          <a:p>
            <a:pPr lvl="1"/>
            <a:r>
              <a:rPr lang="nl-NL" dirty="0"/>
              <a:t>Tweede niveau</a:t>
            </a:r>
          </a:p>
          <a:p>
            <a:pPr lvl="2"/>
            <a:r>
              <a:rPr lang="nl-NL" dirty="0"/>
              <a:t>Derde niveau</a:t>
            </a:r>
          </a:p>
          <a:p>
            <a:pPr lvl="3"/>
            <a:r>
              <a:rPr lang="nl-NL" dirty="0"/>
              <a:t>Vierde niveau</a:t>
            </a:r>
          </a:p>
        </p:txBody>
      </p:sp>
      <p:sp>
        <p:nvSpPr>
          <p:cNvPr id="4" name="Tijdelijke aanduiding voor datum 3">
            <a:extLst>
              <a:ext uri="{FF2B5EF4-FFF2-40B4-BE49-F238E27FC236}">
                <a16:creationId xmlns:a16="http://schemas.microsoft.com/office/drawing/2014/main" id="{AE4571E1-7B78-4AC3-AB7A-7A15720DF431}"/>
              </a:ext>
            </a:extLst>
          </p:cNvPr>
          <p:cNvSpPr>
            <a:spLocks noGrp="1"/>
          </p:cNvSpPr>
          <p:nvPr>
            <p:ph type="dt" sz="half" idx="2"/>
          </p:nvPr>
        </p:nvSpPr>
        <p:spPr>
          <a:xfrm>
            <a:off x="1104900" y="7020003"/>
            <a:ext cx="2133600" cy="317209"/>
          </a:xfrm>
          <a:prstGeom prst="rect">
            <a:avLst/>
          </a:prstGeom>
        </p:spPr>
        <p:txBody>
          <a:bodyPr vert="horz" lIns="0" tIns="0" rIns="0" bIns="0" rtlCol="0" anchor="ctr">
            <a:noAutofit/>
          </a:bodyPr>
          <a:lstStyle>
            <a:lvl1pPr algn="l">
              <a:defRPr sz="1463">
                <a:solidFill>
                  <a:srgbClr val="E6E6E6"/>
                </a:solidFill>
                <a:latin typeface="Arial" panose="020B0604020202020204" pitchFamily="34" charset="0"/>
                <a:cs typeface="Arial" panose="020B0604020202020204" pitchFamily="34" charset="0"/>
              </a:defRPr>
            </a:lvl1pPr>
          </a:lstStyle>
          <a:p>
            <a:r>
              <a:rPr lang="nl-NL"/>
              <a:t>1 november 2019</a:t>
            </a:r>
            <a:endParaRPr lang="nl-NL" dirty="0"/>
          </a:p>
        </p:txBody>
      </p:sp>
      <p:sp>
        <p:nvSpPr>
          <p:cNvPr id="5" name="Tijdelijke aanduiding voor voettekst 4">
            <a:extLst>
              <a:ext uri="{FF2B5EF4-FFF2-40B4-BE49-F238E27FC236}">
                <a16:creationId xmlns:a16="http://schemas.microsoft.com/office/drawing/2014/main" id="{9004B6D2-F868-492E-8371-701F4F999CBA}"/>
              </a:ext>
            </a:extLst>
          </p:cNvPr>
          <p:cNvSpPr>
            <a:spLocks noGrp="1"/>
          </p:cNvSpPr>
          <p:nvPr>
            <p:ph type="ftr" sz="quarter" idx="3"/>
          </p:nvPr>
        </p:nvSpPr>
        <p:spPr>
          <a:xfrm>
            <a:off x="3378200" y="7020003"/>
            <a:ext cx="7035800" cy="317209"/>
          </a:xfrm>
          <a:prstGeom prst="rect">
            <a:avLst/>
          </a:prstGeom>
        </p:spPr>
        <p:txBody>
          <a:bodyPr vert="horz" lIns="0" tIns="0" rIns="0" bIns="0" rtlCol="0" anchor="ctr">
            <a:noAutofit/>
          </a:bodyPr>
          <a:lstStyle>
            <a:lvl1pPr algn="l">
              <a:defRPr sz="1463">
                <a:solidFill>
                  <a:srgbClr val="E6E6E6"/>
                </a:solidFill>
                <a:latin typeface="Arial" panose="020B0604020202020204" pitchFamily="34" charset="0"/>
                <a:cs typeface="Arial" panose="020B0604020202020204" pitchFamily="34" charset="0"/>
              </a:defRPr>
            </a:lvl1pPr>
          </a:lstStyle>
          <a:p>
            <a:endParaRPr lang="nl-NL" dirty="0"/>
          </a:p>
        </p:txBody>
      </p:sp>
      <p:sp>
        <p:nvSpPr>
          <p:cNvPr id="6" name="Tijdelijke aanduiding voor dianummer 5">
            <a:extLst>
              <a:ext uri="{FF2B5EF4-FFF2-40B4-BE49-F238E27FC236}">
                <a16:creationId xmlns:a16="http://schemas.microsoft.com/office/drawing/2014/main" id="{1F491C4D-045B-4D79-8E4E-A715678ECCDC}"/>
              </a:ext>
            </a:extLst>
          </p:cNvPr>
          <p:cNvSpPr>
            <a:spLocks noGrp="1"/>
          </p:cNvSpPr>
          <p:nvPr>
            <p:ph type="sldNum" sz="quarter" idx="4"/>
          </p:nvPr>
        </p:nvSpPr>
        <p:spPr>
          <a:xfrm>
            <a:off x="324001" y="6256575"/>
            <a:ext cx="600075" cy="317209"/>
          </a:xfrm>
          <a:prstGeom prst="rect">
            <a:avLst/>
          </a:prstGeom>
        </p:spPr>
        <p:txBody>
          <a:bodyPr vert="horz" lIns="0" tIns="0" rIns="0" bIns="0" rtlCol="0" anchor="ctr">
            <a:noAutofit/>
          </a:bodyPr>
          <a:lstStyle>
            <a:lvl1pPr algn="l">
              <a:defRPr sz="1463">
                <a:solidFill>
                  <a:schemeClr val="tx2"/>
                </a:solidFill>
                <a:latin typeface="Arial" panose="020B0604020202020204" pitchFamily="34" charset="0"/>
                <a:cs typeface="Arial" panose="020B0604020202020204" pitchFamily="34" charset="0"/>
              </a:defRPr>
            </a:lvl1pPr>
          </a:lstStyle>
          <a:p>
            <a:fld id="{F42B3F14-D836-496B-80A2-23BE75BD68CB}" type="slidenum">
              <a:rPr lang="nl-NL" smtClean="0"/>
              <a:pPr/>
              <a:t>‹nr.›</a:t>
            </a:fld>
            <a:endParaRPr lang="nl-NL" dirty="0"/>
          </a:p>
        </p:txBody>
      </p:sp>
      <p:grpSp>
        <p:nvGrpSpPr>
          <p:cNvPr id="11" name="Graphic 9">
            <a:extLst>
              <a:ext uri="{FF2B5EF4-FFF2-40B4-BE49-F238E27FC236}">
                <a16:creationId xmlns:a16="http://schemas.microsoft.com/office/drawing/2014/main" id="{39972E5E-488A-4691-A9A3-9765ED2E0269}"/>
              </a:ext>
            </a:extLst>
          </p:cNvPr>
          <p:cNvGrpSpPr/>
          <p:nvPr/>
        </p:nvGrpSpPr>
        <p:grpSpPr>
          <a:xfrm>
            <a:off x="11166424" y="6268654"/>
            <a:ext cx="662400" cy="229292"/>
            <a:chOff x="9591675" y="6288523"/>
            <a:chExt cx="662400" cy="229292"/>
          </a:xfrm>
        </p:grpSpPr>
        <p:sp>
          <p:nvSpPr>
            <p:cNvPr id="12" name="Vrije vorm: vorm 11">
              <a:extLst>
                <a:ext uri="{FF2B5EF4-FFF2-40B4-BE49-F238E27FC236}">
                  <a16:creationId xmlns:a16="http://schemas.microsoft.com/office/drawing/2014/main" id="{6E32B589-3F30-49B8-97FA-A6E223A0B778}"/>
                </a:ext>
              </a:extLst>
            </p:cNvPr>
            <p:cNvSpPr/>
            <p:nvPr/>
          </p:nvSpPr>
          <p:spPr>
            <a:xfrm>
              <a:off x="9591675" y="6359476"/>
              <a:ext cx="140123" cy="152861"/>
            </a:xfrm>
            <a:custGeom>
              <a:avLst/>
              <a:gdLst>
                <a:gd name="connsiteX0" fmla="*/ 80291 w 140123"/>
                <a:gd name="connsiteY0" fmla="*/ 159014 h 152861"/>
                <a:gd name="connsiteX1" fmla="*/ 0 w 140123"/>
                <a:gd name="connsiteY1" fmla="*/ 79666 h 152861"/>
                <a:gd name="connsiteX2" fmla="*/ 80291 w 140123"/>
                <a:gd name="connsiteY2" fmla="*/ 0 h 152861"/>
                <a:gd name="connsiteX3" fmla="*/ 147511 w 140123"/>
                <a:gd name="connsiteY3" fmla="*/ 37642 h 152861"/>
                <a:gd name="connsiteX4" fmla="*/ 110481 w 140123"/>
                <a:gd name="connsiteY4" fmla="*/ 58813 h 152861"/>
                <a:gd name="connsiteX5" fmla="*/ 80291 w 140123"/>
                <a:gd name="connsiteY5" fmla="*/ 41999 h 152861"/>
                <a:gd name="connsiteX6" fmla="*/ 42954 w 140123"/>
                <a:gd name="connsiteY6" fmla="*/ 79666 h 152861"/>
                <a:gd name="connsiteX7" fmla="*/ 80291 w 140123"/>
                <a:gd name="connsiteY7" fmla="*/ 117003 h 152861"/>
                <a:gd name="connsiteX8" fmla="*/ 113270 w 140123"/>
                <a:gd name="connsiteY8" fmla="*/ 97704 h 152861"/>
                <a:gd name="connsiteX9" fmla="*/ 152174 w 140123"/>
                <a:gd name="connsiteY9" fmla="*/ 115130 h 152861"/>
                <a:gd name="connsiteX10" fmla="*/ 80291 w 140123"/>
                <a:gd name="connsiteY10" fmla="*/ 159014 h 15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0123" h="152861">
                  <a:moveTo>
                    <a:pt x="80291" y="159014"/>
                  </a:moveTo>
                  <a:cubicBezTo>
                    <a:pt x="34547" y="159014"/>
                    <a:pt x="0" y="125092"/>
                    <a:pt x="0" y="79666"/>
                  </a:cubicBezTo>
                  <a:cubicBezTo>
                    <a:pt x="0" y="34228"/>
                    <a:pt x="34547" y="0"/>
                    <a:pt x="80291" y="0"/>
                  </a:cubicBezTo>
                  <a:cubicBezTo>
                    <a:pt x="110162" y="0"/>
                    <a:pt x="135372" y="14929"/>
                    <a:pt x="147511" y="37642"/>
                  </a:cubicBezTo>
                  <a:lnTo>
                    <a:pt x="110481" y="58813"/>
                  </a:lnTo>
                  <a:cubicBezTo>
                    <a:pt x="104876" y="48546"/>
                    <a:pt x="93679" y="41999"/>
                    <a:pt x="80291" y="41999"/>
                  </a:cubicBezTo>
                  <a:cubicBezTo>
                    <a:pt x="58508" y="41999"/>
                    <a:pt x="42954" y="58189"/>
                    <a:pt x="42954" y="79666"/>
                  </a:cubicBezTo>
                  <a:cubicBezTo>
                    <a:pt x="42954" y="100825"/>
                    <a:pt x="58508" y="117003"/>
                    <a:pt x="80291" y="117003"/>
                  </a:cubicBezTo>
                  <a:cubicBezTo>
                    <a:pt x="95233" y="117003"/>
                    <a:pt x="107360" y="109844"/>
                    <a:pt x="113270" y="97704"/>
                  </a:cubicBezTo>
                  <a:lnTo>
                    <a:pt x="152174" y="115130"/>
                  </a:lnTo>
                  <a:cubicBezTo>
                    <a:pt x="140658" y="141588"/>
                    <a:pt x="112965" y="159014"/>
                    <a:pt x="80291" y="159014"/>
                  </a:cubicBezTo>
                </a:path>
              </a:pathLst>
            </a:custGeom>
            <a:solidFill>
              <a:schemeClr val="tx2"/>
            </a:solidFill>
            <a:ln w="12639" cap="flat">
              <a:noFill/>
              <a:prstDash val="solid"/>
              <a:miter/>
            </a:ln>
          </p:spPr>
          <p:txBody>
            <a:bodyPr rtlCol="0" anchor="ctr"/>
            <a:lstStyle/>
            <a:p>
              <a:endParaRPr lang="nl-NL" sz="1463" dirty="0"/>
            </a:p>
          </p:txBody>
        </p:sp>
        <p:sp>
          <p:nvSpPr>
            <p:cNvPr id="13" name="Vrije vorm: vorm 12">
              <a:extLst>
                <a:ext uri="{FF2B5EF4-FFF2-40B4-BE49-F238E27FC236}">
                  <a16:creationId xmlns:a16="http://schemas.microsoft.com/office/drawing/2014/main" id="{6D768945-A957-434C-B7DF-89D473C34658}"/>
                </a:ext>
              </a:extLst>
            </p:cNvPr>
            <p:cNvSpPr/>
            <p:nvPr/>
          </p:nvSpPr>
          <p:spPr>
            <a:xfrm>
              <a:off x="9752396" y="6362584"/>
              <a:ext cx="140123" cy="152861"/>
            </a:xfrm>
            <a:custGeom>
              <a:avLst/>
              <a:gdLst>
                <a:gd name="connsiteX0" fmla="*/ 145320 w 140123"/>
                <a:gd name="connsiteY0" fmla="*/ 81845 h 152861"/>
                <a:gd name="connsiteX1" fmla="*/ 72495 w 140123"/>
                <a:gd name="connsiteY1" fmla="*/ 155906 h 152861"/>
                <a:gd name="connsiteX2" fmla="*/ 0 w 140123"/>
                <a:gd name="connsiteY2" fmla="*/ 81845 h 152861"/>
                <a:gd name="connsiteX3" fmla="*/ 0 w 140123"/>
                <a:gd name="connsiteY3" fmla="*/ 0 h 152861"/>
                <a:gd name="connsiteX4" fmla="*/ 43566 w 140123"/>
                <a:gd name="connsiteY4" fmla="*/ 0 h 152861"/>
                <a:gd name="connsiteX5" fmla="*/ 43566 w 140123"/>
                <a:gd name="connsiteY5" fmla="*/ 81845 h 152861"/>
                <a:gd name="connsiteX6" fmla="*/ 72495 w 140123"/>
                <a:gd name="connsiteY6" fmla="*/ 113894 h 152861"/>
                <a:gd name="connsiteX7" fmla="*/ 101436 w 140123"/>
                <a:gd name="connsiteY7" fmla="*/ 81845 h 152861"/>
                <a:gd name="connsiteX8" fmla="*/ 101436 w 140123"/>
                <a:gd name="connsiteY8" fmla="*/ 0 h 152861"/>
                <a:gd name="connsiteX9" fmla="*/ 145320 w 140123"/>
                <a:gd name="connsiteY9" fmla="*/ 0 h 152861"/>
                <a:gd name="connsiteX10" fmla="*/ 145320 w 140123"/>
                <a:gd name="connsiteY10" fmla="*/ 81845 h 15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0123" h="152861">
                  <a:moveTo>
                    <a:pt x="145320" y="81845"/>
                  </a:moveTo>
                  <a:cubicBezTo>
                    <a:pt x="145320" y="125410"/>
                    <a:pt x="115449" y="155906"/>
                    <a:pt x="72495" y="155906"/>
                  </a:cubicBezTo>
                  <a:cubicBezTo>
                    <a:pt x="29872" y="155906"/>
                    <a:pt x="0" y="125410"/>
                    <a:pt x="0" y="81845"/>
                  </a:cubicBezTo>
                  <a:lnTo>
                    <a:pt x="0" y="0"/>
                  </a:lnTo>
                  <a:lnTo>
                    <a:pt x="43566" y="0"/>
                  </a:lnTo>
                  <a:lnTo>
                    <a:pt x="43566" y="81845"/>
                  </a:lnTo>
                  <a:cubicBezTo>
                    <a:pt x="43566" y="101449"/>
                    <a:pt x="54763" y="113894"/>
                    <a:pt x="72495" y="113894"/>
                  </a:cubicBezTo>
                  <a:cubicBezTo>
                    <a:pt x="90239" y="113894"/>
                    <a:pt x="101436" y="101449"/>
                    <a:pt x="101436" y="81845"/>
                  </a:cubicBezTo>
                  <a:lnTo>
                    <a:pt x="101436" y="0"/>
                  </a:lnTo>
                  <a:lnTo>
                    <a:pt x="145320" y="0"/>
                  </a:lnTo>
                  <a:lnTo>
                    <a:pt x="145320" y="81845"/>
                  </a:lnTo>
                  <a:close/>
                </a:path>
              </a:pathLst>
            </a:custGeom>
            <a:solidFill>
              <a:schemeClr val="tx2"/>
            </a:solidFill>
            <a:ln w="12639" cap="flat">
              <a:noFill/>
              <a:prstDash val="solid"/>
              <a:miter/>
            </a:ln>
          </p:spPr>
          <p:txBody>
            <a:bodyPr rtlCol="0" anchor="ctr"/>
            <a:lstStyle/>
            <a:p>
              <a:endParaRPr lang="nl-NL" sz="1463" dirty="0"/>
            </a:p>
          </p:txBody>
        </p:sp>
        <p:sp>
          <p:nvSpPr>
            <p:cNvPr id="14" name="Vrije vorm: vorm 13">
              <a:extLst>
                <a:ext uri="{FF2B5EF4-FFF2-40B4-BE49-F238E27FC236}">
                  <a16:creationId xmlns:a16="http://schemas.microsoft.com/office/drawing/2014/main" id="{4C020F08-5C54-420F-9079-020DCA9623C7}"/>
                </a:ext>
              </a:extLst>
            </p:cNvPr>
            <p:cNvSpPr/>
            <p:nvPr/>
          </p:nvSpPr>
          <p:spPr>
            <a:xfrm>
              <a:off x="9920098" y="6362572"/>
              <a:ext cx="89169" cy="140123"/>
            </a:xfrm>
            <a:custGeom>
              <a:avLst/>
              <a:gdLst>
                <a:gd name="connsiteX0" fmla="*/ 93666 w 89169"/>
                <a:gd name="connsiteY0" fmla="*/ 41706 h 140122"/>
                <a:gd name="connsiteX1" fmla="*/ 43566 w 89169"/>
                <a:gd name="connsiteY1" fmla="*/ 41706 h 140122"/>
                <a:gd name="connsiteX2" fmla="*/ 43566 w 89169"/>
                <a:gd name="connsiteY2" fmla="*/ 152798 h 140122"/>
                <a:gd name="connsiteX3" fmla="*/ 0 w 89169"/>
                <a:gd name="connsiteY3" fmla="*/ 152798 h 140122"/>
                <a:gd name="connsiteX4" fmla="*/ 0 w 89169"/>
                <a:gd name="connsiteY4" fmla="*/ 0 h 140122"/>
                <a:gd name="connsiteX5" fmla="*/ 93666 w 89169"/>
                <a:gd name="connsiteY5" fmla="*/ 0 h 140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169" h="140122">
                  <a:moveTo>
                    <a:pt x="93666" y="41706"/>
                  </a:moveTo>
                  <a:lnTo>
                    <a:pt x="43566" y="41706"/>
                  </a:lnTo>
                  <a:lnTo>
                    <a:pt x="43566" y="152798"/>
                  </a:lnTo>
                  <a:lnTo>
                    <a:pt x="0" y="152798"/>
                  </a:lnTo>
                  <a:lnTo>
                    <a:pt x="0" y="0"/>
                  </a:lnTo>
                  <a:lnTo>
                    <a:pt x="93666" y="0"/>
                  </a:lnTo>
                  <a:close/>
                </a:path>
              </a:pathLst>
            </a:custGeom>
            <a:solidFill>
              <a:schemeClr val="tx2"/>
            </a:solidFill>
            <a:ln w="12639" cap="flat">
              <a:noFill/>
              <a:prstDash val="solid"/>
              <a:miter/>
            </a:ln>
          </p:spPr>
          <p:txBody>
            <a:bodyPr rtlCol="0" anchor="ctr"/>
            <a:lstStyle/>
            <a:p>
              <a:endParaRPr lang="nl-NL" sz="1463" dirty="0"/>
            </a:p>
          </p:txBody>
        </p:sp>
        <p:sp>
          <p:nvSpPr>
            <p:cNvPr id="15" name="Vrije vorm: vorm 14">
              <a:extLst>
                <a:ext uri="{FF2B5EF4-FFF2-40B4-BE49-F238E27FC236}">
                  <a16:creationId xmlns:a16="http://schemas.microsoft.com/office/drawing/2014/main" id="{B713BDA2-9C3F-4955-B00F-D4CA5A40276B}"/>
                </a:ext>
              </a:extLst>
            </p:cNvPr>
            <p:cNvSpPr/>
            <p:nvPr/>
          </p:nvSpPr>
          <p:spPr>
            <a:xfrm>
              <a:off x="10027496" y="6288523"/>
              <a:ext cx="50954" cy="216554"/>
            </a:xfrm>
            <a:custGeom>
              <a:avLst/>
              <a:gdLst>
                <a:gd name="connsiteX0" fmla="*/ 48865 w 50953"/>
                <a:gd name="connsiteY0" fmla="*/ 226859 h 216553"/>
                <a:gd name="connsiteX1" fmla="*/ 4981 w 50953"/>
                <a:gd name="connsiteY1" fmla="*/ 226859 h 216553"/>
                <a:gd name="connsiteX2" fmla="*/ 4981 w 50953"/>
                <a:gd name="connsiteY2" fmla="*/ 74061 h 216553"/>
                <a:gd name="connsiteX3" fmla="*/ 48865 w 50953"/>
                <a:gd name="connsiteY3" fmla="*/ 74061 h 216553"/>
                <a:gd name="connsiteX4" fmla="*/ 48865 w 50953"/>
                <a:gd name="connsiteY4" fmla="*/ 226859 h 216553"/>
                <a:gd name="connsiteX5" fmla="*/ 53527 w 50953"/>
                <a:gd name="connsiteY5" fmla="*/ 26445 h 216553"/>
                <a:gd name="connsiteX6" fmla="*/ 26763 w 50953"/>
                <a:gd name="connsiteY6" fmla="*/ 53208 h 216553"/>
                <a:gd name="connsiteX7" fmla="*/ 0 w 50953"/>
                <a:gd name="connsiteY7" fmla="*/ 26445 h 216553"/>
                <a:gd name="connsiteX8" fmla="*/ 26763 w 50953"/>
                <a:gd name="connsiteY8" fmla="*/ 0 h 216553"/>
                <a:gd name="connsiteX9" fmla="*/ 53527 w 50953"/>
                <a:gd name="connsiteY9" fmla="*/ 26445 h 21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3" h="216553">
                  <a:moveTo>
                    <a:pt x="48865" y="226859"/>
                  </a:moveTo>
                  <a:lnTo>
                    <a:pt x="4981" y="226859"/>
                  </a:lnTo>
                  <a:lnTo>
                    <a:pt x="4981" y="74061"/>
                  </a:lnTo>
                  <a:lnTo>
                    <a:pt x="48865" y="74061"/>
                  </a:lnTo>
                  <a:lnTo>
                    <a:pt x="48865" y="226859"/>
                  </a:lnTo>
                  <a:close/>
                  <a:moveTo>
                    <a:pt x="53527" y="26445"/>
                  </a:moveTo>
                  <a:cubicBezTo>
                    <a:pt x="53527" y="41069"/>
                    <a:pt x="41387" y="53208"/>
                    <a:pt x="26763" y="53208"/>
                  </a:cubicBezTo>
                  <a:cubicBezTo>
                    <a:pt x="12140" y="53208"/>
                    <a:pt x="0" y="41069"/>
                    <a:pt x="0" y="26445"/>
                  </a:cubicBezTo>
                  <a:cubicBezTo>
                    <a:pt x="0" y="12127"/>
                    <a:pt x="12140" y="0"/>
                    <a:pt x="26763" y="0"/>
                  </a:cubicBezTo>
                  <a:cubicBezTo>
                    <a:pt x="41387" y="0"/>
                    <a:pt x="53527" y="12127"/>
                    <a:pt x="53527" y="26445"/>
                  </a:cubicBezTo>
                </a:path>
              </a:pathLst>
            </a:custGeom>
            <a:solidFill>
              <a:schemeClr val="tx2"/>
            </a:solidFill>
            <a:ln w="12639" cap="flat">
              <a:noFill/>
              <a:prstDash val="solid"/>
              <a:miter/>
            </a:ln>
          </p:spPr>
          <p:txBody>
            <a:bodyPr rtlCol="0" anchor="ctr"/>
            <a:lstStyle/>
            <a:p>
              <a:endParaRPr lang="nl-NL" sz="1463" dirty="0"/>
            </a:p>
          </p:txBody>
        </p:sp>
        <p:sp>
          <p:nvSpPr>
            <p:cNvPr id="16" name="Vrije vorm: vorm 15">
              <a:extLst>
                <a:ext uri="{FF2B5EF4-FFF2-40B4-BE49-F238E27FC236}">
                  <a16:creationId xmlns:a16="http://schemas.microsoft.com/office/drawing/2014/main" id="{FCEEA2FC-252A-4305-9828-F6BC09FDA62E}"/>
                </a:ext>
              </a:extLst>
            </p:cNvPr>
            <p:cNvSpPr/>
            <p:nvPr/>
          </p:nvSpPr>
          <p:spPr>
            <a:xfrm>
              <a:off x="10096933" y="6359476"/>
              <a:ext cx="152862" cy="152861"/>
            </a:xfrm>
            <a:custGeom>
              <a:avLst/>
              <a:gdLst>
                <a:gd name="connsiteX0" fmla="*/ 42941 w 152861"/>
                <a:gd name="connsiteY0" fmla="*/ 79666 h 152861"/>
                <a:gd name="connsiteX1" fmla="*/ 79361 w 152861"/>
                <a:gd name="connsiteY1" fmla="*/ 117003 h 152861"/>
                <a:gd name="connsiteX2" fmla="*/ 115767 w 152861"/>
                <a:gd name="connsiteY2" fmla="*/ 79666 h 152861"/>
                <a:gd name="connsiteX3" fmla="*/ 79361 w 152861"/>
                <a:gd name="connsiteY3" fmla="*/ 42011 h 152861"/>
                <a:gd name="connsiteX4" fmla="*/ 42941 w 152861"/>
                <a:gd name="connsiteY4" fmla="*/ 79666 h 152861"/>
                <a:gd name="connsiteX5" fmla="*/ 158708 w 152861"/>
                <a:gd name="connsiteY5" fmla="*/ 79666 h 152861"/>
                <a:gd name="connsiteX6" fmla="*/ 79361 w 152861"/>
                <a:gd name="connsiteY6" fmla="*/ 159014 h 152861"/>
                <a:gd name="connsiteX7" fmla="*/ 0 w 152861"/>
                <a:gd name="connsiteY7" fmla="*/ 79666 h 152861"/>
                <a:gd name="connsiteX8" fmla="*/ 79361 w 152861"/>
                <a:gd name="connsiteY8" fmla="*/ 0 h 152861"/>
                <a:gd name="connsiteX9" fmla="*/ 158708 w 152861"/>
                <a:gd name="connsiteY9" fmla="*/ 79666 h 15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861" h="152861">
                  <a:moveTo>
                    <a:pt x="42941" y="79666"/>
                  </a:moveTo>
                  <a:cubicBezTo>
                    <a:pt x="42941" y="100825"/>
                    <a:pt x="58508" y="117003"/>
                    <a:pt x="79361" y="117003"/>
                  </a:cubicBezTo>
                  <a:cubicBezTo>
                    <a:pt x="99895" y="117003"/>
                    <a:pt x="115767" y="100825"/>
                    <a:pt x="115767" y="79666"/>
                  </a:cubicBezTo>
                  <a:cubicBezTo>
                    <a:pt x="115767" y="57883"/>
                    <a:pt x="99895" y="42011"/>
                    <a:pt x="79361" y="42011"/>
                  </a:cubicBezTo>
                  <a:cubicBezTo>
                    <a:pt x="58508" y="42011"/>
                    <a:pt x="42941" y="57883"/>
                    <a:pt x="42941" y="79666"/>
                  </a:cubicBezTo>
                  <a:moveTo>
                    <a:pt x="158708" y="79666"/>
                  </a:moveTo>
                  <a:cubicBezTo>
                    <a:pt x="158708" y="125104"/>
                    <a:pt x="124162" y="159014"/>
                    <a:pt x="79361" y="159014"/>
                  </a:cubicBezTo>
                  <a:cubicBezTo>
                    <a:pt x="34228" y="159014"/>
                    <a:pt x="0" y="125104"/>
                    <a:pt x="0" y="79666"/>
                  </a:cubicBezTo>
                  <a:cubicBezTo>
                    <a:pt x="0" y="34228"/>
                    <a:pt x="34228" y="0"/>
                    <a:pt x="79361" y="0"/>
                  </a:cubicBezTo>
                  <a:cubicBezTo>
                    <a:pt x="124162" y="0"/>
                    <a:pt x="158708" y="34228"/>
                    <a:pt x="158708" y="79666"/>
                  </a:cubicBezTo>
                </a:path>
              </a:pathLst>
            </a:custGeom>
            <a:solidFill>
              <a:schemeClr val="tx2"/>
            </a:solidFill>
            <a:ln w="12639" cap="flat">
              <a:noFill/>
              <a:prstDash val="solid"/>
              <a:miter/>
            </a:ln>
          </p:spPr>
          <p:txBody>
            <a:bodyPr rtlCol="0" anchor="ctr"/>
            <a:lstStyle/>
            <a:p>
              <a:endParaRPr lang="nl-NL" sz="1463" dirty="0"/>
            </a:p>
          </p:txBody>
        </p:sp>
      </p:grpSp>
    </p:spTree>
    <p:extLst>
      <p:ext uri="{BB962C8B-B14F-4D97-AF65-F5344CB8AC3E}">
        <p14:creationId xmlns:p14="http://schemas.microsoft.com/office/powerpoint/2010/main" val="2303553625"/>
      </p:ext>
    </p:extLst>
  </p:cSld>
  <p:clrMap bg1="lt1" tx1="dk1" bg2="lt2" tx2="dk2" accent1="accent1" accent2="accent2" accent3="accent3" accent4="accent4" accent5="accent5" accent6="accent6" hlink="hlink" folHlink="folHlink"/>
  <p:sldLayoutIdLst>
    <p:sldLayoutId id="2147483668" r:id="rId1"/>
    <p:sldLayoutId id="2147483673" r:id="rId2"/>
    <p:sldLayoutId id="2147483649" r:id="rId3"/>
  </p:sldLayoutIdLst>
  <p:hf hdr="0"/>
  <p:txStyles>
    <p:titleStyle>
      <a:lvl1pPr algn="l" defTabSz="914400" rtl="0" eaLnBrk="1" latinLnBrk="0" hangingPunct="1">
        <a:lnSpc>
          <a:spcPct val="90000"/>
        </a:lnSpc>
        <a:spcBef>
          <a:spcPct val="0"/>
        </a:spcBef>
        <a:buNone/>
        <a:defRPr sz="5000" b="1" kern="1200">
          <a:solidFill>
            <a:schemeClr val="tx2"/>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sz="2200" kern="1200">
          <a:solidFill>
            <a:schemeClr val="tx2"/>
          </a:solidFill>
          <a:latin typeface="Arial" panose="020B0604020202020204" pitchFamily="34" charset="0"/>
          <a:ea typeface="+mn-ea"/>
          <a:cs typeface="Arial" panose="020B0604020202020204" pitchFamily="34" charset="0"/>
        </a:defRPr>
      </a:lvl1pPr>
      <a:lvl2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2"/>
          </a:solidFill>
          <a:latin typeface="Arial" panose="020B0604020202020204" pitchFamily="34" charset="0"/>
          <a:ea typeface="+mn-ea"/>
          <a:cs typeface="Arial" panose="020B0604020202020204" pitchFamily="34" charset="0"/>
        </a:defRPr>
      </a:lvl2pPr>
      <a:lvl3pPr marL="594900" indent="-342900" algn="l" defTabSz="914400" rtl="0" eaLnBrk="1" latinLnBrk="0" hangingPunct="1">
        <a:lnSpc>
          <a:spcPct val="100000"/>
        </a:lnSpc>
        <a:spcBef>
          <a:spcPts val="0"/>
        </a:spcBef>
        <a:buFont typeface="Arial" panose="020B0604020202020204" pitchFamily="34" charset="0"/>
        <a:buChar char="•"/>
        <a:defRPr sz="2200" b="0" kern="1200">
          <a:solidFill>
            <a:schemeClr val="tx2"/>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0"/>
        </a:spcBef>
        <a:buFont typeface="Arial" panose="020B0604020202020204" pitchFamily="34" charset="0"/>
        <a:buNone/>
        <a:defRPr sz="3000" b="1" kern="1200">
          <a:solidFill>
            <a:schemeClr val="tx2"/>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5pPr>
      <a:lvl6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03" userDrawn="1">
          <p15:clr>
            <a:srgbClr val="F26B43"/>
          </p15:clr>
        </p15:guide>
        <p15:guide id="2" orient="horz" pos="2160" userDrawn="1">
          <p15:clr>
            <a:srgbClr val="F26B43"/>
          </p15:clr>
        </p15:guide>
        <p15:guide id="3" pos="7461" userDrawn="1">
          <p15:clr>
            <a:srgbClr val="F26B43"/>
          </p15:clr>
        </p15:guide>
        <p15:guide id="4" orient="horz" pos="4094" userDrawn="1">
          <p15:clr>
            <a:srgbClr val="F26B43"/>
          </p15:clr>
        </p15:guide>
        <p15:guide id="5" orient="horz" pos="1065" userDrawn="1">
          <p15:clr>
            <a:srgbClr val="F26B43"/>
          </p15:clr>
        </p15:guide>
        <p15:guide id="6" orient="horz" pos="3788" userDrawn="1">
          <p15:clr>
            <a:srgbClr val="F26B43"/>
          </p15:clr>
        </p15:guide>
        <p15:guide id="7" orient="horz" pos="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D689EE3-86C1-4AF8-B3DB-E04DB6F8EDF4}"/>
              </a:ext>
            </a:extLst>
          </p:cNvPr>
          <p:cNvSpPr>
            <a:spLocks noGrp="1"/>
          </p:cNvSpPr>
          <p:nvPr>
            <p:ph type="ctrTitle"/>
          </p:nvPr>
        </p:nvSpPr>
        <p:spPr/>
        <p:txBody>
          <a:bodyPr/>
          <a:lstStyle/>
          <a:p>
            <a:r>
              <a:rPr lang="nl-NL" dirty="0"/>
              <a:t>Cheat Sheet C#</a:t>
            </a:r>
          </a:p>
        </p:txBody>
      </p:sp>
      <p:sp>
        <p:nvSpPr>
          <p:cNvPr id="2" name="Tijdelijke aanduiding voor voettekst 1">
            <a:extLst>
              <a:ext uri="{FF2B5EF4-FFF2-40B4-BE49-F238E27FC236}">
                <a16:creationId xmlns:a16="http://schemas.microsoft.com/office/drawing/2014/main" id="{7FD5E7E0-5149-4B79-9E9A-58DEAA028EA5}"/>
              </a:ext>
            </a:extLst>
          </p:cNvPr>
          <p:cNvSpPr>
            <a:spLocks noGrp="1"/>
          </p:cNvSpPr>
          <p:nvPr>
            <p:ph type="ftr" sz="quarter" idx="11"/>
          </p:nvPr>
        </p:nvSpPr>
        <p:spPr/>
        <p:txBody>
          <a:bodyPr/>
          <a:lstStyle/>
          <a:p>
            <a:endParaRPr lang="nl-NL" dirty="0"/>
          </a:p>
        </p:txBody>
      </p:sp>
      <p:sp>
        <p:nvSpPr>
          <p:cNvPr id="3" name="Tijdelijke aanduiding voor dianummer 2">
            <a:extLst>
              <a:ext uri="{FF2B5EF4-FFF2-40B4-BE49-F238E27FC236}">
                <a16:creationId xmlns:a16="http://schemas.microsoft.com/office/drawing/2014/main" id="{E50DEB82-89F7-4889-96EC-FA0029D24576}"/>
              </a:ext>
            </a:extLst>
          </p:cNvPr>
          <p:cNvSpPr>
            <a:spLocks noGrp="1"/>
          </p:cNvSpPr>
          <p:nvPr>
            <p:ph type="sldNum" sz="quarter" idx="12"/>
          </p:nvPr>
        </p:nvSpPr>
        <p:spPr/>
        <p:txBody>
          <a:bodyPr/>
          <a:lstStyle/>
          <a:p>
            <a:fld id="{F42B3F14-D836-496B-80A2-23BE75BD68CB}" type="slidenum">
              <a:rPr lang="nl-NL" smtClean="0"/>
              <a:pPr/>
              <a:t>1</a:t>
            </a:fld>
            <a:endParaRPr lang="nl-NL" dirty="0"/>
          </a:p>
        </p:txBody>
      </p:sp>
    </p:spTree>
    <p:extLst>
      <p:ext uri="{BB962C8B-B14F-4D97-AF65-F5344CB8AC3E}">
        <p14:creationId xmlns:p14="http://schemas.microsoft.com/office/powerpoint/2010/main" val="717220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44170865-6089-45CD-BF5E-9BE20858350A}"/>
              </a:ext>
            </a:extLst>
          </p:cNvPr>
          <p:cNvSpPr>
            <a:spLocks noGrp="1"/>
          </p:cNvSpPr>
          <p:nvPr>
            <p:ph type="title"/>
          </p:nvPr>
        </p:nvSpPr>
        <p:spPr/>
        <p:txBody>
          <a:bodyPr/>
          <a:lstStyle/>
          <a:p>
            <a:r>
              <a:rPr lang="nl-NL" dirty="0"/>
              <a:t>Over deze Cheat Sheet</a:t>
            </a:r>
          </a:p>
        </p:txBody>
      </p:sp>
      <p:sp>
        <p:nvSpPr>
          <p:cNvPr id="8" name="Tijdelijke aanduiding voor inhoud 7">
            <a:extLst>
              <a:ext uri="{FF2B5EF4-FFF2-40B4-BE49-F238E27FC236}">
                <a16:creationId xmlns:a16="http://schemas.microsoft.com/office/drawing/2014/main" id="{1736C5B9-7E0F-4E0F-BF9A-4D4234C83719}"/>
              </a:ext>
            </a:extLst>
          </p:cNvPr>
          <p:cNvSpPr>
            <a:spLocks noGrp="1"/>
          </p:cNvSpPr>
          <p:nvPr>
            <p:ph idx="1"/>
          </p:nvPr>
        </p:nvSpPr>
        <p:spPr>
          <a:xfrm>
            <a:off x="324000" y="1226916"/>
            <a:ext cx="6782856" cy="4785084"/>
          </a:xfrm>
        </p:spPr>
        <p:txBody>
          <a:bodyPr numCol="1"/>
          <a:lstStyle/>
          <a:p>
            <a:pPr lvl="1">
              <a:lnSpc>
                <a:spcPct val="150000"/>
              </a:lnSpc>
            </a:pPr>
            <a:r>
              <a:rPr lang="nl-NL" sz="2800" dirty="0"/>
              <a:t>Handig overzicht van veel gebruikte code</a:t>
            </a:r>
          </a:p>
          <a:p>
            <a:pPr lvl="1">
              <a:lnSpc>
                <a:spcPct val="150000"/>
              </a:lnSpc>
            </a:pPr>
            <a:r>
              <a:rPr lang="nl-NL" sz="2800" dirty="0"/>
              <a:t>Bevat naamgevingsconventies</a:t>
            </a:r>
          </a:p>
        </p:txBody>
      </p:sp>
      <p:sp>
        <p:nvSpPr>
          <p:cNvPr id="6" name="Tijdelijke aanduiding voor datum 5">
            <a:extLst>
              <a:ext uri="{FF2B5EF4-FFF2-40B4-BE49-F238E27FC236}">
                <a16:creationId xmlns:a16="http://schemas.microsoft.com/office/drawing/2014/main" id="{7D429F9F-ABE8-4D77-928C-17ABB74009C8}"/>
              </a:ext>
            </a:extLst>
          </p:cNvPr>
          <p:cNvSpPr>
            <a:spLocks noGrp="1"/>
          </p:cNvSpPr>
          <p:nvPr>
            <p:ph type="dt" sz="half" idx="10"/>
          </p:nvPr>
        </p:nvSpPr>
        <p:spPr/>
        <p:txBody>
          <a:bodyPr/>
          <a:lstStyle/>
          <a:p>
            <a:r>
              <a:rPr lang="nl-NL"/>
              <a:t>1 november 2019</a:t>
            </a:r>
          </a:p>
        </p:txBody>
      </p:sp>
      <p:sp>
        <p:nvSpPr>
          <p:cNvPr id="3" name="Tijdelijke aanduiding voor dianummer 2">
            <a:extLst>
              <a:ext uri="{FF2B5EF4-FFF2-40B4-BE49-F238E27FC236}">
                <a16:creationId xmlns:a16="http://schemas.microsoft.com/office/drawing/2014/main" id="{1569550B-2693-442D-946F-04DFC5912206}"/>
              </a:ext>
            </a:extLst>
          </p:cNvPr>
          <p:cNvSpPr>
            <a:spLocks noGrp="1"/>
          </p:cNvSpPr>
          <p:nvPr>
            <p:ph type="sldNum" sz="quarter" idx="12"/>
          </p:nvPr>
        </p:nvSpPr>
        <p:spPr/>
        <p:txBody>
          <a:bodyPr/>
          <a:lstStyle/>
          <a:p>
            <a:fld id="{F42B3F14-D836-496B-80A2-23BE75BD68CB}" type="slidenum">
              <a:rPr lang="nl-NL" smtClean="0"/>
              <a:pPr/>
              <a:t>2</a:t>
            </a:fld>
            <a:endParaRPr lang="nl-NL"/>
          </a:p>
        </p:txBody>
      </p:sp>
      <p:sp>
        <p:nvSpPr>
          <p:cNvPr id="9" name="Tijdelijke aanduiding voor inhoud 7">
            <a:extLst>
              <a:ext uri="{FF2B5EF4-FFF2-40B4-BE49-F238E27FC236}">
                <a16:creationId xmlns:a16="http://schemas.microsoft.com/office/drawing/2014/main" id="{CDAE3C55-D21C-49CA-8ECA-D7276E3DAF3C}"/>
              </a:ext>
            </a:extLst>
          </p:cNvPr>
          <p:cNvSpPr txBox="1">
            <a:spLocks/>
          </p:cNvSpPr>
          <p:nvPr/>
        </p:nvSpPr>
        <p:spPr>
          <a:xfrm>
            <a:off x="8206451" y="1226916"/>
            <a:ext cx="3669172" cy="4785084"/>
          </a:xfrm>
          <a:prstGeom prst="rect">
            <a:avLst/>
          </a:prstGeom>
        </p:spPr>
        <p:txBody>
          <a:bodyPr vert="horz" lIns="0" tIns="0" rIns="0" bIns="0" numCol="1" spcCol="360000" rtlCol="0">
            <a:noAutofit/>
          </a:bodyPr>
          <a:lstStyle>
            <a:lvl1pPr marL="0" indent="0" algn="l" defTabSz="914400" rtl="0" eaLnBrk="1" latinLnBrk="0" hangingPunct="1">
              <a:lnSpc>
                <a:spcPct val="100000"/>
              </a:lnSpc>
              <a:spcBef>
                <a:spcPts val="0"/>
              </a:spcBef>
              <a:buFont typeface="Arial" panose="020B0604020202020204" pitchFamily="34" charset="0"/>
              <a:buNone/>
              <a:defRPr sz="2200" kern="1200">
                <a:solidFill>
                  <a:schemeClr val="tx2"/>
                </a:solidFill>
                <a:latin typeface="Arial" panose="020B0604020202020204" pitchFamily="34" charset="0"/>
                <a:ea typeface="+mn-ea"/>
                <a:cs typeface="Arial" panose="020B0604020202020204" pitchFamily="34" charset="0"/>
              </a:defRPr>
            </a:lvl1pPr>
            <a:lvl2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2"/>
                </a:solidFill>
                <a:latin typeface="Arial" panose="020B0604020202020204" pitchFamily="34" charset="0"/>
                <a:ea typeface="+mn-ea"/>
                <a:cs typeface="Arial" panose="020B0604020202020204" pitchFamily="34" charset="0"/>
              </a:defRPr>
            </a:lvl2pPr>
            <a:lvl3pPr marL="594900" indent="-342900" algn="l" defTabSz="914400" rtl="0" eaLnBrk="1" latinLnBrk="0" hangingPunct="1">
              <a:lnSpc>
                <a:spcPct val="100000"/>
              </a:lnSpc>
              <a:spcBef>
                <a:spcPts val="0"/>
              </a:spcBef>
              <a:buFont typeface="Arial" panose="020B0604020202020204" pitchFamily="34" charset="0"/>
              <a:buChar char="•"/>
              <a:defRPr sz="2200" b="0" kern="1200">
                <a:solidFill>
                  <a:schemeClr val="tx2"/>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0"/>
              </a:spcBef>
              <a:buFont typeface="Arial" panose="020B0604020202020204" pitchFamily="34" charset="0"/>
              <a:buNone/>
              <a:defRPr sz="3000" b="1" kern="1200">
                <a:solidFill>
                  <a:schemeClr val="tx2"/>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5pPr>
            <a:lvl6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9pPr>
          </a:lstStyle>
          <a:p>
            <a:pPr marL="0" lvl="1" indent="0">
              <a:lnSpc>
                <a:spcPct val="150000"/>
              </a:lnSpc>
              <a:buNone/>
            </a:pPr>
            <a:r>
              <a:rPr lang="nl-NL" sz="1600" b="1" dirty="0"/>
              <a:t>De onderwerpen:</a:t>
            </a:r>
          </a:p>
          <a:p>
            <a:pPr marL="252000" lvl="2" indent="0">
              <a:lnSpc>
                <a:spcPct val="150000"/>
              </a:lnSpc>
              <a:buNone/>
            </a:pPr>
            <a:r>
              <a:rPr lang="nl-NL" sz="2000" dirty="0"/>
              <a:t>01. 	Conventies</a:t>
            </a:r>
          </a:p>
          <a:p>
            <a:pPr marL="252000" lvl="2" indent="0">
              <a:lnSpc>
                <a:spcPct val="150000"/>
              </a:lnSpc>
              <a:buFont typeface="Arial" panose="020B0604020202020204" pitchFamily="34" charset="0"/>
              <a:buNone/>
            </a:pPr>
            <a:r>
              <a:rPr lang="nl-NL" sz="2000" dirty="0"/>
              <a:t>02. 	Variabelen</a:t>
            </a:r>
          </a:p>
          <a:p>
            <a:pPr marL="252000" lvl="2" indent="0">
              <a:lnSpc>
                <a:spcPct val="150000"/>
              </a:lnSpc>
              <a:buFont typeface="Arial" panose="020B0604020202020204" pitchFamily="34" charset="0"/>
              <a:buNone/>
            </a:pPr>
            <a:r>
              <a:rPr lang="nl-NL" sz="2000" dirty="0"/>
              <a:t>03. 	Datatypes</a:t>
            </a:r>
          </a:p>
          <a:p>
            <a:pPr marL="252000" lvl="2" indent="0">
              <a:lnSpc>
                <a:spcPct val="150000"/>
              </a:lnSpc>
              <a:buFont typeface="Arial" panose="020B0604020202020204" pitchFamily="34" charset="0"/>
              <a:buNone/>
            </a:pPr>
            <a:r>
              <a:rPr lang="nl-NL" sz="2000" dirty="0"/>
              <a:t>04. 	</a:t>
            </a:r>
            <a:r>
              <a:rPr lang="nl-NL" sz="2000" dirty="0" err="1"/>
              <a:t>If</a:t>
            </a:r>
            <a:r>
              <a:rPr lang="nl-NL" sz="2000" dirty="0"/>
              <a:t>-statements</a:t>
            </a:r>
          </a:p>
          <a:p>
            <a:pPr marL="252000" lvl="2" indent="0">
              <a:lnSpc>
                <a:spcPct val="150000"/>
              </a:lnSpc>
              <a:buFont typeface="Arial" panose="020B0604020202020204" pitchFamily="34" charset="0"/>
              <a:buNone/>
            </a:pPr>
            <a:r>
              <a:rPr lang="nl-NL" sz="2000" dirty="0"/>
              <a:t>05. 	Loops</a:t>
            </a:r>
          </a:p>
          <a:p>
            <a:pPr marL="252000" lvl="2" indent="0">
              <a:lnSpc>
                <a:spcPct val="150000"/>
              </a:lnSpc>
              <a:buFont typeface="Arial" panose="020B0604020202020204" pitchFamily="34" charset="0"/>
              <a:buNone/>
            </a:pPr>
            <a:r>
              <a:rPr lang="nl-NL" sz="2000" dirty="0"/>
              <a:t>06. 	Methodes</a:t>
            </a:r>
          </a:p>
          <a:p>
            <a:pPr marL="252000" lvl="2" indent="0">
              <a:lnSpc>
                <a:spcPct val="150000"/>
              </a:lnSpc>
              <a:buFont typeface="Arial" panose="020B0604020202020204" pitchFamily="34" charset="0"/>
              <a:buNone/>
            </a:pPr>
            <a:r>
              <a:rPr lang="nl-NL" sz="2000" dirty="0"/>
              <a:t>07. 	Classes &amp; </a:t>
            </a:r>
            <a:r>
              <a:rPr lang="nl-NL" sz="2000" dirty="0" err="1"/>
              <a:t>Objects</a:t>
            </a:r>
            <a:endParaRPr lang="nl-NL" sz="2000" dirty="0"/>
          </a:p>
          <a:p>
            <a:pPr marL="252000" lvl="2" indent="0">
              <a:lnSpc>
                <a:spcPct val="150000"/>
              </a:lnSpc>
              <a:buFont typeface="Arial" panose="020B0604020202020204" pitchFamily="34" charset="0"/>
              <a:buNone/>
            </a:pPr>
            <a:r>
              <a:rPr lang="nl-NL" sz="2000" dirty="0"/>
              <a:t>08. 	Overerving</a:t>
            </a:r>
          </a:p>
          <a:p>
            <a:pPr marL="252000" lvl="2" indent="0">
              <a:lnSpc>
                <a:spcPct val="150000"/>
              </a:lnSpc>
              <a:buFont typeface="Arial" panose="020B0604020202020204" pitchFamily="34" charset="0"/>
              <a:buNone/>
            </a:pPr>
            <a:endParaRPr lang="nl-NL" sz="2000" dirty="0"/>
          </a:p>
          <a:p>
            <a:pPr marL="766350" lvl="2" indent="-514350">
              <a:lnSpc>
                <a:spcPct val="150000"/>
              </a:lnSpc>
              <a:buFont typeface="Arial" panose="020B0604020202020204" pitchFamily="34" charset="0"/>
              <a:buAutoNum type="arabicPeriod" startAt="6"/>
            </a:pPr>
            <a:endParaRPr lang="nl-NL" sz="2000" dirty="0"/>
          </a:p>
        </p:txBody>
      </p:sp>
    </p:spTree>
    <p:extLst>
      <p:ext uri="{BB962C8B-B14F-4D97-AF65-F5344CB8AC3E}">
        <p14:creationId xmlns:p14="http://schemas.microsoft.com/office/powerpoint/2010/main" val="994499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Vrije vorm: vorm 12">
            <a:extLst>
              <a:ext uri="{FF2B5EF4-FFF2-40B4-BE49-F238E27FC236}">
                <a16:creationId xmlns:a16="http://schemas.microsoft.com/office/drawing/2014/main" id="{92739C17-F9C9-455B-926F-3CCB3D0FF765}"/>
              </a:ext>
            </a:extLst>
          </p:cNvPr>
          <p:cNvSpPr/>
          <p:nvPr/>
        </p:nvSpPr>
        <p:spPr>
          <a:xfrm>
            <a:off x="11525250" y="361950"/>
            <a:ext cx="304800" cy="304800"/>
          </a:xfrm>
          <a:custGeom>
            <a:avLst/>
            <a:gdLst>
              <a:gd name="connsiteX0" fmla="*/ 69418 w 304800"/>
              <a:gd name="connsiteY0" fmla="*/ 304800 h 304800"/>
              <a:gd name="connsiteX1" fmla="*/ 304800 w 304800"/>
              <a:gd name="connsiteY1" fmla="*/ 304800 h 304800"/>
              <a:gd name="connsiteX2" fmla="*/ 304800 w 304800"/>
              <a:gd name="connsiteY2" fmla="*/ 235382 h 304800"/>
              <a:gd name="connsiteX3" fmla="*/ 118415 w 304800"/>
              <a:gd name="connsiteY3" fmla="*/ 235382 h 304800"/>
              <a:gd name="connsiteX4" fmla="*/ 304800 w 304800"/>
              <a:gd name="connsiteY4" fmla="*/ 49073 h 304800"/>
              <a:gd name="connsiteX5" fmla="*/ 255727 w 304800"/>
              <a:gd name="connsiteY5" fmla="*/ 0 h 304800"/>
              <a:gd name="connsiteX6" fmla="*/ 69418 w 304800"/>
              <a:gd name="connsiteY6" fmla="*/ 186385 h 304800"/>
              <a:gd name="connsiteX7" fmla="*/ 69418 w 304800"/>
              <a:gd name="connsiteY7" fmla="*/ 0 h 304800"/>
              <a:gd name="connsiteX8" fmla="*/ 0 w 304800"/>
              <a:gd name="connsiteY8" fmla="*/ 0 h 304800"/>
              <a:gd name="connsiteX9" fmla="*/ 0 w 304800"/>
              <a:gd name="connsiteY9" fmla="*/ 235382 h 304800"/>
              <a:gd name="connsiteX10" fmla="*/ 0 w 304800"/>
              <a:gd name="connsiteY10"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4800" h="304800">
                <a:moveTo>
                  <a:pt x="69418" y="304800"/>
                </a:moveTo>
                <a:lnTo>
                  <a:pt x="304800" y="304800"/>
                </a:lnTo>
                <a:lnTo>
                  <a:pt x="304800" y="235382"/>
                </a:lnTo>
                <a:lnTo>
                  <a:pt x="118415" y="235382"/>
                </a:lnTo>
                <a:lnTo>
                  <a:pt x="304800" y="49073"/>
                </a:lnTo>
                <a:lnTo>
                  <a:pt x="255727" y="0"/>
                </a:lnTo>
                <a:lnTo>
                  <a:pt x="69418" y="186385"/>
                </a:lnTo>
                <a:lnTo>
                  <a:pt x="69418" y="0"/>
                </a:lnTo>
                <a:lnTo>
                  <a:pt x="0" y="0"/>
                </a:lnTo>
                <a:lnTo>
                  <a:pt x="0" y="235382"/>
                </a:lnTo>
                <a:lnTo>
                  <a:pt x="0" y="304800"/>
                </a:lnTo>
                <a:close/>
              </a:path>
            </a:pathLst>
          </a:custGeom>
          <a:solidFill>
            <a:srgbClr val="FFFFFF"/>
          </a:solidFill>
          <a:ln w="76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 name="Tabel 2">
            <a:extLst>
              <a:ext uri="{FF2B5EF4-FFF2-40B4-BE49-F238E27FC236}">
                <a16:creationId xmlns:a16="http://schemas.microsoft.com/office/drawing/2014/main" id="{02E09BD7-D9BE-E4E0-3C9D-4B5DB3686B41}"/>
              </a:ext>
            </a:extLst>
          </p:cNvPr>
          <p:cNvGraphicFramePr>
            <a:graphicFrameLocks noGrp="1"/>
          </p:cNvGraphicFramePr>
          <p:nvPr>
            <p:extLst>
              <p:ext uri="{D42A27DB-BD31-4B8C-83A1-F6EECF244321}">
                <p14:modId xmlns:p14="http://schemas.microsoft.com/office/powerpoint/2010/main" val="1680254268"/>
              </p:ext>
            </p:extLst>
          </p:nvPr>
        </p:nvGraphicFramePr>
        <p:xfrm>
          <a:off x="333041" y="1073218"/>
          <a:ext cx="10801350" cy="1777439"/>
        </p:xfrm>
        <a:graphic>
          <a:graphicData uri="http://schemas.openxmlformats.org/drawingml/2006/table">
            <a:tbl>
              <a:tblPr firstRow="1" bandRow="1">
                <a:tableStyleId>{5C22544A-7EE6-4342-B048-85BDC9FD1C3A}</a:tableStyleId>
              </a:tblPr>
              <a:tblGrid>
                <a:gridCol w="3219451">
                  <a:extLst>
                    <a:ext uri="{9D8B030D-6E8A-4147-A177-3AD203B41FA5}">
                      <a16:colId xmlns:a16="http://schemas.microsoft.com/office/drawing/2014/main" val="2099804405"/>
                    </a:ext>
                  </a:extLst>
                </a:gridCol>
                <a:gridCol w="3215640">
                  <a:extLst>
                    <a:ext uri="{9D8B030D-6E8A-4147-A177-3AD203B41FA5}">
                      <a16:colId xmlns:a16="http://schemas.microsoft.com/office/drawing/2014/main" val="165443260"/>
                    </a:ext>
                  </a:extLst>
                </a:gridCol>
                <a:gridCol w="4366259">
                  <a:extLst>
                    <a:ext uri="{9D8B030D-6E8A-4147-A177-3AD203B41FA5}">
                      <a16:colId xmlns:a16="http://schemas.microsoft.com/office/drawing/2014/main" val="2699174687"/>
                    </a:ext>
                  </a:extLst>
                </a:gridCol>
              </a:tblGrid>
              <a:tr h="370840">
                <a:tc>
                  <a:txBody>
                    <a:bodyPr/>
                    <a:lstStyle/>
                    <a:p>
                      <a:r>
                        <a:rPr lang="nl-NL" sz="1200" dirty="0"/>
                        <a:t>Wat</a:t>
                      </a:r>
                    </a:p>
                  </a:txBody>
                  <a:tcPr/>
                </a:tc>
                <a:tc>
                  <a:txBody>
                    <a:bodyPr/>
                    <a:lstStyle/>
                    <a:p>
                      <a:r>
                        <a:rPr lang="nl-NL" sz="1200" dirty="0"/>
                        <a:t>Conventie</a:t>
                      </a:r>
                    </a:p>
                  </a:txBody>
                  <a:tcPr/>
                </a:tc>
                <a:tc>
                  <a:txBody>
                    <a:bodyPr/>
                    <a:lstStyle/>
                    <a:p>
                      <a:r>
                        <a:rPr lang="nl-NL" sz="1200" dirty="0"/>
                        <a:t>Voorbeeld</a:t>
                      </a:r>
                    </a:p>
                  </a:txBody>
                  <a:tcPr/>
                </a:tc>
                <a:extLst>
                  <a:ext uri="{0D108BD9-81ED-4DB2-BD59-A6C34878D82A}">
                    <a16:rowId xmlns:a16="http://schemas.microsoft.com/office/drawing/2014/main" val="2175852377"/>
                  </a:ext>
                </a:extLst>
              </a:tr>
              <a:tr h="309319">
                <a:tc>
                  <a:txBody>
                    <a:bodyPr/>
                    <a:lstStyle/>
                    <a:p>
                      <a:r>
                        <a:rPr lang="nl-NL" sz="1200" dirty="0"/>
                        <a:t>Classes, records &amp; </a:t>
                      </a:r>
                      <a:r>
                        <a:rPr lang="nl-NL" sz="1200" dirty="0" err="1"/>
                        <a:t>structs</a:t>
                      </a:r>
                      <a:endParaRPr lang="nl-NL" sz="1200" dirty="0"/>
                    </a:p>
                  </a:txBody>
                  <a:tcPr/>
                </a:tc>
                <a:tc>
                  <a:txBody>
                    <a:bodyPr/>
                    <a:lstStyle/>
                    <a:p>
                      <a:r>
                        <a:rPr lang="nl-NL" sz="1200" dirty="0" err="1"/>
                        <a:t>PascalCase</a:t>
                      </a:r>
                      <a:endParaRPr lang="nl-NL" sz="1200" dirty="0"/>
                    </a:p>
                  </a:txBody>
                  <a:tcPr/>
                </a:tc>
                <a:tc>
                  <a:txBody>
                    <a:bodyPr/>
                    <a:lstStyle/>
                    <a:p>
                      <a:r>
                        <a:rPr lang="nl-NL" sz="1200" dirty="0"/>
                        <a:t>Public class </a:t>
                      </a:r>
                      <a:r>
                        <a:rPr lang="nl-NL" sz="1200" dirty="0" err="1"/>
                        <a:t>GetErrorMessage</a:t>
                      </a:r>
                      <a:endParaRPr lang="nl-NL" sz="1200" dirty="0"/>
                    </a:p>
                  </a:txBody>
                  <a:tcPr/>
                </a:tc>
                <a:extLst>
                  <a:ext uri="{0D108BD9-81ED-4DB2-BD59-A6C34878D82A}">
                    <a16:rowId xmlns:a16="http://schemas.microsoft.com/office/drawing/2014/main" val="2638866059"/>
                  </a:ext>
                </a:extLst>
              </a:tr>
              <a:tr h="232229">
                <a:tc>
                  <a:txBody>
                    <a:bodyPr/>
                    <a:lstStyle/>
                    <a:p>
                      <a:r>
                        <a:rPr lang="nl-NL" sz="1200" dirty="0"/>
                        <a:t>Interface</a:t>
                      </a:r>
                    </a:p>
                  </a:txBody>
                  <a:tcPr/>
                </a:tc>
                <a:tc>
                  <a:txBody>
                    <a:bodyPr/>
                    <a:lstStyle/>
                    <a:p>
                      <a:r>
                        <a:rPr lang="nl-NL" sz="1200" dirty="0" err="1"/>
                        <a:t>PascalCase</a:t>
                      </a:r>
                      <a:r>
                        <a:rPr lang="nl-NL" sz="1200" dirty="0"/>
                        <a:t> met een I ervoor</a:t>
                      </a:r>
                    </a:p>
                  </a:txBody>
                  <a:tcPr/>
                </a:tc>
                <a:tc>
                  <a:txBody>
                    <a:bodyPr/>
                    <a:lstStyle/>
                    <a:p>
                      <a:r>
                        <a:rPr lang="nl-NL" sz="1200" dirty="0" err="1"/>
                        <a:t>IUpdatable</a:t>
                      </a:r>
                      <a:endParaRPr lang="nl-NL" sz="1200" dirty="0"/>
                    </a:p>
                  </a:txBody>
                  <a:tcPr/>
                </a:tc>
                <a:extLst>
                  <a:ext uri="{0D108BD9-81ED-4DB2-BD59-A6C34878D82A}">
                    <a16:rowId xmlns:a16="http://schemas.microsoft.com/office/drawing/2014/main" val="4157021540"/>
                  </a:ext>
                </a:extLst>
              </a:tr>
              <a:tr h="200941">
                <a:tc>
                  <a:txBody>
                    <a:bodyPr/>
                    <a:lstStyle/>
                    <a:p>
                      <a:r>
                        <a:rPr lang="nl-NL" sz="1200" dirty="0"/>
                        <a:t>Public fields, events, </a:t>
                      </a:r>
                      <a:r>
                        <a:rPr lang="nl-NL" sz="1200" dirty="0" err="1"/>
                        <a:t>methods</a:t>
                      </a:r>
                      <a:endParaRPr lang="nl-NL" sz="1200" dirty="0"/>
                    </a:p>
                  </a:txBody>
                  <a:tcPr/>
                </a:tc>
                <a:tc>
                  <a:txBody>
                    <a:bodyPr/>
                    <a:lstStyle/>
                    <a:p>
                      <a:r>
                        <a:rPr lang="nl-NL" sz="1200" dirty="0" err="1"/>
                        <a:t>PascalCase</a:t>
                      </a:r>
                      <a:endParaRPr lang="nl-NL" sz="1200" dirty="0"/>
                    </a:p>
                  </a:txBody>
                  <a:tcPr/>
                </a:tc>
                <a:tc>
                  <a:txBody>
                    <a:bodyPr/>
                    <a:lstStyle/>
                    <a:p>
                      <a:r>
                        <a:rPr lang="nl-NL" sz="1200" dirty="0"/>
                        <a:t>Public int Score</a:t>
                      </a:r>
                    </a:p>
                  </a:txBody>
                  <a:tcPr/>
                </a:tc>
                <a:extLst>
                  <a:ext uri="{0D108BD9-81ED-4DB2-BD59-A6C34878D82A}">
                    <a16:rowId xmlns:a16="http://schemas.microsoft.com/office/drawing/2014/main" val="1881029526"/>
                  </a:ext>
                </a:extLst>
              </a:tr>
              <a:tr h="0">
                <a:tc>
                  <a:txBody>
                    <a:bodyPr/>
                    <a:lstStyle/>
                    <a:p>
                      <a:r>
                        <a:rPr lang="nl-NL" sz="1200" dirty="0"/>
                        <a:t>Private </a:t>
                      </a:r>
                      <a:r>
                        <a:rPr lang="nl-NL" sz="1200" dirty="0" err="1"/>
                        <a:t>method</a:t>
                      </a:r>
                      <a:endParaRPr lang="nl-NL" sz="1200" dirty="0"/>
                    </a:p>
                  </a:txBody>
                  <a:tcPr/>
                </a:tc>
                <a:tc>
                  <a:txBody>
                    <a:bodyPr/>
                    <a:lstStyle/>
                    <a:p>
                      <a:r>
                        <a:rPr lang="nl-NL" sz="1200" dirty="0" err="1"/>
                        <a:t>camelCase</a:t>
                      </a:r>
                      <a:endParaRPr lang="nl-NL" sz="1200" dirty="0"/>
                    </a:p>
                  </a:txBody>
                  <a:tcPr/>
                </a:tc>
                <a:tc>
                  <a:txBody>
                    <a:bodyPr/>
                    <a:lstStyle/>
                    <a:p>
                      <a:r>
                        <a:rPr lang="nl-NL" sz="1200" dirty="0"/>
                        <a:t>Private int </a:t>
                      </a:r>
                      <a:r>
                        <a:rPr lang="nl-NL" sz="1200" dirty="0" err="1"/>
                        <a:t>getScore</a:t>
                      </a:r>
                      <a:r>
                        <a:rPr lang="nl-NL" sz="1200" dirty="0"/>
                        <a:t>()</a:t>
                      </a:r>
                    </a:p>
                  </a:txBody>
                  <a:tcPr/>
                </a:tc>
                <a:extLst>
                  <a:ext uri="{0D108BD9-81ED-4DB2-BD59-A6C34878D82A}">
                    <a16:rowId xmlns:a16="http://schemas.microsoft.com/office/drawing/2014/main" val="3921666862"/>
                  </a:ext>
                </a:extLst>
              </a:tr>
              <a:tr h="0">
                <a:tc>
                  <a:txBody>
                    <a:bodyPr/>
                    <a:lstStyle/>
                    <a:p>
                      <a:r>
                        <a:rPr lang="nl-NL" sz="1200" dirty="0"/>
                        <a:t>Private &amp; </a:t>
                      </a:r>
                      <a:r>
                        <a:rPr lang="nl-NL" sz="1200" dirty="0" err="1"/>
                        <a:t>internal</a:t>
                      </a:r>
                      <a:r>
                        <a:rPr lang="nl-NL" sz="1200" dirty="0"/>
                        <a:t> fields en events</a:t>
                      </a:r>
                    </a:p>
                  </a:txBody>
                  <a:tcPr/>
                </a:tc>
                <a:tc>
                  <a:txBody>
                    <a:bodyPr/>
                    <a:lstStyle/>
                    <a:p>
                      <a:r>
                        <a:rPr lang="nl-NL" sz="1200" dirty="0" err="1"/>
                        <a:t>camelCase</a:t>
                      </a:r>
                      <a:endParaRPr lang="nl-NL" sz="1200" dirty="0"/>
                    </a:p>
                  </a:txBody>
                  <a:tcPr/>
                </a:tc>
                <a:tc>
                  <a:txBody>
                    <a:bodyPr/>
                    <a:lstStyle/>
                    <a:p>
                      <a:r>
                        <a:rPr lang="nl-NL" sz="1200" dirty="0"/>
                        <a:t>Private int </a:t>
                      </a:r>
                      <a:r>
                        <a:rPr lang="nl-NL" sz="1200" dirty="0" err="1"/>
                        <a:t>MyLives</a:t>
                      </a:r>
                      <a:endParaRPr lang="nl-NL" sz="1200" dirty="0"/>
                    </a:p>
                  </a:txBody>
                  <a:tcPr/>
                </a:tc>
                <a:extLst>
                  <a:ext uri="{0D108BD9-81ED-4DB2-BD59-A6C34878D82A}">
                    <a16:rowId xmlns:a16="http://schemas.microsoft.com/office/drawing/2014/main" val="1500700311"/>
                  </a:ext>
                </a:extLst>
              </a:tr>
            </a:tbl>
          </a:graphicData>
        </a:graphic>
      </p:graphicFrame>
      <p:sp>
        <p:nvSpPr>
          <p:cNvPr id="14" name="Tekstvak 13">
            <a:extLst>
              <a:ext uri="{FF2B5EF4-FFF2-40B4-BE49-F238E27FC236}">
                <a16:creationId xmlns:a16="http://schemas.microsoft.com/office/drawing/2014/main" id="{81F92654-E044-FC96-64FF-D8ABB1D82F01}"/>
              </a:ext>
            </a:extLst>
          </p:cNvPr>
          <p:cNvSpPr txBox="1"/>
          <p:nvPr/>
        </p:nvSpPr>
        <p:spPr>
          <a:xfrm>
            <a:off x="361951" y="5946488"/>
            <a:ext cx="11468100" cy="646331"/>
          </a:xfrm>
          <a:prstGeom prst="rect">
            <a:avLst/>
          </a:prstGeom>
          <a:noFill/>
        </p:spPr>
        <p:txBody>
          <a:bodyPr wrap="square">
            <a:spAutoFit/>
          </a:bodyPr>
          <a:lstStyle/>
          <a:p>
            <a:r>
              <a:rPr lang="nl-NL" dirty="0"/>
              <a:t>Alle conventies voor C# kun je vinden op </a:t>
            </a:r>
          </a:p>
          <a:p>
            <a:r>
              <a:rPr lang="nl-NL" dirty="0"/>
              <a:t>https://docs.microsoft.com/en-us/dotnet/csharp/fundamentals/coding-style/coding-conventions</a:t>
            </a:r>
          </a:p>
        </p:txBody>
      </p:sp>
      <p:graphicFrame>
        <p:nvGraphicFramePr>
          <p:cNvPr id="15" name="Tabel 2">
            <a:extLst>
              <a:ext uri="{FF2B5EF4-FFF2-40B4-BE49-F238E27FC236}">
                <a16:creationId xmlns:a16="http://schemas.microsoft.com/office/drawing/2014/main" id="{0D87E0D1-D517-B830-E3F5-E28A897B0C16}"/>
              </a:ext>
            </a:extLst>
          </p:cNvPr>
          <p:cNvGraphicFramePr>
            <a:graphicFrameLocks noGrp="1"/>
          </p:cNvGraphicFramePr>
          <p:nvPr>
            <p:extLst>
              <p:ext uri="{D42A27DB-BD31-4B8C-83A1-F6EECF244321}">
                <p14:modId xmlns:p14="http://schemas.microsoft.com/office/powerpoint/2010/main" val="3044719935"/>
              </p:ext>
            </p:extLst>
          </p:nvPr>
        </p:nvGraphicFramePr>
        <p:xfrm>
          <a:off x="1028700" y="3102846"/>
          <a:ext cx="10801350" cy="2748280"/>
        </p:xfrm>
        <a:graphic>
          <a:graphicData uri="http://schemas.openxmlformats.org/drawingml/2006/table">
            <a:tbl>
              <a:tblPr firstRow="1" bandRow="1">
                <a:tableStyleId>{5C22544A-7EE6-4342-B048-85BDC9FD1C3A}</a:tableStyleId>
              </a:tblPr>
              <a:tblGrid>
                <a:gridCol w="3219451">
                  <a:extLst>
                    <a:ext uri="{9D8B030D-6E8A-4147-A177-3AD203B41FA5}">
                      <a16:colId xmlns:a16="http://schemas.microsoft.com/office/drawing/2014/main" val="2099804405"/>
                    </a:ext>
                  </a:extLst>
                </a:gridCol>
                <a:gridCol w="3215640">
                  <a:extLst>
                    <a:ext uri="{9D8B030D-6E8A-4147-A177-3AD203B41FA5}">
                      <a16:colId xmlns:a16="http://schemas.microsoft.com/office/drawing/2014/main" val="165443260"/>
                    </a:ext>
                  </a:extLst>
                </a:gridCol>
                <a:gridCol w="4366259">
                  <a:extLst>
                    <a:ext uri="{9D8B030D-6E8A-4147-A177-3AD203B41FA5}">
                      <a16:colId xmlns:a16="http://schemas.microsoft.com/office/drawing/2014/main" val="2699174687"/>
                    </a:ext>
                  </a:extLst>
                </a:gridCol>
              </a:tblGrid>
              <a:tr h="370840">
                <a:tc>
                  <a:txBody>
                    <a:bodyPr/>
                    <a:lstStyle/>
                    <a:p>
                      <a:r>
                        <a:rPr lang="nl-NL" sz="1200" dirty="0"/>
                        <a:t>Wat</a:t>
                      </a:r>
                    </a:p>
                  </a:txBody>
                  <a:tcPr/>
                </a:tc>
                <a:tc>
                  <a:txBody>
                    <a:bodyPr/>
                    <a:lstStyle/>
                    <a:p>
                      <a:r>
                        <a:rPr lang="nl-NL" sz="1200" dirty="0"/>
                        <a:t>Conventie</a:t>
                      </a:r>
                    </a:p>
                  </a:txBody>
                  <a:tcPr/>
                </a:tc>
                <a:tc>
                  <a:txBody>
                    <a:bodyPr/>
                    <a:lstStyle/>
                    <a:p>
                      <a:r>
                        <a:rPr lang="nl-NL" sz="1200" dirty="0"/>
                        <a:t>Voorbeeld</a:t>
                      </a:r>
                    </a:p>
                  </a:txBody>
                  <a:tcPr/>
                </a:tc>
                <a:extLst>
                  <a:ext uri="{0D108BD9-81ED-4DB2-BD59-A6C34878D82A}">
                    <a16:rowId xmlns:a16="http://schemas.microsoft.com/office/drawing/2014/main" val="2175852377"/>
                  </a:ext>
                </a:extLst>
              </a:tr>
              <a:tr h="0">
                <a:tc>
                  <a:txBody>
                    <a:bodyPr/>
                    <a:lstStyle/>
                    <a:p>
                      <a:r>
                        <a:rPr lang="nl-NL" sz="1200" dirty="0" err="1"/>
                        <a:t>Bool</a:t>
                      </a:r>
                      <a:r>
                        <a:rPr lang="nl-NL" sz="1200" dirty="0"/>
                        <a:t>-fields</a:t>
                      </a:r>
                    </a:p>
                  </a:txBody>
                  <a:tcPr/>
                </a:tc>
                <a:tc>
                  <a:txBody>
                    <a:bodyPr/>
                    <a:lstStyle/>
                    <a:p>
                      <a:r>
                        <a:rPr lang="nl-NL" sz="1200" dirty="0"/>
                        <a:t>“is”, gevolgd door de beschrijving van de variabele</a:t>
                      </a:r>
                    </a:p>
                  </a:txBody>
                  <a:tcPr/>
                </a:tc>
                <a:tc>
                  <a:txBody>
                    <a:bodyPr/>
                    <a:lstStyle/>
                    <a:p>
                      <a:r>
                        <a:rPr lang="nl-NL" sz="1200" dirty="0"/>
                        <a:t>Public </a:t>
                      </a:r>
                      <a:r>
                        <a:rPr lang="nl-NL" sz="1200" dirty="0" err="1"/>
                        <a:t>Bool</a:t>
                      </a:r>
                      <a:r>
                        <a:rPr lang="nl-NL" sz="1200" dirty="0"/>
                        <a:t> </a:t>
                      </a:r>
                      <a:r>
                        <a:rPr lang="nl-NL" sz="1200" dirty="0" err="1"/>
                        <a:t>IsAlive</a:t>
                      </a:r>
                      <a:r>
                        <a:rPr lang="nl-NL" sz="1200" dirty="0"/>
                        <a:t>;</a:t>
                      </a:r>
                    </a:p>
                  </a:txBody>
                  <a:tcPr/>
                </a:tc>
                <a:extLst>
                  <a:ext uri="{0D108BD9-81ED-4DB2-BD59-A6C34878D82A}">
                    <a16:rowId xmlns:a16="http://schemas.microsoft.com/office/drawing/2014/main" val="2638866059"/>
                  </a:ext>
                </a:extLst>
              </a:tr>
              <a:tr h="0">
                <a:tc>
                  <a:txBody>
                    <a:bodyPr/>
                    <a:lstStyle/>
                    <a:p>
                      <a:r>
                        <a:rPr lang="nl-NL" sz="1200" dirty="0"/>
                        <a:t>Fields</a:t>
                      </a:r>
                    </a:p>
                  </a:txBody>
                  <a:tcPr/>
                </a:tc>
                <a:tc>
                  <a:txBody>
                    <a:bodyPr/>
                    <a:lstStyle/>
                    <a:p>
                      <a:r>
                        <a:rPr lang="nl-NL" sz="1200" dirty="0"/>
                        <a:t>Een beschrijvende naam</a:t>
                      </a:r>
                    </a:p>
                  </a:txBody>
                  <a:tcPr/>
                </a:tc>
                <a:tc>
                  <a:txBody>
                    <a:bodyPr/>
                    <a:lstStyle/>
                    <a:p>
                      <a:r>
                        <a:rPr lang="nl-NL" sz="1200" dirty="0"/>
                        <a:t>Private int score, public string </a:t>
                      </a:r>
                      <a:r>
                        <a:rPr lang="nl-NL" sz="1200" dirty="0" err="1"/>
                        <a:t>ErrorMessage</a:t>
                      </a:r>
                      <a:endParaRPr lang="nl-NL" sz="1200" dirty="0"/>
                    </a:p>
                  </a:txBody>
                  <a:tcPr/>
                </a:tc>
                <a:extLst>
                  <a:ext uri="{0D108BD9-81ED-4DB2-BD59-A6C34878D82A}">
                    <a16:rowId xmlns:a16="http://schemas.microsoft.com/office/drawing/2014/main" val="980758204"/>
                  </a:ext>
                </a:extLst>
              </a:tr>
              <a:tr h="0">
                <a:tc>
                  <a:txBody>
                    <a:bodyPr/>
                    <a:lstStyle/>
                    <a:p>
                      <a:r>
                        <a:rPr lang="nl-NL" sz="1200" dirty="0" err="1"/>
                        <a:t>Methods</a:t>
                      </a:r>
                      <a:r>
                        <a:rPr lang="nl-NL" sz="1200" dirty="0"/>
                        <a:t> die iets ophalen</a:t>
                      </a:r>
                    </a:p>
                  </a:txBody>
                  <a:tcPr/>
                </a:tc>
                <a:tc>
                  <a:txBody>
                    <a:bodyPr/>
                    <a:lstStyle/>
                    <a:p>
                      <a:r>
                        <a:rPr lang="nl-NL" sz="1200" dirty="0"/>
                        <a:t>“Get” gevolgd door de beschrijving van de </a:t>
                      </a:r>
                      <a:r>
                        <a:rPr lang="nl-NL" sz="1200" dirty="0" err="1"/>
                        <a:t>method</a:t>
                      </a:r>
                      <a:endParaRPr lang="nl-NL" sz="1200" dirty="0"/>
                    </a:p>
                  </a:txBody>
                  <a:tcPr/>
                </a:tc>
                <a:tc>
                  <a:txBody>
                    <a:bodyPr/>
                    <a:lstStyle/>
                    <a:p>
                      <a:r>
                        <a:rPr lang="nl-NL" sz="1200" dirty="0"/>
                        <a:t>Public int </a:t>
                      </a:r>
                      <a:r>
                        <a:rPr lang="nl-NL" sz="1200" dirty="0" err="1"/>
                        <a:t>GetCurrentScore</a:t>
                      </a:r>
                      <a:r>
                        <a:rPr lang="nl-NL" sz="1200" dirty="0"/>
                        <a:t>()</a:t>
                      </a:r>
                    </a:p>
                  </a:txBody>
                  <a:tcPr/>
                </a:tc>
                <a:extLst>
                  <a:ext uri="{0D108BD9-81ED-4DB2-BD59-A6C34878D82A}">
                    <a16:rowId xmlns:a16="http://schemas.microsoft.com/office/drawing/2014/main" val="4157021540"/>
                  </a:ext>
                </a:extLst>
              </a:tr>
              <a:tr h="0">
                <a:tc>
                  <a:txBody>
                    <a:bodyPr/>
                    <a:lstStyle/>
                    <a:p>
                      <a:r>
                        <a:rPr lang="nl-NL" sz="1200" dirty="0" err="1"/>
                        <a:t>Methods</a:t>
                      </a:r>
                      <a:r>
                        <a:rPr lang="nl-NL" sz="1200" dirty="0"/>
                        <a:t> die iets instellen</a:t>
                      </a:r>
                    </a:p>
                  </a:txBody>
                  <a:tcPr/>
                </a:tc>
                <a:tc>
                  <a:txBody>
                    <a:bodyPr/>
                    <a:lstStyle/>
                    <a:p>
                      <a:r>
                        <a:rPr lang="nl-NL" sz="1200" dirty="0"/>
                        <a:t>“Set” gevolgd door de beschrijving van de </a:t>
                      </a:r>
                      <a:r>
                        <a:rPr lang="nl-NL" sz="1200" dirty="0" err="1"/>
                        <a:t>method</a:t>
                      </a:r>
                      <a:endParaRPr lang="nl-NL" sz="1200" dirty="0"/>
                    </a:p>
                  </a:txBody>
                  <a:tcPr/>
                </a:tc>
                <a:tc>
                  <a:txBody>
                    <a:bodyPr/>
                    <a:lstStyle/>
                    <a:p>
                      <a:r>
                        <a:rPr lang="nl-NL" sz="1200" dirty="0"/>
                        <a:t>Public </a:t>
                      </a:r>
                      <a:r>
                        <a:rPr lang="nl-NL" sz="1200" dirty="0" err="1"/>
                        <a:t>void</a:t>
                      </a:r>
                      <a:r>
                        <a:rPr lang="nl-NL" sz="1200" dirty="0"/>
                        <a:t> </a:t>
                      </a:r>
                      <a:r>
                        <a:rPr lang="nl-NL" sz="1200" dirty="0" err="1"/>
                        <a:t>SetNewScore</a:t>
                      </a:r>
                      <a:r>
                        <a:rPr lang="nl-NL" sz="1200" dirty="0"/>
                        <a:t>(int </a:t>
                      </a:r>
                      <a:r>
                        <a:rPr lang="nl-NL" sz="1200" dirty="0" err="1"/>
                        <a:t>newScore</a:t>
                      </a:r>
                      <a:r>
                        <a:rPr lang="nl-NL" sz="1200" dirty="0"/>
                        <a:t>)</a:t>
                      </a:r>
                    </a:p>
                  </a:txBody>
                  <a:tcPr/>
                </a:tc>
                <a:extLst>
                  <a:ext uri="{0D108BD9-81ED-4DB2-BD59-A6C34878D82A}">
                    <a16:rowId xmlns:a16="http://schemas.microsoft.com/office/drawing/2014/main" val="1881029526"/>
                  </a:ext>
                </a:extLst>
              </a:tr>
              <a:tr h="0">
                <a:tc>
                  <a:txBody>
                    <a:bodyPr/>
                    <a:lstStyle/>
                    <a:p>
                      <a:r>
                        <a:rPr lang="nl-NL" sz="1200" dirty="0" err="1"/>
                        <a:t>Methods</a:t>
                      </a:r>
                      <a:r>
                        <a:rPr lang="nl-NL" sz="1200" dirty="0"/>
                        <a:t> die iets doen</a:t>
                      </a:r>
                    </a:p>
                  </a:txBody>
                  <a:tcPr/>
                </a:tc>
                <a:tc>
                  <a:txBody>
                    <a:bodyPr/>
                    <a:lstStyle/>
                    <a:p>
                      <a:r>
                        <a:rPr lang="nl-NL" sz="1200" dirty="0"/>
                        <a:t>De beschrijving van de </a:t>
                      </a:r>
                      <a:r>
                        <a:rPr lang="nl-NL" sz="1200" dirty="0" err="1"/>
                        <a:t>method</a:t>
                      </a:r>
                      <a:endParaRPr lang="nl-NL" sz="1200" dirty="0"/>
                    </a:p>
                  </a:txBody>
                  <a:tcPr/>
                </a:tc>
                <a:tc>
                  <a:txBody>
                    <a:bodyPr/>
                    <a:lstStyle/>
                    <a:p>
                      <a:r>
                        <a:rPr lang="nl-NL" sz="1200" dirty="0"/>
                        <a:t>Public </a:t>
                      </a:r>
                      <a:r>
                        <a:rPr lang="nl-NL" sz="1200" dirty="0" err="1"/>
                        <a:t>void</a:t>
                      </a:r>
                      <a:r>
                        <a:rPr lang="nl-NL" sz="1200" dirty="0"/>
                        <a:t> Update(</a:t>
                      </a:r>
                      <a:r>
                        <a:rPr lang="nl-NL" sz="1200" dirty="0" err="1"/>
                        <a:t>float</a:t>
                      </a:r>
                      <a:r>
                        <a:rPr lang="nl-NL" sz="1200" dirty="0"/>
                        <a:t> </a:t>
                      </a:r>
                      <a:r>
                        <a:rPr lang="nl-NL" sz="1200" dirty="0" err="1"/>
                        <a:t>deltaTime</a:t>
                      </a:r>
                      <a:r>
                        <a:rPr lang="nl-NL" sz="1200" dirty="0"/>
                        <a:t>)</a:t>
                      </a:r>
                    </a:p>
                  </a:txBody>
                  <a:tcPr/>
                </a:tc>
                <a:extLst>
                  <a:ext uri="{0D108BD9-81ED-4DB2-BD59-A6C34878D82A}">
                    <a16:rowId xmlns:a16="http://schemas.microsoft.com/office/drawing/2014/main" val="1500700311"/>
                  </a:ext>
                </a:extLst>
              </a:tr>
              <a:tr h="130022">
                <a:tc>
                  <a:txBody>
                    <a:bodyPr/>
                    <a:lstStyle/>
                    <a:p>
                      <a:r>
                        <a:rPr lang="nl-NL" sz="1200" dirty="0"/>
                        <a:t>Interfaces</a:t>
                      </a:r>
                    </a:p>
                  </a:txBody>
                  <a:tcPr/>
                </a:tc>
                <a:tc>
                  <a:txBody>
                    <a:bodyPr/>
                    <a:lstStyle/>
                    <a:p>
                      <a:r>
                        <a:rPr lang="nl-NL" sz="1200" dirty="0"/>
                        <a:t>“I” gevolgd door de beschrijving van de interface</a:t>
                      </a:r>
                    </a:p>
                  </a:txBody>
                  <a:tcPr/>
                </a:tc>
                <a:tc>
                  <a:txBody>
                    <a:bodyPr/>
                    <a:lstStyle/>
                    <a:p>
                      <a:r>
                        <a:rPr lang="nl-NL" sz="1200" dirty="0"/>
                        <a:t>Interface </a:t>
                      </a:r>
                      <a:r>
                        <a:rPr lang="nl-NL" sz="1200" dirty="0" err="1"/>
                        <a:t>Iupdatable</a:t>
                      </a:r>
                      <a:endParaRPr lang="nl-NL" sz="1200" dirty="0"/>
                    </a:p>
                  </a:txBody>
                  <a:tcPr/>
                </a:tc>
                <a:extLst>
                  <a:ext uri="{0D108BD9-81ED-4DB2-BD59-A6C34878D82A}">
                    <a16:rowId xmlns:a16="http://schemas.microsoft.com/office/drawing/2014/main" val="1033587600"/>
                  </a:ext>
                </a:extLst>
              </a:tr>
            </a:tbl>
          </a:graphicData>
        </a:graphic>
      </p:graphicFrame>
      <p:sp>
        <p:nvSpPr>
          <p:cNvPr id="3" name="Titel 6">
            <a:extLst>
              <a:ext uri="{FF2B5EF4-FFF2-40B4-BE49-F238E27FC236}">
                <a16:creationId xmlns:a16="http://schemas.microsoft.com/office/drawing/2014/main" id="{349A5949-A870-EE91-1B82-9645801519E0}"/>
              </a:ext>
            </a:extLst>
          </p:cNvPr>
          <p:cNvSpPr txBox="1">
            <a:spLocks/>
          </p:cNvSpPr>
          <p:nvPr/>
        </p:nvSpPr>
        <p:spPr>
          <a:xfrm>
            <a:off x="336000" y="257856"/>
            <a:ext cx="11520000" cy="720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5000" b="1" kern="1200">
                <a:solidFill>
                  <a:schemeClr val="tx2"/>
                </a:solidFill>
                <a:latin typeface="Arial" panose="020B0604020202020204" pitchFamily="34" charset="0"/>
                <a:ea typeface="+mj-ea"/>
                <a:cs typeface="Arial" panose="020B0604020202020204" pitchFamily="34" charset="0"/>
              </a:defRPr>
            </a:lvl1pPr>
          </a:lstStyle>
          <a:p>
            <a:r>
              <a:rPr lang="nl-NL" dirty="0"/>
              <a:t>01. Conventies</a:t>
            </a:r>
          </a:p>
        </p:txBody>
      </p:sp>
    </p:spTree>
    <p:extLst>
      <p:ext uri="{BB962C8B-B14F-4D97-AF65-F5344CB8AC3E}">
        <p14:creationId xmlns:p14="http://schemas.microsoft.com/office/powerpoint/2010/main" val="1399347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44170865-6089-45CD-BF5E-9BE20858350A}"/>
              </a:ext>
            </a:extLst>
          </p:cNvPr>
          <p:cNvSpPr>
            <a:spLocks noGrp="1"/>
          </p:cNvSpPr>
          <p:nvPr>
            <p:ph type="title"/>
          </p:nvPr>
        </p:nvSpPr>
        <p:spPr/>
        <p:txBody>
          <a:bodyPr/>
          <a:lstStyle/>
          <a:p>
            <a:r>
              <a:rPr lang="nl-NL" dirty="0"/>
              <a:t>02. Variabelen</a:t>
            </a:r>
          </a:p>
        </p:txBody>
      </p:sp>
      <p:sp>
        <p:nvSpPr>
          <p:cNvPr id="6" name="Tijdelijke aanduiding voor datum 5">
            <a:extLst>
              <a:ext uri="{FF2B5EF4-FFF2-40B4-BE49-F238E27FC236}">
                <a16:creationId xmlns:a16="http://schemas.microsoft.com/office/drawing/2014/main" id="{7D429F9F-ABE8-4D77-928C-17ABB74009C8}"/>
              </a:ext>
            </a:extLst>
          </p:cNvPr>
          <p:cNvSpPr>
            <a:spLocks noGrp="1"/>
          </p:cNvSpPr>
          <p:nvPr>
            <p:ph type="dt" sz="half" idx="10"/>
          </p:nvPr>
        </p:nvSpPr>
        <p:spPr/>
        <p:txBody>
          <a:bodyPr/>
          <a:lstStyle/>
          <a:p>
            <a:r>
              <a:rPr lang="nl-NL"/>
              <a:t>1 november 2019</a:t>
            </a:r>
          </a:p>
        </p:txBody>
      </p:sp>
      <p:sp>
        <p:nvSpPr>
          <p:cNvPr id="3" name="Tijdelijke aanduiding voor dianummer 2">
            <a:extLst>
              <a:ext uri="{FF2B5EF4-FFF2-40B4-BE49-F238E27FC236}">
                <a16:creationId xmlns:a16="http://schemas.microsoft.com/office/drawing/2014/main" id="{1569550B-2693-442D-946F-04DFC5912206}"/>
              </a:ext>
            </a:extLst>
          </p:cNvPr>
          <p:cNvSpPr>
            <a:spLocks noGrp="1"/>
          </p:cNvSpPr>
          <p:nvPr>
            <p:ph type="sldNum" sz="quarter" idx="12"/>
          </p:nvPr>
        </p:nvSpPr>
        <p:spPr/>
        <p:txBody>
          <a:bodyPr/>
          <a:lstStyle/>
          <a:p>
            <a:fld id="{F42B3F14-D836-496B-80A2-23BE75BD68CB}" type="slidenum">
              <a:rPr lang="nl-NL" smtClean="0"/>
              <a:pPr/>
              <a:t>4</a:t>
            </a:fld>
            <a:endParaRPr lang="nl-NL"/>
          </a:p>
        </p:txBody>
      </p:sp>
      <p:graphicFrame>
        <p:nvGraphicFramePr>
          <p:cNvPr id="11" name="Tabel 4">
            <a:extLst>
              <a:ext uri="{FF2B5EF4-FFF2-40B4-BE49-F238E27FC236}">
                <a16:creationId xmlns:a16="http://schemas.microsoft.com/office/drawing/2014/main" id="{B1854414-77D4-4ECE-9B77-CBE198D70502}"/>
              </a:ext>
            </a:extLst>
          </p:cNvPr>
          <p:cNvGraphicFramePr>
            <a:graphicFrameLocks noGrp="1"/>
          </p:cNvGraphicFramePr>
          <p:nvPr>
            <p:extLst>
              <p:ext uri="{D42A27DB-BD31-4B8C-83A1-F6EECF244321}">
                <p14:modId xmlns:p14="http://schemas.microsoft.com/office/powerpoint/2010/main" val="419905908"/>
              </p:ext>
            </p:extLst>
          </p:nvPr>
        </p:nvGraphicFramePr>
        <p:xfrm>
          <a:off x="323999" y="2568626"/>
          <a:ext cx="11520000" cy="2844000"/>
        </p:xfrm>
        <a:graphic>
          <a:graphicData uri="http://schemas.openxmlformats.org/drawingml/2006/table">
            <a:tbl>
              <a:tblPr firstRow="1" bandRow="1">
                <a:tableStyleId>{5C22544A-7EE6-4342-B048-85BDC9FD1C3A}</a:tableStyleId>
              </a:tblPr>
              <a:tblGrid>
                <a:gridCol w="1198610">
                  <a:extLst>
                    <a:ext uri="{9D8B030D-6E8A-4147-A177-3AD203B41FA5}">
                      <a16:colId xmlns:a16="http://schemas.microsoft.com/office/drawing/2014/main" val="2596566298"/>
                    </a:ext>
                  </a:extLst>
                </a:gridCol>
                <a:gridCol w="2641381">
                  <a:extLst>
                    <a:ext uri="{9D8B030D-6E8A-4147-A177-3AD203B41FA5}">
                      <a16:colId xmlns:a16="http://schemas.microsoft.com/office/drawing/2014/main" val="1550809892"/>
                    </a:ext>
                  </a:extLst>
                </a:gridCol>
                <a:gridCol w="3426540">
                  <a:extLst>
                    <a:ext uri="{9D8B030D-6E8A-4147-A177-3AD203B41FA5}">
                      <a16:colId xmlns:a16="http://schemas.microsoft.com/office/drawing/2014/main" val="2330830023"/>
                    </a:ext>
                  </a:extLst>
                </a:gridCol>
                <a:gridCol w="4253469">
                  <a:extLst>
                    <a:ext uri="{9D8B030D-6E8A-4147-A177-3AD203B41FA5}">
                      <a16:colId xmlns:a16="http://schemas.microsoft.com/office/drawing/2014/main" val="1611499814"/>
                    </a:ext>
                  </a:extLst>
                </a:gridCol>
              </a:tblGrid>
              <a:tr h="474000">
                <a:tc>
                  <a:txBody>
                    <a:bodyPr/>
                    <a:lstStyle/>
                    <a:p>
                      <a:r>
                        <a:rPr lang="nl-NL" sz="1800" dirty="0">
                          <a:solidFill>
                            <a:schemeClr val="tx1"/>
                          </a:solidFill>
                        </a:rPr>
                        <a:t>Datatype</a:t>
                      </a:r>
                    </a:p>
                  </a:txBody>
                  <a:tcPr marL="74295" marR="74295" marT="37148" marB="37148"/>
                </a:tc>
                <a:tc>
                  <a:txBody>
                    <a:bodyPr/>
                    <a:lstStyle/>
                    <a:p>
                      <a:r>
                        <a:rPr lang="nl-NL" sz="1800" dirty="0">
                          <a:solidFill>
                            <a:schemeClr val="tx1"/>
                          </a:solidFill>
                        </a:rPr>
                        <a:t>Declareren</a:t>
                      </a:r>
                    </a:p>
                  </a:txBody>
                  <a:tcPr marL="74295" marR="74295" marT="37148" marB="37148"/>
                </a:tc>
                <a:tc>
                  <a:txBody>
                    <a:bodyPr/>
                    <a:lstStyle/>
                    <a:p>
                      <a:r>
                        <a:rPr lang="nl-NL" sz="1800" dirty="0">
                          <a:solidFill>
                            <a:schemeClr val="tx1"/>
                          </a:solidFill>
                        </a:rPr>
                        <a:t>Toewijzen</a:t>
                      </a:r>
                    </a:p>
                  </a:txBody>
                  <a:tcPr marL="74295" marR="74295" marT="37148" marB="37148"/>
                </a:tc>
                <a:tc>
                  <a:txBody>
                    <a:bodyPr/>
                    <a:lstStyle/>
                    <a:p>
                      <a:r>
                        <a:rPr lang="nl-NL" sz="1800" dirty="0">
                          <a:solidFill>
                            <a:schemeClr val="tx1"/>
                          </a:solidFill>
                        </a:rPr>
                        <a:t>Definiëren</a:t>
                      </a:r>
                      <a:endParaRPr lang="nl-NL" sz="1800" b="0" dirty="0">
                        <a:solidFill>
                          <a:schemeClr val="tx1"/>
                        </a:solidFill>
                      </a:endParaRPr>
                    </a:p>
                  </a:txBody>
                  <a:tcPr marL="74295" marR="74295" marT="37148" marB="37148"/>
                </a:tc>
                <a:extLst>
                  <a:ext uri="{0D108BD9-81ED-4DB2-BD59-A6C34878D82A}">
                    <a16:rowId xmlns:a16="http://schemas.microsoft.com/office/drawing/2014/main" val="2451422085"/>
                  </a:ext>
                </a:extLst>
              </a:tr>
              <a:tr h="474000">
                <a:tc>
                  <a:txBody>
                    <a:bodyPr/>
                    <a:lstStyle/>
                    <a:p>
                      <a:r>
                        <a:rPr lang="nl-NL" sz="1800" dirty="0">
                          <a:latin typeface="Consolas" panose="020B0609020204030204" pitchFamily="49" charset="0"/>
                        </a:rPr>
                        <a:t>string</a:t>
                      </a:r>
                    </a:p>
                  </a:txBody>
                  <a:tcPr marL="74295" marR="74295" marT="37148" marB="37148"/>
                </a:tc>
                <a:tc>
                  <a:txBody>
                    <a:bodyPr/>
                    <a:lstStyle/>
                    <a:p>
                      <a:r>
                        <a:rPr lang="nl-NL" sz="1800" dirty="0">
                          <a:latin typeface="Consolas" panose="020B0609020204030204" pitchFamily="49" charset="0"/>
                        </a:rPr>
                        <a:t>string bericht;</a:t>
                      </a:r>
                    </a:p>
                  </a:txBody>
                  <a:tcPr marL="74295" marR="74295" marT="37148" marB="37148"/>
                </a:tc>
                <a:tc>
                  <a:txBody>
                    <a:bodyPr/>
                    <a:lstStyle/>
                    <a:p>
                      <a:r>
                        <a:rPr lang="nl-NL" sz="1800" dirty="0">
                          <a:latin typeface="Consolas" panose="020B0609020204030204" pitchFamily="49" charset="0"/>
                        </a:rPr>
                        <a:t>bericht = “</a:t>
                      </a:r>
                      <a:r>
                        <a:rPr lang="nl-NL" sz="1800" dirty="0" err="1">
                          <a:latin typeface="Consolas" panose="020B0609020204030204" pitchFamily="49" charset="0"/>
                        </a:rPr>
                        <a:t>Hello</a:t>
                      </a:r>
                      <a:r>
                        <a:rPr lang="nl-NL" sz="1800" dirty="0">
                          <a:latin typeface="Consolas" panose="020B0609020204030204" pitchFamily="49" charset="0"/>
                        </a:rPr>
                        <a:t> World!”</a:t>
                      </a:r>
                    </a:p>
                  </a:txBody>
                  <a:tcPr marL="74295" marR="74295" marT="37148" marB="3714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a:latin typeface="Consolas" panose="020B0609020204030204" pitchFamily="49" charset="0"/>
                        </a:rPr>
                        <a:t>string bericht = “</a:t>
                      </a:r>
                      <a:r>
                        <a:rPr lang="nl-NL" sz="1800" dirty="0" err="1">
                          <a:latin typeface="Consolas" panose="020B0609020204030204" pitchFamily="49" charset="0"/>
                        </a:rPr>
                        <a:t>Hello</a:t>
                      </a:r>
                      <a:r>
                        <a:rPr lang="nl-NL" sz="1800" dirty="0">
                          <a:latin typeface="Consolas" panose="020B0609020204030204" pitchFamily="49" charset="0"/>
                        </a:rPr>
                        <a:t> World!”;</a:t>
                      </a:r>
                    </a:p>
                  </a:txBody>
                  <a:tcPr marL="74295" marR="74295" marT="37148" marB="37148"/>
                </a:tc>
                <a:extLst>
                  <a:ext uri="{0D108BD9-81ED-4DB2-BD59-A6C34878D82A}">
                    <a16:rowId xmlns:a16="http://schemas.microsoft.com/office/drawing/2014/main" val="2250114560"/>
                  </a:ext>
                </a:extLst>
              </a:tr>
              <a:tr h="474000">
                <a:tc>
                  <a:txBody>
                    <a:bodyPr/>
                    <a:lstStyle/>
                    <a:p>
                      <a:r>
                        <a:rPr lang="nl-NL" sz="1800" dirty="0">
                          <a:latin typeface="Consolas" panose="020B0609020204030204" pitchFamily="49" charset="0"/>
                        </a:rPr>
                        <a:t>int</a:t>
                      </a:r>
                    </a:p>
                  </a:txBody>
                  <a:tcPr marL="74295" marR="74295" marT="37148" marB="37148"/>
                </a:tc>
                <a:tc>
                  <a:txBody>
                    <a:bodyPr/>
                    <a:lstStyle/>
                    <a:p>
                      <a:r>
                        <a:rPr lang="nl-NL" sz="1800" dirty="0">
                          <a:latin typeface="Consolas" panose="020B0609020204030204" pitchFamily="49" charset="0"/>
                        </a:rPr>
                        <a:t>int </a:t>
                      </a:r>
                      <a:r>
                        <a:rPr lang="nl-NL" sz="1800" dirty="0" err="1">
                          <a:latin typeface="Consolas" panose="020B0609020204030204" pitchFamily="49" charset="0"/>
                        </a:rPr>
                        <a:t>heelGetal</a:t>
                      </a:r>
                      <a:r>
                        <a:rPr lang="nl-NL" sz="1800" dirty="0">
                          <a:latin typeface="Consolas" panose="020B0609020204030204" pitchFamily="49" charset="0"/>
                        </a:rPr>
                        <a:t>;</a:t>
                      </a:r>
                    </a:p>
                  </a:txBody>
                  <a:tcPr marL="74295" marR="74295" marT="37148" marB="37148"/>
                </a:tc>
                <a:tc>
                  <a:txBody>
                    <a:bodyPr/>
                    <a:lstStyle/>
                    <a:p>
                      <a:r>
                        <a:rPr lang="nl-NL" sz="1800" dirty="0" err="1">
                          <a:latin typeface="Consolas" panose="020B0609020204030204" pitchFamily="49" charset="0"/>
                        </a:rPr>
                        <a:t>heelGetal</a:t>
                      </a:r>
                      <a:r>
                        <a:rPr lang="nl-NL" sz="1800" dirty="0">
                          <a:latin typeface="Consolas" panose="020B0609020204030204" pitchFamily="49" charset="0"/>
                        </a:rPr>
                        <a:t> = 42;</a:t>
                      </a:r>
                    </a:p>
                  </a:txBody>
                  <a:tcPr marL="74295" marR="74295" marT="37148" marB="3714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a:latin typeface="Consolas" panose="020B0609020204030204" pitchFamily="49" charset="0"/>
                        </a:rPr>
                        <a:t>int </a:t>
                      </a:r>
                      <a:r>
                        <a:rPr lang="nl-NL" sz="1800" dirty="0" err="1">
                          <a:latin typeface="Consolas" panose="020B0609020204030204" pitchFamily="49" charset="0"/>
                        </a:rPr>
                        <a:t>heelGetal</a:t>
                      </a:r>
                      <a:r>
                        <a:rPr lang="nl-NL" sz="1800" dirty="0">
                          <a:latin typeface="Consolas" panose="020B0609020204030204" pitchFamily="49" charset="0"/>
                        </a:rPr>
                        <a:t> = 42;</a:t>
                      </a:r>
                    </a:p>
                  </a:txBody>
                  <a:tcPr marL="74295" marR="74295" marT="37148" marB="37148"/>
                </a:tc>
                <a:extLst>
                  <a:ext uri="{0D108BD9-81ED-4DB2-BD59-A6C34878D82A}">
                    <a16:rowId xmlns:a16="http://schemas.microsoft.com/office/drawing/2014/main" val="4075287466"/>
                  </a:ext>
                </a:extLst>
              </a:tr>
              <a:tr h="474000">
                <a:tc>
                  <a:txBody>
                    <a:bodyPr/>
                    <a:lstStyle/>
                    <a:p>
                      <a:r>
                        <a:rPr lang="nl-NL" sz="1800" dirty="0">
                          <a:latin typeface="Consolas" panose="020B0609020204030204" pitchFamily="49" charset="0"/>
                        </a:rPr>
                        <a:t>double</a:t>
                      </a:r>
                    </a:p>
                  </a:txBody>
                  <a:tcPr marL="74295" marR="74295" marT="37148" marB="3714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a:latin typeface="Consolas" panose="020B0609020204030204" pitchFamily="49" charset="0"/>
                        </a:rPr>
                        <a:t>double </a:t>
                      </a:r>
                      <a:r>
                        <a:rPr lang="nl-NL" sz="1800" dirty="0" err="1">
                          <a:latin typeface="Consolas" panose="020B0609020204030204" pitchFamily="49" charset="0"/>
                        </a:rPr>
                        <a:t>kommaGetal</a:t>
                      </a:r>
                      <a:r>
                        <a:rPr lang="nl-NL" sz="1800" dirty="0">
                          <a:latin typeface="Consolas" panose="020B0609020204030204" pitchFamily="49" charset="0"/>
                        </a:rPr>
                        <a:t>;</a:t>
                      </a:r>
                    </a:p>
                  </a:txBody>
                  <a:tcPr marL="74295" marR="74295" marT="37148" marB="3714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err="1">
                          <a:latin typeface="Consolas" panose="020B0609020204030204" pitchFamily="49" charset="0"/>
                        </a:rPr>
                        <a:t>kommaGetal</a:t>
                      </a:r>
                      <a:r>
                        <a:rPr lang="nl-NL" sz="1800" dirty="0">
                          <a:latin typeface="Consolas" panose="020B0609020204030204" pitchFamily="49" charset="0"/>
                        </a:rPr>
                        <a:t> = 3.1415;</a:t>
                      </a:r>
                    </a:p>
                  </a:txBody>
                  <a:tcPr marL="74295" marR="74295" marT="37148" marB="3714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a:latin typeface="Consolas" panose="020B0609020204030204" pitchFamily="49" charset="0"/>
                        </a:rPr>
                        <a:t>double </a:t>
                      </a:r>
                      <a:r>
                        <a:rPr lang="nl-NL" sz="1800" dirty="0" err="1">
                          <a:latin typeface="Consolas" panose="020B0609020204030204" pitchFamily="49" charset="0"/>
                        </a:rPr>
                        <a:t>kommaGetal</a:t>
                      </a:r>
                      <a:r>
                        <a:rPr lang="nl-NL" sz="1800" dirty="0">
                          <a:latin typeface="Consolas" panose="020B0609020204030204" pitchFamily="49" charset="0"/>
                        </a:rPr>
                        <a:t> = 3.1415;</a:t>
                      </a:r>
                    </a:p>
                  </a:txBody>
                  <a:tcPr marL="74295" marR="74295" marT="37148" marB="37148"/>
                </a:tc>
                <a:extLst>
                  <a:ext uri="{0D108BD9-81ED-4DB2-BD59-A6C34878D82A}">
                    <a16:rowId xmlns:a16="http://schemas.microsoft.com/office/drawing/2014/main" val="2204833037"/>
                  </a:ext>
                </a:extLst>
              </a:tr>
              <a:tr h="474000">
                <a:tc>
                  <a:txBody>
                    <a:bodyPr/>
                    <a:lstStyle/>
                    <a:p>
                      <a:r>
                        <a:rPr lang="nl-NL" sz="1800" dirty="0" err="1">
                          <a:latin typeface="Consolas" panose="020B0609020204030204" pitchFamily="49" charset="0"/>
                        </a:rPr>
                        <a:t>bool</a:t>
                      </a:r>
                      <a:endParaRPr lang="nl-NL" sz="1800" dirty="0">
                        <a:latin typeface="Consolas" panose="020B0609020204030204" pitchFamily="49" charset="0"/>
                      </a:endParaRPr>
                    </a:p>
                  </a:txBody>
                  <a:tcPr marL="74295" marR="74295" marT="37148" marB="37148"/>
                </a:tc>
                <a:tc>
                  <a:txBody>
                    <a:bodyPr/>
                    <a:lstStyle/>
                    <a:p>
                      <a:r>
                        <a:rPr lang="nl-NL" sz="1800" dirty="0" err="1">
                          <a:latin typeface="Consolas" panose="020B0609020204030204" pitchFamily="49" charset="0"/>
                        </a:rPr>
                        <a:t>bool</a:t>
                      </a:r>
                      <a:r>
                        <a:rPr lang="nl-NL" sz="1800" dirty="0">
                          <a:latin typeface="Consolas" panose="020B0609020204030204" pitchFamily="49" charset="0"/>
                        </a:rPr>
                        <a:t> </a:t>
                      </a:r>
                      <a:r>
                        <a:rPr lang="nl-NL" sz="1800" dirty="0" err="1">
                          <a:latin typeface="Consolas" panose="020B0609020204030204" pitchFamily="49" charset="0"/>
                        </a:rPr>
                        <a:t>trueOrFalse</a:t>
                      </a:r>
                      <a:r>
                        <a:rPr lang="nl-NL" sz="1800" dirty="0">
                          <a:latin typeface="Consolas" panose="020B0609020204030204" pitchFamily="49" charset="0"/>
                        </a:rPr>
                        <a:t>;</a:t>
                      </a:r>
                    </a:p>
                  </a:txBody>
                  <a:tcPr marL="74295" marR="74295" marT="37148" marB="37148"/>
                </a:tc>
                <a:tc>
                  <a:txBody>
                    <a:bodyPr/>
                    <a:lstStyle/>
                    <a:p>
                      <a:r>
                        <a:rPr lang="nl-NL" sz="1800" dirty="0" err="1">
                          <a:latin typeface="Consolas" panose="020B0609020204030204" pitchFamily="49" charset="0"/>
                        </a:rPr>
                        <a:t>trueOrFalse</a:t>
                      </a:r>
                      <a:r>
                        <a:rPr lang="nl-NL" sz="1800" dirty="0">
                          <a:latin typeface="Consolas" panose="020B0609020204030204" pitchFamily="49" charset="0"/>
                        </a:rPr>
                        <a:t> = </a:t>
                      </a:r>
                      <a:r>
                        <a:rPr lang="nl-NL" sz="1800" dirty="0" err="1">
                          <a:latin typeface="Consolas" panose="020B0609020204030204" pitchFamily="49" charset="0"/>
                        </a:rPr>
                        <a:t>False</a:t>
                      </a:r>
                      <a:r>
                        <a:rPr lang="nl-NL" sz="1800" dirty="0">
                          <a:latin typeface="Consolas" panose="020B0609020204030204" pitchFamily="49" charset="0"/>
                        </a:rPr>
                        <a:t>;</a:t>
                      </a:r>
                    </a:p>
                  </a:txBody>
                  <a:tcPr marL="74295" marR="74295" marT="37148" marB="3714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err="1">
                          <a:latin typeface="Consolas" panose="020B0609020204030204" pitchFamily="49" charset="0"/>
                        </a:rPr>
                        <a:t>bool</a:t>
                      </a:r>
                      <a:r>
                        <a:rPr lang="nl-NL" sz="1800" dirty="0">
                          <a:latin typeface="Consolas" panose="020B0609020204030204" pitchFamily="49" charset="0"/>
                        </a:rPr>
                        <a:t> </a:t>
                      </a:r>
                      <a:r>
                        <a:rPr lang="nl-NL" sz="1800" dirty="0" err="1">
                          <a:latin typeface="Consolas" panose="020B0609020204030204" pitchFamily="49" charset="0"/>
                        </a:rPr>
                        <a:t>trueOrFalse</a:t>
                      </a:r>
                      <a:r>
                        <a:rPr lang="nl-NL" sz="1800" dirty="0">
                          <a:latin typeface="Consolas" panose="020B0609020204030204" pitchFamily="49" charset="0"/>
                        </a:rPr>
                        <a:t> = </a:t>
                      </a:r>
                      <a:r>
                        <a:rPr lang="nl-NL" sz="1800" dirty="0" err="1">
                          <a:latin typeface="Consolas" panose="020B0609020204030204" pitchFamily="49" charset="0"/>
                        </a:rPr>
                        <a:t>False</a:t>
                      </a:r>
                      <a:r>
                        <a:rPr lang="nl-NL" sz="1800" dirty="0">
                          <a:latin typeface="Consolas" panose="020B0609020204030204" pitchFamily="49" charset="0"/>
                        </a:rPr>
                        <a:t>;</a:t>
                      </a:r>
                    </a:p>
                  </a:txBody>
                  <a:tcPr marL="74295" marR="74295" marT="37148" marB="37148"/>
                </a:tc>
                <a:extLst>
                  <a:ext uri="{0D108BD9-81ED-4DB2-BD59-A6C34878D82A}">
                    <a16:rowId xmlns:a16="http://schemas.microsoft.com/office/drawing/2014/main" val="228110596"/>
                  </a:ext>
                </a:extLst>
              </a:tr>
              <a:tr h="474000">
                <a:tc>
                  <a:txBody>
                    <a:bodyPr/>
                    <a:lstStyle/>
                    <a:p>
                      <a:r>
                        <a:rPr lang="nl-NL" sz="1800" dirty="0" err="1">
                          <a:latin typeface="Consolas" panose="020B0609020204030204" pitchFamily="49" charset="0"/>
                        </a:rPr>
                        <a:t>DateTime</a:t>
                      </a:r>
                      <a:endParaRPr lang="nl-NL" sz="1800" dirty="0">
                        <a:latin typeface="Consolas" panose="020B0609020204030204" pitchFamily="49" charset="0"/>
                      </a:endParaRPr>
                    </a:p>
                  </a:txBody>
                  <a:tcPr marL="74295" marR="74295" marT="37148" marB="37148"/>
                </a:tc>
                <a:tc>
                  <a:txBody>
                    <a:bodyPr/>
                    <a:lstStyle/>
                    <a:p>
                      <a:r>
                        <a:rPr lang="nl-NL" sz="1800" dirty="0" err="1">
                          <a:latin typeface="Consolas" panose="020B0609020204030204" pitchFamily="49" charset="0"/>
                        </a:rPr>
                        <a:t>DateTime</a:t>
                      </a:r>
                      <a:r>
                        <a:rPr lang="nl-NL" sz="1800" dirty="0">
                          <a:latin typeface="Consolas" panose="020B0609020204030204" pitchFamily="49" charset="0"/>
                        </a:rPr>
                        <a:t> </a:t>
                      </a:r>
                      <a:r>
                        <a:rPr lang="nl-NL" sz="1800" dirty="0" err="1">
                          <a:latin typeface="Consolas" panose="020B0609020204030204" pitchFamily="49" charset="0"/>
                        </a:rPr>
                        <a:t>today</a:t>
                      </a:r>
                      <a:r>
                        <a:rPr lang="nl-NL" sz="1800" dirty="0">
                          <a:latin typeface="Consolas" panose="020B0609020204030204" pitchFamily="49" charset="0"/>
                        </a:rPr>
                        <a:t>;</a:t>
                      </a:r>
                    </a:p>
                  </a:txBody>
                  <a:tcPr marL="74295" marR="74295" marT="37148" marB="37148"/>
                </a:tc>
                <a:tc>
                  <a:txBody>
                    <a:bodyPr/>
                    <a:lstStyle/>
                    <a:p>
                      <a:r>
                        <a:rPr lang="nl-NL" sz="1800" dirty="0" err="1">
                          <a:latin typeface="Consolas" panose="020B0609020204030204" pitchFamily="49" charset="0"/>
                        </a:rPr>
                        <a:t>today</a:t>
                      </a:r>
                      <a:r>
                        <a:rPr lang="nl-NL" sz="1800" dirty="0">
                          <a:latin typeface="Consolas" panose="020B0609020204030204" pitchFamily="49" charset="0"/>
                        </a:rPr>
                        <a:t> = </a:t>
                      </a:r>
                      <a:r>
                        <a:rPr lang="nl-NL" sz="1800" dirty="0" err="1">
                          <a:latin typeface="Consolas" panose="020B0609020204030204" pitchFamily="49" charset="0"/>
                        </a:rPr>
                        <a:t>DateTime.Today</a:t>
                      </a:r>
                      <a:r>
                        <a:rPr lang="nl-NL" sz="1800" dirty="0">
                          <a:latin typeface="Consolas" panose="020B0609020204030204" pitchFamily="49" charset="0"/>
                        </a:rPr>
                        <a:t>;</a:t>
                      </a:r>
                    </a:p>
                  </a:txBody>
                  <a:tcPr marL="74295" marR="74295" marT="37148" marB="3714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err="1">
                          <a:latin typeface="Consolas" panose="020B0609020204030204" pitchFamily="49" charset="0"/>
                        </a:rPr>
                        <a:t>DateTime</a:t>
                      </a:r>
                      <a:r>
                        <a:rPr lang="nl-NL" sz="1800" dirty="0">
                          <a:latin typeface="Consolas" panose="020B0609020204030204" pitchFamily="49" charset="0"/>
                        </a:rPr>
                        <a:t> </a:t>
                      </a:r>
                      <a:r>
                        <a:rPr lang="nl-NL" sz="1800" dirty="0" err="1">
                          <a:latin typeface="Consolas" panose="020B0609020204030204" pitchFamily="49" charset="0"/>
                        </a:rPr>
                        <a:t>today</a:t>
                      </a:r>
                      <a:r>
                        <a:rPr lang="nl-NL" sz="1800" dirty="0">
                          <a:latin typeface="Consolas" panose="020B0609020204030204" pitchFamily="49" charset="0"/>
                        </a:rPr>
                        <a:t> = </a:t>
                      </a:r>
                      <a:r>
                        <a:rPr lang="nl-NL" sz="1800" dirty="0" err="1">
                          <a:latin typeface="Consolas" panose="020B0609020204030204" pitchFamily="49" charset="0"/>
                        </a:rPr>
                        <a:t>DateTime.Today</a:t>
                      </a:r>
                      <a:r>
                        <a:rPr lang="nl-NL" sz="1800" dirty="0">
                          <a:latin typeface="Consolas" panose="020B0609020204030204" pitchFamily="49" charset="0"/>
                        </a:rPr>
                        <a:t>;</a:t>
                      </a:r>
                    </a:p>
                  </a:txBody>
                  <a:tcPr marL="74295" marR="74295" marT="37148" marB="37148"/>
                </a:tc>
                <a:extLst>
                  <a:ext uri="{0D108BD9-81ED-4DB2-BD59-A6C34878D82A}">
                    <a16:rowId xmlns:a16="http://schemas.microsoft.com/office/drawing/2014/main" val="2501854442"/>
                  </a:ext>
                </a:extLst>
              </a:tr>
            </a:tbl>
          </a:graphicData>
        </a:graphic>
      </p:graphicFrame>
    </p:spTree>
    <p:extLst>
      <p:ext uri="{BB962C8B-B14F-4D97-AF65-F5344CB8AC3E}">
        <p14:creationId xmlns:p14="http://schemas.microsoft.com/office/powerpoint/2010/main" val="2599599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44170865-6089-45CD-BF5E-9BE20858350A}"/>
              </a:ext>
            </a:extLst>
          </p:cNvPr>
          <p:cNvSpPr>
            <a:spLocks noGrp="1"/>
          </p:cNvSpPr>
          <p:nvPr>
            <p:ph type="title"/>
          </p:nvPr>
        </p:nvSpPr>
        <p:spPr/>
        <p:txBody>
          <a:bodyPr/>
          <a:lstStyle/>
          <a:p>
            <a:r>
              <a:rPr lang="nl-NL" dirty="0"/>
              <a:t>02. Variabelen</a:t>
            </a:r>
          </a:p>
        </p:txBody>
      </p:sp>
      <p:sp>
        <p:nvSpPr>
          <p:cNvPr id="6" name="Tijdelijke aanduiding voor datum 5">
            <a:extLst>
              <a:ext uri="{FF2B5EF4-FFF2-40B4-BE49-F238E27FC236}">
                <a16:creationId xmlns:a16="http://schemas.microsoft.com/office/drawing/2014/main" id="{7D429F9F-ABE8-4D77-928C-17ABB74009C8}"/>
              </a:ext>
            </a:extLst>
          </p:cNvPr>
          <p:cNvSpPr>
            <a:spLocks noGrp="1"/>
          </p:cNvSpPr>
          <p:nvPr>
            <p:ph type="dt" sz="half" idx="10"/>
          </p:nvPr>
        </p:nvSpPr>
        <p:spPr/>
        <p:txBody>
          <a:bodyPr/>
          <a:lstStyle/>
          <a:p>
            <a:r>
              <a:rPr lang="nl-NL"/>
              <a:t>1 november 2019</a:t>
            </a:r>
          </a:p>
        </p:txBody>
      </p:sp>
      <p:sp>
        <p:nvSpPr>
          <p:cNvPr id="3" name="Tijdelijke aanduiding voor dianummer 2">
            <a:extLst>
              <a:ext uri="{FF2B5EF4-FFF2-40B4-BE49-F238E27FC236}">
                <a16:creationId xmlns:a16="http://schemas.microsoft.com/office/drawing/2014/main" id="{1569550B-2693-442D-946F-04DFC5912206}"/>
              </a:ext>
            </a:extLst>
          </p:cNvPr>
          <p:cNvSpPr>
            <a:spLocks noGrp="1"/>
          </p:cNvSpPr>
          <p:nvPr>
            <p:ph type="sldNum" sz="quarter" idx="12"/>
          </p:nvPr>
        </p:nvSpPr>
        <p:spPr/>
        <p:txBody>
          <a:bodyPr/>
          <a:lstStyle/>
          <a:p>
            <a:fld id="{F42B3F14-D836-496B-80A2-23BE75BD68CB}" type="slidenum">
              <a:rPr lang="nl-NL" smtClean="0"/>
              <a:pPr/>
              <a:t>5</a:t>
            </a:fld>
            <a:endParaRPr lang="nl-NL"/>
          </a:p>
        </p:txBody>
      </p:sp>
      <p:pic>
        <p:nvPicPr>
          <p:cNvPr id="9" name="Afbeelding 8">
            <a:extLst>
              <a:ext uri="{FF2B5EF4-FFF2-40B4-BE49-F238E27FC236}">
                <a16:creationId xmlns:a16="http://schemas.microsoft.com/office/drawing/2014/main" id="{5B160343-D78E-4628-8430-8EE5B8688859}"/>
              </a:ext>
            </a:extLst>
          </p:cNvPr>
          <p:cNvPicPr>
            <a:picLocks noChangeAspect="1"/>
          </p:cNvPicPr>
          <p:nvPr/>
        </p:nvPicPr>
        <p:blipFill>
          <a:blip r:embed="rId3"/>
          <a:stretch>
            <a:fillRect/>
          </a:stretch>
        </p:blipFill>
        <p:spPr>
          <a:xfrm>
            <a:off x="7372504" y="2623903"/>
            <a:ext cx="3520758" cy="357399"/>
          </a:xfrm>
          <a:prstGeom prst="rect">
            <a:avLst/>
          </a:prstGeom>
        </p:spPr>
      </p:pic>
      <p:pic>
        <p:nvPicPr>
          <p:cNvPr id="10" name="Afbeelding 9">
            <a:extLst>
              <a:ext uri="{FF2B5EF4-FFF2-40B4-BE49-F238E27FC236}">
                <a16:creationId xmlns:a16="http://schemas.microsoft.com/office/drawing/2014/main" id="{0FFA7648-C1A1-449E-8892-0A1167F9D7A0}"/>
              </a:ext>
            </a:extLst>
          </p:cNvPr>
          <p:cNvPicPr>
            <a:picLocks noChangeAspect="1"/>
          </p:cNvPicPr>
          <p:nvPr/>
        </p:nvPicPr>
        <p:blipFill>
          <a:blip r:embed="rId4"/>
          <a:stretch>
            <a:fillRect/>
          </a:stretch>
        </p:blipFill>
        <p:spPr>
          <a:xfrm>
            <a:off x="1592928" y="1218998"/>
            <a:ext cx="2548229" cy="489771"/>
          </a:xfrm>
          <a:prstGeom prst="rect">
            <a:avLst/>
          </a:prstGeom>
        </p:spPr>
      </p:pic>
      <p:sp>
        <p:nvSpPr>
          <p:cNvPr id="12" name="Tekstballon: rechthoek 11">
            <a:extLst>
              <a:ext uri="{FF2B5EF4-FFF2-40B4-BE49-F238E27FC236}">
                <a16:creationId xmlns:a16="http://schemas.microsoft.com/office/drawing/2014/main" id="{DC157E11-140B-4A76-A285-C7BDC7C44A3C}"/>
              </a:ext>
            </a:extLst>
          </p:cNvPr>
          <p:cNvSpPr/>
          <p:nvPr/>
        </p:nvSpPr>
        <p:spPr>
          <a:xfrm>
            <a:off x="4560948" y="1057175"/>
            <a:ext cx="2811556" cy="1415331"/>
          </a:xfrm>
          <a:prstGeom prst="wedgeRectCallout">
            <a:avLst>
              <a:gd name="adj1" fmla="val -97779"/>
              <a:gd name="adj2" fmla="val -2211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1. Declaratie</a:t>
            </a:r>
          </a:p>
          <a:p>
            <a:pPr algn="ctr"/>
            <a:r>
              <a:rPr lang="nl-NL" sz="1463" dirty="0">
                <a:solidFill>
                  <a:schemeClr val="tx1"/>
                </a:solidFill>
              </a:rPr>
              <a:t>reserveert ruimte in het geheugen voor het opgegeven datatype (in dit voorbeeld een string).</a:t>
            </a:r>
          </a:p>
        </p:txBody>
      </p:sp>
      <p:sp>
        <p:nvSpPr>
          <p:cNvPr id="13" name="Tekstballon: rechthoek 12">
            <a:extLst>
              <a:ext uri="{FF2B5EF4-FFF2-40B4-BE49-F238E27FC236}">
                <a16:creationId xmlns:a16="http://schemas.microsoft.com/office/drawing/2014/main" id="{4183E2A2-3941-45EC-8079-B9FFE7459149}"/>
              </a:ext>
            </a:extLst>
          </p:cNvPr>
          <p:cNvSpPr/>
          <p:nvPr/>
        </p:nvSpPr>
        <p:spPr>
          <a:xfrm>
            <a:off x="1592928" y="2176293"/>
            <a:ext cx="2548229" cy="805009"/>
          </a:xfrm>
          <a:prstGeom prst="wedgeRectCallout">
            <a:avLst>
              <a:gd name="adj1" fmla="val -13796"/>
              <a:gd name="adj2" fmla="val -1073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2. Toewijzen</a:t>
            </a:r>
          </a:p>
          <a:p>
            <a:pPr algn="ctr"/>
            <a:r>
              <a:rPr lang="nl-NL" sz="1463" dirty="0">
                <a:solidFill>
                  <a:schemeClr val="tx1"/>
                </a:solidFill>
              </a:rPr>
              <a:t>Hier ‘vul’ je een bestaande variabele met gegevens.</a:t>
            </a:r>
          </a:p>
        </p:txBody>
      </p:sp>
      <p:sp>
        <p:nvSpPr>
          <p:cNvPr id="14" name="Tekstballon: rechthoek 13">
            <a:extLst>
              <a:ext uri="{FF2B5EF4-FFF2-40B4-BE49-F238E27FC236}">
                <a16:creationId xmlns:a16="http://schemas.microsoft.com/office/drawing/2014/main" id="{309857AB-351C-43B3-9D8A-7E29FF04ADD6}"/>
              </a:ext>
            </a:extLst>
          </p:cNvPr>
          <p:cNvSpPr/>
          <p:nvPr/>
        </p:nvSpPr>
        <p:spPr>
          <a:xfrm>
            <a:off x="7792295" y="372978"/>
            <a:ext cx="2665078" cy="1270044"/>
          </a:xfrm>
          <a:prstGeom prst="wedgeRectCallout">
            <a:avLst>
              <a:gd name="adj1" fmla="val -3569"/>
              <a:gd name="adj2" fmla="val 1342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Declareren én toewijzen noemen we </a:t>
            </a:r>
            <a:r>
              <a:rPr lang="nl-NL" sz="1463" b="1" dirty="0" err="1">
                <a:solidFill>
                  <a:schemeClr val="tx1"/>
                </a:solidFill>
              </a:rPr>
              <a:t>definïeren</a:t>
            </a:r>
            <a:r>
              <a:rPr lang="nl-NL" sz="1463" b="1" dirty="0">
                <a:solidFill>
                  <a:schemeClr val="tx1"/>
                </a:solidFill>
              </a:rPr>
              <a:t>:</a:t>
            </a:r>
          </a:p>
          <a:p>
            <a:pPr algn="ctr"/>
            <a:r>
              <a:rPr lang="nl-NL" sz="1463" dirty="0" err="1">
                <a:solidFill>
                  <a:schemeClr val="tx1"/>
                </a:solidFill>
              </a:rPr>
              <a:t>Ookwel</a:t>
            </a:r>
            <a:r>
              <a:rPr lang="nl-NL" sz="1463" dirty="0">
                <a:solidFill>
                  <a:schemeClr val="tx1"/>
                </a:solidFill>
              </a:rPr>
              <a:t>: direct </a:t>
            </a:r>
            <a:r>
              <a:rPr lang="nl-NL" sz="1463" dirty="0" err="1">
                <a:solidFill>
                  <a:schemeClr val="tx1"/>
                </a:solidFill>
              </a:rPr>
              <a:t>assignment</a:t>
            </a:r>
            <a:endParaRPr lang="nl-NL" sz="1463" dirty="0">
              <a:solidFill>
                <a:schemeClr val="tx1"/>
              </a:solidFill>
            </a:endParaRPr>
          </a:p>
        </p:txBody>
      </p:sp>
      <p:pic>
        <p:nvPicPr>
          <p:cNvPr id="15" name="Afbeelding 14">
            <a:extLst>
              <a:ext uri="{FF2B5EF4-FFF2-40B4-BE49-F238E27FC236}">
                <a16:creationId xmlns:a16="http://schemas.microsoft.com/office/drawing/2014/main" id="{47C1E29B-7D22-49CB-8D8D-5D472F56B15F}"/>
              </a:ext>
            </a:extLst>
          </p:cNvPr>
          <p:cNvPicPr>
            <a:picLocks noChangeAspect="1"/>
          </p:cNvPicPr>
          <p:nvPr/>
        </p:nvPicPr>
        <p:blipFill>
          <a:blip r:embed="rId5"/>
          <a:stretch>
            <a:fillRect/>
          </a:stretch>
        </p:blipFill>
        <p:spPr>
          <a:xfrm>
            <a:off x="6096000" y="3728930"/>
            <a:ext cx="4301065" cy="746670"/>
          </a:xfrm>
          <a:prstGeom prst="rect">
            <a:avLst/>
          </a:prstGeom>
        </p:spPr>
      </p:pic>
      <p:pic>
        <p:nvPicPr>
          <p:cNvPr id="16" name="Afbeelding 15">
            <a:extLst>
              <a:ext uri="{FF2B5EF4-FFF2-40B4-BE49-F238E27FC236}">
                <a16:creationId xmlns:a16="http://schemas.microsoft.com/office/drawing/2014/main" id="{BB42C4C5-E5C2-44B4-A9F8-8B4FE70080C0}"/>
              </a:ext>
            </a:extLst>
          </p:cNvPr>
          <p:cNvPicPr>
            <a:picLocks noChangeAspect="1"/>
          </p:cNvPicPr>
          <p:nvPr/>
        </p:nvPicPr>
        <p:blipFill>
          <a:blip r:embed="rId6"/>
          <a:stretch>
            <a:fillRect/>
          </a:stretch>
        </p:blipFill>
        <p:spPr>
          <a:xfrm>
            <a:off x="924076" y="4984396"/>
            <a:ext cx="2999021" cy="1129261"/>
          </a:xfrm>
          <a:prstGeom prst="rect">
            <a:avLst/>
          </a:prstGeom>
        </p:spPr>
      </p:pic>
      <p:sp>
        <p:nvSpPr>
          <p:cNvPr id="17" name="Tekstballon: rechthoek 16">
            <a:extLst>
              <a:ext uri="{FF2B5EF4-FFF2-40B4-BE49-F238E27FC236}">
                <a16:creationId xmlns:a16="http://schemas.microsoft.com/office/drawing/2014/main" id="{7B9FB4C8-FB26-4FA6-B535-E60FB86C8CC5}"/>
              </a:ext>
            </a:extLst>
          </p:cNvPr>
          <p:cNvSpPr/>
          <p:nvPr/>
        </p:nvSpPr>
        <p:spPr>
          <a:xfrm>
            <a:off x="1737817" y="3528703"/>
            <a:ext cx="2811556" cy="946897"/>
          </a:xfrm>
          <a:prstGeom prst="wedgeRectCallout">
            <a:avLst>
              <a:gd name="adj1" fmla="val -22900"/>
              <a:gd name="adj2" fmla="val 10813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Optellen</a:t>
            </a:r>
          </a:p>
          <a:p>
            <a:pPr algn="ctr"/>
            <a:r>
              <a:rPr lang="nl-NL" sz="1463" dirty="0">
                <a:solidFill>
                  <a:schemeClr val="tx1"/>
                </a:solidFill>
              </a:rPr>
              <a:t>Gebruik </a:t>
            </a:r>
            <a:r>
              <a:rPr lang="nl-NL" sz="1463" dirty="0" err="1">
                <a:solidFill>
                  <a:schemeClr val="tx1"/>
                </a:solidFill>
              </a:rPr>
              <a:t>varNaam</a:t>
            </a:r>
            <a:r>
              <a:rPr lang="nl-NL" sz="1463" dirty="0">
                <a:solidFill>
                  <a:schemeClr val="tx1"/>
                </a:solidFill>
              </a:rPr>
              <a:t>++ om 1 bij de huidige waarde op te tellen.</a:t>
            </a:r>
          </a:p>
        </p:txBody>
      </p:sp>
      <p:sp>
        <p:nvSpPr>
          <p:cNvPr id="18" name="Tekstballon: rechthoek 17">
            <a:extLst>
              <a:ext uri="{FF2B5EF4-FFF2-40B4-BE49-F238E27FC236}">
                <a16:creationId xmlns:a16="http://schemas.microsoft.com/office/drawing/2014/main" id="{FD87CD61-9F4B-4D87-8C30-E5318C511164}"/>
              </a:ext>
            </a:extLst>
          </p:cNvPr>
          <p:cNvSpPr/>
          <p:nvPr/>
        </p:nvSpPr>
        <p:spPr>
          <a:xfrm>
            <a:off x="4389280" y="4830885"/>
            <a:ext cx="2811556" cy="946897"/>
          </a:xfrm>
          <a:prstGeom prst="wedgeRectCallout">
            <a:avLst>
              <a:gd name="adj1" fmla="val -71430"/>
              <a:gd name="adj2" fmla="val 230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Optellen</a:t>
            </a:r>
          </a:p>
          <a:p>
            <a:pPr algn="ctr"/>
            <a:r>
              <a:rPr lang="nl-NL" sz="1463" dirty="0">
                <a:solidFill>
                  <a:schemeClr val="tx1"/>
                </a:solidFill>
              </a:rPr>
              <a:t>Tel bij de</a:t>
            </a:r>
            <a:r>
              <a:rPr lang="nl-NL" sz="1463" i="1" dirty="0">
                <a:solidFill>
                  <a:schemeClr val="tx1"/>
                </a:solidFill>
              </a:rPr>
              <a:t> huidige </a:t>
            </a:r>
            <a:r>
              <a:rPr lang="nl-NL" sz="1463" dirty="0">
                <a:solidFill>
                  <a:schemeClr val="tx1"/>
                </a:solidFill>
              </a:rPr>
              <a:t>waarde van </a:t>
            </a:r>
            <a:r>
              <a:rPr lang="nl-NL" sz="1463" dirty="0" err="1">
                <a:solidFill>
                  <a:schemeClr val="tx1"/>
                </a:solidFill>
              </a:rPr>
              <a:t>steedsGroter</a:t>
            </a:r>
            <a:r>
              <a:rPr lang="nl-NL" sz="1463" dirty="0">
                <a:solidFill>
                  <a:schemeClr val="tx1"/>
                </a:solidFill>
              </a:rPr>
              <a:t> 5 op, en sla het resultaat op in </a:t>
            </a:r>
            <a:r>
              <a:rPr lang="nl-NL" sz="1463" dirty="0" err="1">
                <a:solidFill>
                  <a:schemeClr val="tx1"/>
                </a:solidFill>
              </a:rPr>
              <a:t>steedsGroter</a:t>
            </a:r>
            <a:endParaRPr lang="nl-NL" sz="1463" dirty="0">
              <a:solidFill>
                <a:schemeClr val="tx1"/>
              </a:solidFill>
            </a:endParaRPr>
          </a:p>
        </p:txBody>
      </p:sp>
      <p:sp>
        <p:nvSpPr>
          <p:cNvPr id="19" name="Tekstballon: rechthoek 18">
            <a:extLst>
              <a:ext uri="{FF2B5EF4-FFF2-40B4-BE49-F238E27FC236}">
                <a16:creationId xmlns:a16="http://schemas.microsoft.com/office/drawing/2014/main" id="{D55972A6-235B-4EF1-82A7-AA40E8F368C5}"/>
              </a:ext>
            </a:extLst>
          </p:cNvPr>
          <p:cNvSpPr/>
          <p:nvPr/>
        </p:nvSpPr>
        <p:spPr>
          <a:xfrm>
            <a:off x="8026086" y="4726141"/>
            <a:ext cx="2213594" cy="1156384"/>
          </a:xfrm>
          <a:prstGeom prst="wedgeRectCallout">
            <a:avLst>
              <a:gd name="adj1" fmla="val -60960"/>
              <a:gd name="adj2" fmla="val -949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String samenvoegen</a:t>
            </a:r>
          </a:p>
          <a:p>
            <a:pPr algn="ctr"/>
            <a:r>
              <a:rPr lang="nl-NL" sz="1463" dirty="0">
                <a:solidFill>
                  <a:schemeClr val="tx1"/>
                </a:solidFill>
              </a:rPr>
              <a:t>Je kunt het +-teken ook gebruiken om twee strings achter elkaar te plakken.</a:t>
            </a:r>
          </a:p>
        </p:txBody>
      </p:sp>
    </p:spTree>
    <p:extLst>
      <p:ext uri="{BB962C8B-B14F-4D97-AF65-F5344CB8AC3E}">
        <p14:creationId xmlns:p14="http://schemas.microsoft.com/office/powerpoint/2010/main" val="780879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Afbeelding 19">
            <a:extLst>
              <a:ext uri="{FF2B5EF4-FFF2-40B4-BE49-F238E27FC236}">
                <a16:creationId xmlns:a16="http://schemas.microsoft.com/office/drawing/2014/main" id="{109EF458-39AA-4DDB-8D32-8A4DB3490B92}"/>
              </a:ext>
            </a:extLst>
          </p:cNvPr>
          <p:cNvPicPr>
            <a:picLocks noChangeAspect="1"/>
          </p:cNvPicPr>
          <p:nvPr/>
        </p:nvPicPr>
        <p:blipFill>
          <a:blip r:embed="rId3"/>
          <a:stretch>
            <a:fillRect/>
          </a:stretch>
        </p:blipFill>
        <p:spPr>
          <a:xfrm>
            <a:off x="1290269" y="3447640"/>
            <a:ext cx="1555552" cy="2190155"/>
          </a:xfrm>
          <a:prstGeom prst="rect">
            <a:avLst/>
          </a:prstGeom>
        </p:spPr>
      </p:pic>
      <p:sp>
        <p:nvSpPr>
          <p:cNvPr id="21" name="Tekstballon: rechthoek 20">
            <a:extLst>
              <a:ext uri="{FF2B5EF4-FFF2-40B4-BE49-F238E27FC236}">
                <a16:creationId xmlns:a16="http://schemas.microsoft.com/office/drawing/2014/main" id="{08805A35-2F43-43CE-B57E-D59022AC5756}"/>
              </a:ext>
            </a:extLst>
          </p:cNvPr>
          <p:cNvSpPr/>
          <p:nvPr/>
        </p:nvSpPr>
        <p:spPr>
          <a:xfrm>
            <a:off x="3244382" y="3133022"/>
            <a:ext cx="2710146" cy="1125004"/>
          </a:xfrm>
          <a:prstGeom prst="wedgeRectCallout">
            <a:avLst>
              <a:gd name="adj1" fmla="val -67840"/>
              <a:gd name="adj2" fmla="val 352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2. In een vergelijking</a:t>
            </a:r>
          </a:p>
          <a:p>
            <a:pPr algn="ctr"/>
            <a:r>
              <a:rPr lang="nl-NL" sz="1463" dirty="0">
                <a:solidFill>
                  <a:schemeClr val="tx1"/>
                </a:solidFill>
              </a:rPr>
              <a:t>In deze code worden de waarden voor </a:t>
            </a:r>
            <a:r>
              <a:rPr lang="nl-NL" sz="1463" i="1" dirty="0" err="1">
                <a:solidFill>
                  <a:schemeClr val="tx1"/>
                </a:solidFill>
              </a:rPr>
              <a:t>getalA</a:t>
            </a:r>
            <a:r>
              <a:rPr lang="nl-NL" sz="1463" dirty="0">
                <a:solidFill>
                  <a:schemeClr val="tx1"/>
                </a:solidFill>
              </a:rPr>
              <a:t> en </a:t>
            </a:r>
            <a:r>
              <a:rPr lang="nl-NL" sz="1463" i="1" dirty="0" err="1">
                <a:solidFill>
                  <a:schemeClr val="tx1"/>
                </a:solidFill>
              </a:rPr>
              <a:t>getalB</a:t>
            </a:r>
            <a:r>
              <a:rPr lang="nl-NL" sz="1463" dirty="0">
                <a:solidFill>
                  <a:schemeClr val="tx1"/>
                </a:solidFill>
              </a:rPr>
              <a:t> ingevuld.</a:t>
            </a:r>
          </a:p>
        </p:txBody>
      </p:sp>
      <p:sp>
        <p:nvSpPr>
          <p:cNvPr id="22" name="Tekstballon: rechthoek 21">
            <a:extLst>
              <a:ext uri="{FF2B5EF4-FFF2-40B4-BE49-F238E27FC236}">
                <a16:creationId xmlns:a16="http://schemas.microsoft.com/office/drawing/2014/main" id="{C442FDC5-C329-4E49-A9B0-A5C708048958}"/>
              </a:ext>
            </a:extLst>
          </p:cNvPr>
          <p:cNvSpPr/>
          <p:nvPr/>
        </p:nvSpPr>
        <p:spPr>
          <a:xfrm>
            <a:off x="3431900" y="4479763"/>
            <a:ext cx="2390165" cy="1158032"/>
          </a:xfrm>
          <a:prstGeom prst="wedgeRectCallout">
            <a:avLst>
              <a:gd name="adj1" fmla="val -103063"/>
              <a:gd name="adj2" fmla="val -64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3. In een vergelijking</a:t>
            </a:r>
          </a:p>
          <a:p>
            <a:pPr algn="ctr"/>
            <a:r>
              <a:rPr lang="nl-NL" sz="1463" dirty="0">
                <a:solidFill>
                  <a:schemeClr val="tx1"/>
                </a:solidFill>
              </a:rPr>
              <a:t>In dit geval wordt de vergelijking dus:</a:t>
            </a:r>
          </a:p>
          <a:p>
            <a:pPr algn="ctr"/>
            <a:r>
              <a:rPr lang="nl-NL" sz="1463" dirty="0">
                <a:solidFill>
                  <a:schemeClr val="tx1"/>
                </a:solidFill>
              </a:rPr>
              <a:t>Als 3 groter is dan 12.</a:t>
            </a:r>
          </a:p>
        </p:txBody>
      </p:sp>
      <p:sp>
        <p:nvSpPr>
          <p:cNvPr id="23" name="Tekstballon: rechthoek 22">
            <a:extLst>
              <a:ext uri="{FF2B5EF4-FFF2-40B4-BE49-F238E27FC236}">
                <a16:creationId xmlns:a16="http://schemas.microsoft.com/office/drawing/2014/main" id="{D821712A-0694-4CA8-9342-3D02B575022B}"/>
              </a:ext>
            </a:extLst>
          </p:cNvPr>
          <p:cNvSpPr/>
          <p:nvPr/>
        </p:nvSpPr>
        <p:spPr>
          <a:xfrm>
            <a:off x="1256504" y="1088724"/>
            <a:ext cx="2800025" cy="1365109"/>
          </a:xfrm>
          <a:prstGeom prst="wedgeRectCallout">
            <a:avLst>
              <a:gd name="adj1" fmla="val -16943"/>
              <a:gd name="adj2" fmla="val 1314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1. </a:t>
            </a:r>
            <a:r>
              <a:rPr lang="nl-NL" sz="1463" b="1" dirty="0" err="1">
                <a:solidFill>
                  <a:schemeClr val="tx1"/>
                </a:solidFill>
              </a:rPr>
              <a:t>Definïeren</a:t>
            </a:r>
            <a:r>
              <a:rPr lang="nl-NL" sz="1463" b="1" dirty="0">
                <a:solidFill>
                  <a:schemeClr val="tx1"/>
                </a:solidFill>
              </a:rPr>
              <a:t> getallen</a:t>
            </a:r>
          </a:p>
          <a:p>
            <a:pPr algn="ctr"/>
            <a:r>
              <a:rPr lang="nl-NL" sz="1463" dirty="0">
                <a:solidFill>
                  <a:schemeClr val="tx1"/>
                </a:solidFill>
              </a:rPr>
              <a:t>Hier worden </a:t>
            </a:r>
            <a:r>
              <a:rPr lang="nl-NL" sz="1463" i="1" dirty="0" err="1">
                <a:solidFill>
                  <a:schemeClr val="tx1"/>
                </a:solidFill>
              </a:rPr>
              <a:t>getalA</a:t>
            </a:r>
            <a:r>
              <a:rPr lang="nl-NL" sz="1463" dirty="0">
                <a:solidFill>
                  <a:schemeClr val="tx1"/>
                </a:solidFill>
              </a:rPr>
              <a:t> en </a:t>
            </a:r>
            <a:r>
              <a:rPr lang="nl-NL" sz="1463" i="1" dirty="0" err="1">
                <a:solidFill>
                  <a:schemeClr val="tx1"/>
                </a:solidFill>
              </a:rPr>
              <a:t>getalB</a:t>
            </a:r>
            <a:r>
              <a:rPr lang="nl-NL" sz="1463" dirty="0">
                <a:solidFill>
                  <a:schemeClr val="tx1"/>
                </a:solidFill>
              </a:rPr>
              <a:t> aangemaakt en op 3 en 12 ingesteld.</a:t>
            </a:r>
          </a:p>
        </p:txBody>
      </p:sp>
      <p:pic>
        <p:nvPicPr>
          <p:cNvPr id="24" name="Afbeelding 23">
            <a:extLst>
              <a:ext uri="{FF2B5EF4-FFF2-40B4-BE49-F238E27FC236}">
                <a16:creationId xmlns:a16="http://schemas.microsoft.com/office/drawing/2014/main" id="{B0DDB5B1-A90E-4021-89D3-48959247004C}"/>
              </a:ext>
            </a:extLst>
          </p:cNvPr>
          <p:cNvPicPr>
            <a:picLocks noChangeAspect="1"/>
          </p:cNvPicPr>
          <p:nvPr/>
        </p:nvPicPr>
        <p:blipFill>
          <a:blip r:embed="rId4"/>
          <a:stretch>
            <a:fillRect/>
          </a:stretch>
        </p:blipFill>
        <p:spPr>
          <a:xfrm>
            <a:off x="6627643" y="2206762"/>
            <a:ext cx="3322932" cy="1125004"/>
          </a:xfrm>
          <a:prstGeom prst="rect">
            <a:avLst/>
          </a:prstGeom>
        </p:spPr>
      </p:pic>
      <p:sp>
        <p:nvSpPr>
          <p:cNvPr id="25" name="Tekstballon: rechthoek 24">
            <a:extLst>
              <a:ext uri="{FF2B5EF4-FFF2-40B4-BE49-F238E27FC236}">
                <a16:creationId xmlns:a16="http://schemas.microsoft.com/office/drawing/2014/main" id="{5864FBFB-8B6F-47A8-98FF-A7187CD708D9}"/>
              </a:ext>
            </a:extLst>
          </p:cNvPr>
          <p:cNvSpPr/>
          <p:nvPr/>
        </p:nvSpPr>
        <p:spPr>
          <a:xfrm>
            <a:off x="6188597" y="1286828"/>
            <a:ext cx="1685109" cy="562793"/>
          </a:xfrm>
          <a:prstGeom prst="wedgeRectCallout">
            <a:avLst>
              <a:gd name="adj1" fmla="val 46939"/>
              <a:gd name="adj2" fmla="val 12862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1. Definiëren</a:t>
            </a:r>
          </a:p>
        </p:txBody>
      </p:sp>
      <p:sp>
        <p:nvSpPr>
          <p:cNvPr id="26" name="Tekstballon: rechthoek 25">
            <a:extLst>
              <a:ext uri="{FF2B5EF4-FFF2-40B4-BE49-F238E27FC236}">
                <a16:creationId xmlns:a16="http://schemas.microsoft.com/office/drawing/2014/main" id="{A3EEA511-0AED-4426-B7F2-2BD603CAF6B1}"/>
              </a:ext>
            </a:extLst>
          </p:cNvPr>
          <p:cNvSpPr/>
          <p:nvPr/>
        </p:nvSpPr>
        <p:spPr>
          <a:xfrm>
            <a:off x="9268354" y="1286828"/>
            <a:ext cx="2352931" cy="1279284"/>
          </a:xfrm>
          <a:prstGeom prst="wedgeRectCallout">
            <a:avLst>
              <a:gd name="adj1" fmla="val -59384"/>
              <a:gd name="adj2" fmla="val 880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2. In een operatie</a:t>
            </a:r>
          </a:p>
          <a:p>
            <a:pPr algn="ctr"/>
            <a:r>
              <a:rPr lang="nl-NL" sz="1463" dirty="0">
                <a:solidFill>
                  <a:schemeClr val="tx1"/>
                </a:solidFill>
              </a:rPr>
              <a:t>Hier worden </a:t>
            </a:r>
            <a:r>
              <a:rPr lang="nl-NL" sz="1463" i="1" dirty="0" err="1">
                <a:solidFill>
                  <a:schemeClr val="tx1"/>
                </a:solidFill>
              </a:rPr>
              <a:t>getalA</a:t>
            </a:r>
            <a:r>
              <a:rPr lang="nl-NL" sz="1463" dirty="0">
                <a:solidFill>
                  <a:schemeClr val="tx1"/>
                </a:solidFill>
              </a:rPr>
              <a:t> (38) en </a:t>
            </a:r>
            <a:r>
              <a:rPr lang="nl-NL" sz="1463" i="1" dirty="0" err="1">
                <a:solidFill>
                  <a:schemeClr val="tx1"/>
                </a:solidFill>
              </a:rPr>
              <a:t>getalB</a:t>
            </a:r>
            <a:r>
              <a:rPr lang="nl-NL" sz="1463" dirty="0">
                <a:solidFill>
                  <a:schemeClr val="tx1"/>
                </a:solidFill>
              </a:rPr>
              <a:t> (4) bij elkaar opgeteld.</a:t>
            </a:r>
          </a:p>
        </p:txBody>
      </p:sp>
      <p:sp>
        <p:nvSpPr>
          <p:cNvPr id="27" name="Tekstballon: rechthoek 26">
            <a:extLst>
              <a:ext uri="{FF2B5EF4-FFF2-40B4-BE49-F238E27FC236}">
                <a16:creationId xmlns:a16="http://schemas.microsoft.com/office/drawing/2014/main" id="{20F3302F-9172-4D02-9ABA-B4605BF085CF}"/>
              </a:ext>
            </a:extLst>
          </p:cNvPr>
          <p:cNvSpPr/>
          <p:nvPr/>
        </p:nvSpPr>
        <p:spPr>
          <a:xfrm>
            <a:off x="7140890" y="3760939"/>
            <a:ext cx="2390164" cy="1158032"/>
          </a:xfrm>
          <a:prstGeom prst="wedgeRectCallout">
            <a:avLst>
              <a:gd name="adj1" fmla="val -8334"/>
              <a:gd name="adj2" fmla="val -9879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3. Resultaat opslaan</a:t>
            </a:r>
          </a:p>
          <a:p>
            <a:pPr algn="ctr"/>
            <a:r>
              <a:rPr lang="nl-NL" sz="1463" dirty="0">
                <a:solidFill>
                  <a:schemeClr val="tx1"/>
                </a:solidFill>
              </a:rPr>
              <a:t>Het resultaat (42) wordt opgeslagen in een nieuwe int </a:t>
            </a:r>
            <a:r>
              <a:rPr lang="nl-NL" sz="1463" i="1" dirty="0">
                <a:solidFill>
                  <a:schemeClr val="tx1"/>
                </a:solidFill>
              </a:rPr>
              <a:t>resultaat</a:t>
            </a:r>
            <a:r>
              <a:rPr lang="nl-NL" sz="1463" dirty="0">
                <a:solidFill>
                  <a:schemeClr val="tx1"/>
                </a:solidFill>
              </a:rPr>
              <a:t>.</a:t>
            </a:r>
          </a:p>
        </p:txBody>
      </p:sp>
      <p:sp>
        <p:nvSpPr>
          <p:cNvPr id="4" name="Titel 6">
            <a:extLst>
              <a:ext uri="{FF2B5EF4-FFF2-40B4-BE49-F238E27FC236}">
                <a16:creationId xmlns:a16="http://schemas.microsoft.com/office/drawing/2014/main" id="{6D0F19D5-0536-E824-6C0D-4299424EAD7F}"/>
              </a:ext>
            </a:extLst>
          </p:cNvPr>
          <p:cNvSpPr txBox="1">
            <a:spLocks/>
          </p:cNvSpPr>
          <p:nvPr/>
        </p:nvSpPr>
        <p:spPr>
          <a:xfrm>
            <a:off x="336000" y="257856"/>
            <a:ext cx="11520000" cy="720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5000" b="1" kern="1200">
                <a:solidFill>
                  <a:schemeClr val="tx2"/>
                </a:solidFill>
                <a:latin typeface="Arial" panose="020B0604020202020204" pitchFamily="34" charset="0"/>
                <a:ea typeface="+mj-ea"/>
                <a:cs typeface="Arial" panose="020B0604020202020204" pitchFamily="34" charset="0"/>
              </a:defRPr>
            </a:lvl1pPr>
          </a:lstStyle>
          <a:p>
            <a:r>
              <a:rPr lang="nl-NL" dirty="0"/>
              <a:t>02. Variabelen</a:t>
            </a:r>
          </a:p>
        </p:txBody>
      </p:sp>
    </p:spTree>
    <p:extLst>
      <p:ext uri="{BB962C8B-B14F-4D97-AF65-F5344CB8AC3E}">
        <p14:creationId xmlns:p14="http://schemas.microsoft.com/office/powerpoint/2010/main" val="1250046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61B7127-D5C6-4817-9C8B-A969F9B5B3B8}"/>
              </a:ext>
            </a:extLst>
          </p:cNvPr>
          <p:cNvSpPr>
            <a:spLocks noGrp="1"/>
          </p:cNvSpPr>
          <p:nvPr>
            <p:ph type="title"/>
          </p:nvPr>
        </p:nvSpPr>
        <p:spPr/>
        <p:txBody>
          <a:bodyPr/>
          <a:lstStyle/>
          <a:p>
            <a:r>
              <a:rPr lang="nl-NL" dirty="0"/>
              <a:t>03. </a:t>
            </a:r>
            <a:r>
              <a:rPr lang="nl-NL" sz="5400" dirty="0"/>
              <a:t>Datatypes</a:t>
            </a:r>
            <a:endParaRPr lang="nl-NL" dirty="0"/>
          </a:p>
        </p:txBody>
      </p:sp>
      <p:sp>
        <p:nvSpPr>
          <p:cNvPr id="4" name="Tijdelijke aanduiding voor datum 3">
            <a:extLst>
              <a:ext uri="{FF2B5EF4-FFF2-40B4-BE49-F238E27FC236}">
                <a16:creationId xmlns:a16="http://schemas.microsoft.com/office/drawing/2014/main" id="{C4E78B33-13B1-4851-BFE0-3C5CA156C89A}"/>
              </a:ext>
            </a:extLst>
          </p:cNvPr>
          <p:cNvSpPr>
            <a:spLocks noGrp="1"/>
          </p:cNvSpPr>
          <p:nvPr>
            <p:ph type="dt" sz="half" idx="10"/>
          </p:nvPr>
        </p:nvSpPr>
        <p:spPr/>
        <p:txBody>
          <a:bodyPr/>
          <a:lstStyle/>
          <a:p>
            <a:r>
              <a:rPr lang="nl-NL"/>
              <a:t>1 november 2019</a:t>
            </a:r>
            <a:endParaRPr lang="nl-NL" dirty="0"/>
          </a:p>
        </p:txBody>
      </p:sp>
      <p:sp>
        <p:nvSpPr>
          <p:cNvPr id="2" name="Tijdelijke aanduiding voor voettekst 1">
            <a:extLst>
              <a:ext uri="{FF2B5EF4-FFF2-40B4-BE49-F238E27FC236}">
                <a16:creationId xmlns:a16="http://schemas.microsoft.com/office/drawing/2014/main" id="{518D9F7C-47F2-45C8-A356-20B1908045FE}"/>
              </a:ext>
            </a:extLst>
          </p:cNvPr>
          <p:cNvSpPr>
            <a:spLocks noGrp="1"/>
          </p:cNvSpPr>
          <p:nvPr>
            <p:ph type="ftr" sz="quarter" idx="11"/>
          </p:nvPr>
        </p:nvSpPr>
        <p:spPr/>
        <p:txBody>
          <a:bodyPr/>
          <a:lstStyle/>
          <a:p>
            <a:endParaRPr lang="nl-NL"/>
          </a:p>
        </p:txBody>
      </p:sp>
      <p:sp>
        <p:nvSpPr>
          <p:cNvPr id="3" name="Tijdelijke aanduiding voor dianummer 2">
            <a:extLst>
              <a:ext uri="{FF2B5EF4-FFF2-40B4-BE49-F238E27FC236}">
                <a16:creationId xmlns:a16="http://schemas.microsoft.com/office/drawing/2014/main" id="{340E4A04-DBDA-44F1-B097-CB764AFD8552}"/>
              </a:ext>
            </a:extLst>
          </p:cNvPr>
          <p:cNvSpPr>
            <a:spLocks noGrp="1"/>
          </p:cNvSpPr>
          <p:nvPr>
            <p:ph type="sldNum" sz="quarter" idx="12"/>
          </p:nvPr>
        </p:nvSpPr>
        <p:spPr/>
        <p:txBody>
          <a:bodyPr/>
          <a:lstStyle/>
          <a:p>
            <a:fld id="{F42B3F14-D836-496B-80A2-23BE75BD68CB}" type="slidenum">
              <a:rPr lang="nl-NL" smtClean="0"/>
              <a:pPr/>
              <a:t>7</a:t>
            </a:fld>
            <a:endParaRPr lang="nl-NL" dirty="0"/>
          </a:p>
        </p:txBody>
      </p:sp>
      <p:sp>
        <p:nvSpPr>
          <p:cNvPr id="7" name="Tijdelijke aanduiding voor inhoud 7">
            <a:extLst>
              <a:ext uri="{FF2B5EF4-FFF2-40B4-BE49-F238E27FC236}">
                <a16:creationId xmlns:a16="http://schemas.microsoft.com/office/drawing/2014/main" id="{11217583-CE01-4516-BCE4-EF0D88071427}"/>
              </a:ext>
            </a:extLst>
          </p:cNvPr>
          <p:cNvSpPr txBox="1">
            <a:spLocks/>
          </p:cNvSpPr>
          <p:nvPr/>
        </p:nvSpPr>
        <p:spPr>
          <a:xfrm>
            <a:off x="323999" y="1008000"/>
            <a:ext cx="11227534" cy="1191190"/>
          </a:xfrm>
          <a:prstGeom prst="rect">
            <a:avLst/>
          </a:prstGeom>
        </p:spPr>
        <p:txBody>
          <a:bodyPr numCol="1"/>
          <a:lstStyle>
            <a:lvl1pPr marL="0" indent="0" algn="l" defTabSz="914400" rtl="0" eaLnBrk="1" latinLnBrk="0" hangingPunct="1">
              <a:lnSpc>
                <a:spcPct val="100000"/>
              </a:lnSpc>
              <a:spcBef>
                <a:spcPts val="0"/>
              </a:spcBef>
              <a:buFont typeface="Arial" panose="020B0604020202020204" pitchFamily="34" charset="0"/>
              <a:buNone/>
              <a:defRPr sz="2200" kern="1200">
                <a:solidFill>
                  <a:schemeClr val="tx2"/>
                </a:solidFill>
                <a:latin typeface="Arial" panose="020B0604020202020204" pitchFamily="34" charset="0"/>
                <a:ea typeface="+mn-ea"/>
                <a:cs typeface="Arial" panose="020B0604020202020204" pitchFamily="34" charset="0"/>
              </a:defRPr>
            </a:lvl1pPr>
            <a:lvl2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2"/>
                </a:solidFill>
                <a:latin typeface="Arial" panose="020B0604020202020204" pitchFamily="34" charset="0"/>
                <a:ea typeface="+mn-ea"/>
                <a:cs typeface="Arial" panose="020B0604020202020204" pitchFamily="34" charset="0"/>
              </a:defRPr>
            </a:lvl2pPr>
            <a:lvl3pPr marL="594900" indent="-342900" algn="l" defTabSz="914400" rtl="0" eaLnBrk="1" latinLnBrk="0" hangingPunct="1">
              <a:lnSpc>
                <a:spcPct val="100000"/>
              </a:lnSpc>
              <a:spcBef>
                <a:spcPts val="0"/>
              </a:spcBef>
              <a:buFont typeface="Arial" panose="020B0604020202020204" pitchFamily="34" charset="0"/>
              <a:buChar char="•"/>
              <a:defRPr sz="2200" b="0" kern="1200">
                <a:solidFill>
                  <a:schemeClr val="tx2"/>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0"/>
              </a:spcBef>
              <a:buFont typeface="Arial" panose="020B0604020202020204" pitchFamily="34" charset="0"/>
              <a:buNone/>
              <a:defRPr sz="3000" b="1" kern="1200">
                <a:solidFill>
                  <a:schemeClr val="tx2"/>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5pPr>
            <a:lvl6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9pPr>
          </a:lstStyle>
          <a:p>
            <a:pPr marL="0" lvl="1" indent="0">
              <a:lnSpc>
                <a:spcPct val="150000"/>
              </a:lnSpc>
              <a:buFont typeface="Arial" panose="020B0604020202020204" pitchFamily="34" charset="0"/>
              <a:buNone/>
            </a:pPr>
            <a:r>
              <a:rPr lang="nl-NL" sz="2000" i="1" dirty="0">
                <a:solidFill>
                  <a:schemeClr val="accent1"/>
                </a:solidFill>
              </a:rPr>
              <a:t>Een variabele gebruik je om gegevens op te slaan. Een variabele heeft altijd een datatype.</a:t>
            </a:r>
            <a:endParaRPr lang="nl-NL" sz="2000" i="1" u="sng" dirty="0">
              <a:solidFill>
                <a:schemeClr val="accent1"/>
              </a:solidFill>
            </a:endParaRPr>
          </a:p>
          <a:p>
            <a:pPr marL="0" lvl="1" indent="0">
              <a:lnSpc>
                <a:spcPct val="150000"/>
              </a:lnSpc>
              <a:buFont typeface="Arial" panose="020B0604020202020204" pitchFamily="34" charset="0"/>
              <a:buNone/>
            </a:pPr>
            <a:r>
              <a:rPr lang="nl-NL" sz="1800" u="sng" dirty="0">
                <a:solidFill>
                  <a:schemeClr val="accent1"/>
                </a:solidFill>
              </a:rPr>
              <a:t>Naamgevingsconventie:</a:t>
            </a:r>
            <a:r>
              <a:rPr lang="nl-NL" sz="1800" dirty="0">
                <a:solidFill>
                  <a:schemeClr val="accent1"/>
                </a:solidFill>
              </a:rPr>
              <a:t> </a:t>
            </a:r>
            <a:r>
              <a:rPr lang="nl-NL" sz="2800" dirty="0">
                <a:solidFill>
                  <a:schemeClr val="accent1"/>
                </a:solidFill>
              </a:rPr>
              <a:t>lowerCamelCase</a:t>
            </a:r>
          </a:p>
        </p:txBody>
      </p:sp>
      <p:graphicFrame>
        <p:nvGraphicFramePr>
          <p:cNvPr id="8" name="Tabel 4">
            <a:extLst>
              <a:ext uri="{FF2B5EF4-FFF2-40B4-BE49-F238E27FC236}">
                <a16:creationId xmlns:a16="http://schemas.microsoft.com/office/drawing/2014/main" id="{013E574B-FA41-4A7B-B1F4-112ECC31E232}"/>
              </a:ext>
            </a:extLst>
          </p:cNvPr>
          <p:cNvGraphicFramePr>
            <a:graphicFrameLocks noGrp="1"/>
          </p:cNvGraphicFramePr>
          <p:nvPr>
            <p:extLst>
              <p:ext uri="{D42A27DB-BD31-4B8C-83A1-F6EECF244321}">
                <p14:modId xmlns:p14="http://schemas.microsoft.com/office/powerpoint/2010/main" val="1049026833"/>
              </p:ext>
            </p:extLst>
          </p:nvPr>
        </p:nvGraphicFramePr>
        <p:xfrm>
          <a:off x="323999" y="2617422"/>
          <a:ext cx="11644184" cy="3240000"/>
        </p:xfrm>
        <a:graphic>
          <a:graphicData uri="http://schemas.openxmlformats.org/drawingml/2006/table">
            <a:tbl>
              <a:tblPr firstRow="1" bandRow="1">
                <a:tableStyleId>{5C22544A-7EE6-4342-B048-85BDC9FD1C3A}</a:tableStyleId>
              </a:tblPr>
              <a:tblGrid>
                <a:gridCol w="2060386">
                  <a:extLst>
                    <a:ext uri="{9D8B030D-6E8A-4147-A177-3AD203B41FA5}">
                      <a16:colId xmlns:a16="http://schemas.microsoft.com/office/drawing/2014/main" val="2596566298"/>
                    </a:ext>
                  </a:extLst>
                </a:gridCol>
                <a:gridCol w="4770063">
                  <a:extLst>
                    <a:ext uri="{9D8B030D-6E8A-4147-A177-3AD203B41FA5}">
                      <a16:colId xmlns:a16="http://schemas.microsoft.com/office/drawing/2014/main" val="685002972"/>
                    </a:ext>
                  </a:extLst>
                </a:gridCol>
                <a:gridCol w="4813735">
                  <a:extLst>
                    <a:ext uri="{9D8B030D-6E8A-4147-A177-3AD203B41FA5}">
                      <a16:colId xmlns:a16="http://schemas.microsoft.com/office/drawing/2014/main" val="1550809892"/>
                    </a:ext>
                  </a:extLst>
                </a:gridCol>
              </a:tblGrid>
              <a:tr h="611965">
                <a:tc>
                  <a:txBody>
                    <a:bodyPr/>
                    <a:lstStyle/>
                    <a:p>
                      <a:r>
                        <a:rPr lang="nl-NL" sz="2400" dirty="0">
                          <a:solidFill>
                            <a:schemeClr val="tx1"/>
                          </a:solidFill>
                          <a:latin typeface="Consolas" panose="020B0609020204030204" pitchFamily="49" charset="0"/>
                        </a:rPr>
                        <a:t>Datatype</a:t>
                      </a:r>
                    </a:p>
                  </a:txBody>
                  <a:tcPr marL="74295" marR="74295" marT="37148" marB="37148" anchor="ctr"/>
                </a:tc>
                <a:tc>
                  <a:txBody>
                    <a:bodyPr/>
                    <a:lstStyle/>
                    <a:p>
                      <a:r>
                        <a:rPr lang="nl-NL" sz="2400" dirty="0">
                          <a:solidFill>
                            <a:schemeClr val="tx1"/>
                          </a:solidFill>
                          <a:latin typeface="Consolas" panose="020B0609020204030204" pitchFamily="49" charset="0"/>
                        </a:rPr>
                        <a:t>Wordt gebruikt voor</a:t>
                      </a:r>
                    </a:p>
                  </a:txBody>
                  <a:tcPr marL="74295" marR="74295" marT="37148" marB="37148" anchor="ctr"/>
                </a:tc>
                <a:tc>
                  <a:txBody>
                    <a:bodyPr/>
                    <a:lstStyle/>
                    <a:p>
                      <a:r>
                        <a:rPr lang="nl-NL" sz="2400" dirty="0">
                          <a:solidFill>
                            <a:schemeClr val="tx1"/>
                          </a:solidFill>
                          <a:latin typeface="Consolas" panose="020B0609020204030204" pitchFamily="49" charset="0"/>
                        </a:rPr>
                        <a:t>Voorbeeld</a:t>
                      </a:r>
                    </a:p>
                  </a:txBody>
                  <a:tcPr marL="74295" marR="74295" marT="37148" marB="37148" anchor="ctr"/>
                </a:tc>
                <a:extLst>
                  <a:ext uri="{0D108BD9-81ED-4DB2-BD59-A6C34878D82A}">
                    <a16:rowId xmlns:a16="http://schemas.microsoft.com/office/drawing/2014/main" val="2451422085"/>
                  </a:ext>
                </a:extLst>
              </a:tr>
              <a:tr h="468035">
                <a:tc>
                  <a:txBody>
                    <a:bodyPr/>
                    <a:lstStyle/>
                    <a:p>
                      <a:r>
                        <a:rPr lang="nl-NL" sz="2400" dirty="0">
                          <a:latin typeface="Consolas" panose="020B0609020204030204" pitchFamily="49" charset="0"/>
                        </a:rPr>
                        <a:t>string</a:t>
                      </a:r>
                    </a:p>
                  </a:txBody>
                  <a:tcPr marL="74295" marR="74295" marT="37148" marB="37148" anchor="ctr"/>
                </a:tc>
                <a:tc>
                  <a:txBody>
                    <a:bodyPr/>
                    <a:lstStyle/>
                    <a:p>
                      <a:r>
                        <a:rPr lang="nl-NL" sz="2400" dirty="0">
                          <a:latin typeface="Consolas" panose="020B0609020204030204" pitchFamily="49" charset="0"/>
                        </a:rPr>
                        <a:t>Tekst</a:t>
                      </a:r>
                    </a:p>
                  </a:txBody>
                  <a:tcPr marL="74295" marR="74295" marT="37148" marB="37148" anchor="ctr"/>
                </a:tc>
                <a:tc>
                  <a:txBody>
                    <a:bodyPr/>
                    <a:lstStyle/>
                    <a:p>
                      <a:r>
                        <a:rPr lang="nl-NL" sz="2400" dirty="0">
                          <a:latin typeface="Consolas" panose="020B0609020204030204" pitchFamily="49" charset="0"/>
                        </a:rPr>
                        <a:t>"</a:t>
                      </a:r>
                      <a:r>
                        <a:rPr lang="nl-NL" sz="2400" dirty="0" err="1">
                          <a:latin typeface="Consolas" panose="020B0609020204030204" pitchFamily="49" charset="0"/>
                        </a:rPr>
                        <a:t>Hello</a:t>
                      </a:r>
                      <a:r>
                        <a:rPr lang="nl-NL" sz="2400" dirty="0">
                          <a:latin typeface="Consolas" panose="020B0609020204030204" pitchFamily="49" charset="0"/>
                        </a:rPr>
                        <a:t> World!"</a:t>
                      </a:r>
                    </a:p>
                  </a:txBody>
                  <a:tcPr marL="74295" marR="74295" marT="37148" marB="37148" anchor="ctr"/>
                </a:tc>
                <a:extLst>
                  <a:ext uri="{0D108BD9-81ED-4DB2-BD59-A6C34878D82A}">
                    <a16:rowId xmlns:a16="http://schemas.microsoft.com/office/drawing/2014/main" val="2250114560"/>
                  </a:ext>
                </a:extLst>
              </a:tr>
              <a:tr h="468035">
                <a:tc>
                  <a:txBody>
                    <a:bodyPr/>
                    <a:lstStyle/>
                    <a:p>
                      <a:r>
                        <a:rPr lang="nl-NL" sz="2400" dirty="0">
                          <a:latin typeface="Consolas" panose="020B0609020204030204" pitchFamily="49" charset="0"/>
                        </a:rPr>
                        <a:t>int</a:t>
                      </a:r>
                    </a:p>
                  </a:txBody>
                  <a:tcPr marL="74295" marR="74295" marT="37148" marB="37148" anchor="ctr"/>
                </a:tc>
                <a:tc>
                  <a:txBody>
                    <a:bodyPr/>
                    <a:lstStyle/>
                    <a:p>
                      <a:r>
                        <a:rPr lang="nl-NL" sz="2400" dirty="0">
                          <a:latin typeface="Consolas" panose="020B0609020204030204" pitchFamily="49" charset="0"/>
                        </a:rPr>
                        <a:t>Hele getallen</a:t>
                      </a:r>
                    </a:p>
                  </a:txBody>
                  <a:tcPr marL="74295" marR="74295" marT="37148" marB="37148" anchor="ctr"/>
                </a:tc>
                <a:tc>
                  <a:txBody>
                    <a:bodyPr/>
                    <a:lstStyle/>
                    <a:p>
                      <a:r>
                        <a:rPr lang="nl-NL" sz="2400" dirty="0">
                          <a:latin typeface="Consolas" panose="020B0609020204030204" pitchFamily="49" charset="0"/>
                        </a:rPr>
                        <a:t>42</a:t>
                      </a:r>
                    </a:p>
                  </a:txBody>
                  <a:tcPr marL="74295" marR="74295" marT="37148" marB="37148" anchor="ctr"/>
                </a:tc>
                <a:extLst>
                  <a:ext uri="{0D108BD9-81ED-4DB2-BD59-A6C34878D82A}">
                    <a16:rowId xmlns:a16="http://schemas.microsoft.com/office/drawing/2014/main" val="2814315705"/>
                  </a:ext>
                </a:extLst>
              </a:tr>
              <a:tr h="611965">
                <a:tc>
                  <a:txBody>
                    <a:bodyPr/>
                    <a:lstStyle/>
                    <a:p>
                      <a:r>
                        <a:rPr lang="nl-NL" sz="2400" dirty="0">
                          <a:latin typeface="Consolas" panose="020B0609020204030204" pitchFamily="49" charset="0"/>
                        </a:rPr>
                        <a:t>double</a:t>
                      </a:r>
                    </a:p>
                  </a:txBody>
                  <a:tcPr marL="74295" marR="74295" marT="37148" marB="37148" anchor="ctr"/>
                </a:tc>
                <a:tc>
                  <a:txBody>
                    <a:bodyPr/>
                    <a:lstStyle/>
                    <a:p>
                      <a:r>
                        <a:rPr lang="nl-NL" sz="2400" dirty="0">
                          <a:latin typeface="Consolas" panose="020B0609020204030204" pitchFamily="49" charset="0"/>
                        </a:rPr>
                        <a:t>Komma getallen</a:t>
                      </a:r>
                    </a:p>
                  </a:txBody>
                  <a:tcPr marL="74295" marR="74295" marT="37148" marB="37148" anchor="ctr"/>
                </a:tc>
                <a:tc>
                  <a:txBody>
                    <a:bodyPr/>
                    <a:lstStyle/>
                    <a:p>
                      <a:r>
                        <a:rPr lang="nl-NL" sz="2400" dirty="0">
                          <a:latin typeface="Consolas" panose="020B0609020204030204" pitchFamily="49" charset="0"/>
                        </a:rPr>
                        <a:t>3.1415 óf 3.1415d</a:t>
                      </a:r>
                    </a:p>
                  </a:txBody>
                  <a:tcPr marL="74295" marR="74295" marT="37148" marB="37148" anchor="ctr"/>
                </a:tc>
                <a:extLst>
                  <a:ext uri="{0D108BD9-81ED-4DB2-BD59-A6C34878D82A}">
                    <a16:rowId xmlns:a16="http://schemas.microsoft.com/office/drawing/2014/main" val="4075287466"/>
                  </a:ext>
                </a:extLst>
              </a:tr>
              <a:tr h="468035">
                <a:tc>
                  <a:txBody>
                    <a:bodyPr/>
                    <a:lstStyle/>
                    <a:p>
                      <a:r>
                        <a:rPr lang="nl-NL" sz="2400" dirty="0" err="1">
                          <a:latin typeface="Consolas" panose="020B0609020204030204" pitchFamily="49" charset="0"/>
                        </a:rPr>
                        <a:t>bool</a:t>
                      </a:r>
                      <a:endParaRPr lang="nl-NL" sz="2400" dirty="0">
                        <a:latin typeface="Consolas" panose="020B0609020204030204" pitchFamily="49" charset="0"/>
                      </a:endParaRPr>
                    </a:p>
                  </a:txBody>
                  <a:tcPr marL="74295" marR="74295" marT="37148" marB="37148" anchor="ctr"/>
                </a:tc>
                <a:tc>
                  <a:txBody>
                    <a:bodyPr/>
                    <a:lstStyle/>
                    <a:p>
                      <a:r>
                        <a:rPr lang="nl-NL" sz="2400" dirty="0">
                          <a:latin typeface="Consolas" panose="020B0609020204030204" pitchFamily="49" charset="0"/>
                        </a:rPr>
                        <a:t>Waar/niet waar</a:t>
                      </a:r>
                    </a:p>
                  </a:txBody>
                  <a:tcPr marL="74295" marR="74295" marT="37148" marB="37148" anchor="ctr"/>
                </a:tc>
                <a:tc>
                  <a:txBody>
                    <a:bodyPr/>
                    <a:lstStyle/>
                    <a:p>
                      <a:r>
                        <a:rPr lang="nl-NL" sz="2400" dirty="0">
                          <a:latin typeface="Consolas" panose="020B0609020204030204" pitchFamily="49" charset="0"/>
                        </a:rPr>
                        <a:t>True</a:t>
                      </a:r>
                    </a:p>
                  </a:txBody>
                  <a:tcPr marL="74295" marR="74295" marT="37148" marB="37148" anchor="ctr"/>
                </a:tc>
                <a:extLst>
                  <a:ext uri="{0D108BD9-81ED-4DB2-BD59-A6C34878D82A}">
                    <a16:rowId xmlns:a16="http://schemas.microsoft.com/office/drawing/2014/main" val="4018526989"/>
                  </a:ext>
                </a:extLst>
              </a:tr>
              <a:tr h="611965">
                <a:tc>
                  <a:txBody>
                    <a:bodyPr/>
                    <a:lstStyle/>
                    <a:p>
                      <a:r>
                        <a:rPr lang="nl-NL" sz="2400" dirty="0" err="1">
                          <a:latin typeface="Consolas" panose="020B0609020204030204" pitchFamily="49" charset="0"/>
                        </a:rPr>
                        <a:t>DateTime</a:t>
                      </a:r>
                      <a:endParaRPr lang="nl-NL" sz="2400" dirty="0">
                        <a:latin typeface="Consolas" panose="020B0609020204030204" pitchFamily="49" charset="0"/>
                      </a:endParaRPr>
                    </a:p>
                  </a:txBody>
                  <a:tcPr marL="74295" marR="74295" marT="37148" marB="37148" anchor="ctr"/>
                </a:tc>
                <a:tc>
                  <a:txBody>
                    <a:bodyPr/>
                    <a:lstStyle/>
                    <a:p>
                      <a:r>
                        <a:rPr lang="nl-NL" sz="2400" dirty="0">
                          <a:latin typeface="Consolas" panose="020B0609020204030204" pitchFamily="49" charset="0"/>
                        </a:rPr>
                        <a:t>Datums en tijden</a:t>
                      </a:r>
                    </a:p>
                  </a:txBody>
                  <a:tcPr marL="74295" marR="74295" marT="37148" marB="37148" anchor="ctr"/>
                </a:tc>
                <a:tc>
                  <a:txBody>
                    <a:bodyPr/>
                    <a:lstStyle/>
                    <a:p>
                      <a:r>
                        <a:rPr lang="nl-NL" sz="2400" dirty="0">
                          <a:latin typeface="Consolas" panose="020B0609020204030204" pitchFamily="49" charset="0"/>
                        </a:rPr>
                        <a:t>14-4-2021 11:04:34</a:t>
                      </a:r>
                    </a:p>
                  </a:txBody>
                  <a:tcPr marL="74295" marR="74295" marT="37148" marB="37148" anchor="ctr"/>
                </a:tc>
                <a:extLst>
                  <a:ext uri="{0D108BD9-81ED-4DB2-BD59-A6C34878D82A}">
                    <a16:rowId xmlns:a16="http://schemas.microsoft.com/office/drawing/2014/main" val="3479234661"/>
                  </a:ext>
                </a:extLst>
              </a:tr>
            </a:tbl>
          </a:graphicData>
        </a:graphic>
      </p:graphicFrame>
    </p:spTree>
    <p:extLst>
      <p:ext uri="{BB962C8B-B14F-4D97-AF65-F5344CB8AC3E}">
        <p14:creationId xmlns:p14="http://schemas.microsoft.com/office/powerpoint/2010/main" val="274241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61B7127-D5C6-4817-9C8B-A969F9B5B3B8}"/>
              </a:ext>
            </a:extLst>
          </p:cNvPr>
          <p:cNvSpPr>
            <a:spLocks noGrp="1"/>
          </p:cNvSpPr>
          <p:nvPr>
            <p:ph type="title"/>
          </p:nvPr>
        </p:nvSpPr>
        <p:spPr/>
        <p:txBody>
          <a:bodyPr/>
          <a:lstStyle/>
          <a:p>
            <a:r>
              <a:rPr lang="nl-NL" dirty="0"/>
              <a:t>03. </a:t>
            </a:r>
            <a:r>
              <a:rPr lang="nl-NL" sz="5400" dirty="0"/>
              <a:t>Datatypes</a:t>
            </a:r>
            <a:endParaRPr lang="nl-NL" dirty="0"/>
          </a:p>
        </p:txBody>
      </p:sp>
      <p:sp>
        <p:nvSpPr>
          <p:cNvPr id="4" name="Tijdelijke aanduiding voor datum 3">
            <a:extLst>
              <a:ext uri="{FF2B5EF4-FFF2-40B4-BE49-F238E27FC236}">
                <a16:creationId xmlns:a16="http://schemas.microsoft.com/office/drawing/2014/main" id="{C4E78B33-13B1-4851-BFE0-3C5CA156C89A}"/>
              </a:ext>
            </a:extLst>
          </p:cNvPr>
          <p:cNvSpPr>
            <a:spLocks noGrp="1"/>
          </p:cNvSpPr>
          <p:nvPr>
            <p:ph type="dt" sz="half" idx="10"/>
          </p:nvPr>
        </p:nvSpPr>
        <p:spPr/>
        <p:txBody>
          <a:bodyPr/>
          <a:lstStyle/>
          <a:p>
            <a:r>
              <a:rPr lang="nl-NL"/>
              <a:t>1 november 2019</a:t>
            </a:r>
            <a:endParaRPr lang="nl-NL" dirty="0"/>
          </a:p>
        </p:txBody>
      </p:sp>
      <p:sp>
        <p:nvSpPr>
          <p:cNvPr id="2" name="Tijdelijke aanduiding voor voettekst 1">
            <a:extLst>
              <a:ext uri="{FF2B5EF4-FFF2-40B4-BE49-F238E27FC236}">
                <a16:creationId xmlns:a16="http://schemas.microsoft.com/office/drawing/2014/main" id="{518D9F7C-47F2-45C8-A356-20B1908045FE}"/>
              </a:ext>
            </a:extLst>
          </p:cNvPr>
          <p:cNvSpPr>
            <a:spLocks noGrp="1"/>
          </p:cNvSpPr>
          <p:nvPr>
            <p:ph type="ftr" sz="quarter" idx="11"/>
          </p:nvPr>
        </p:nvSpPr>
        <p:spPr/>
        <p:txBody>
          <a:bodyPr/>
          <a:lstStyle/>
          <a:p>
            <a:endParaRPr lang="nl-NL"/>
          </a:p>
        </p:txBody>
      </p:sp>
      <p:sp>
        <p:nvSpPr>
          <p:cNvPr id="3" name="Tijdelijke aanduiding voor dianummer 2">
            <a:extLst>
              <a:ext uri="{FF2B5EF4-FFF2-40B4-BE49-F238E27FC236}">
                <a16:creationId xmlns:a16="http://schemas.microsoft.com/office/drawing/2014/main" id="{340E4A04-DBDA-44F1-B097-CB764AFD8552}"/>
              </a:ext>
            </a:extLst>
          </p:cNvPr>
          <p:cNvSpPr>
            <a:spLocks noGrp="1"/>
          </p:cNvSpPr>
          <p:nvPr>
            <p:ph type="sldNum" sz="quarter" idx="12"/>
          </p:nvPr>
        </p:nvSpPr>
        <p:spPr/>
        <p:txBody>
          <a:bodyPr/>
          <a:lstStyle/>
          <a:p>
            <a:fld id="{F42B3F14-D836-496B-80A2-23BE75BD68CB}" type="slidenum">
              <a:rPr lang="nl-NL" smtClean="0"/>
              <a:pPr/>
              <a:t>8</a:t>
            </a:fld>
            <a:endParaRPr lang="nl-NL" dirty="0"/>
          </a:p>
        </p:txBody>
      </p:sp>
      <p:pic>
        <p:nvPicPr>
          <p:cNvPr id="9" name="Afbeelding 8">
            <a:extLst>
              <a:ext uri="{FF2B5EF4-FFF2-40B4-BE49-F238E27FC236}">
                <a16:creationId xmlns:a16="http://schemas.microsoft.com/office/drawing/2014/main" id="{179208C8-3C0C-4F46-BBF1-D64466384F39}"/>
              </a:ext>
            </a:extLst>
          </p:cNvPr>
          <p:cNvPicPr>
            <a:picLocks noChangeAspect="1"/>
          </p:cNvPicPr>
          <p:nvPr/>
        </p:nvPicPr>
        <p:blipFill>
          <a:blip r:embed="rId3"/>
          <a:stretch>
            <a:fillRect/>
          </a:stretch>
        </p:blipFill>
        <p:spPr>
          <a:xfrm>
            <a:off x="406663" y="2581154"/>
            <a:ext cx="7099859" cy="676177"/>
          </a:xfrm>
          <a:prstGeom prst="rect">
            <a:avLst/>
          </a:prstGeom>
        </p:spPr>
      </p:pic>
      <p:sp>
        <p:nvSpPr>
          <p:cNvPr id="10" name="Tekstballon: rechthoek 9">
            <a:extLst>
              <a:ext uri="{FF2B5EF4-FFF2-40B4-BE49-F238E27FC236}">
                <a16:creationId xmlns:a16="http://schemas.microsoft.com/office/drawing/2014/main" id="{B527A8BF-159B-4476-91A3-64879897621A}"/>
              </a:ext>
            </a:extLst>
          </p:cNvPr>
          <p:cNvSpPr/>
          <p:nvPr/>
        </p:nvSpPr>
        <p:spPr>
          <a:xfrm>
            <a:off x="7969513" y="1954445"/>
            <a:ext cx="3682014" cy="1772603"/>
          </a:xfrm>
          <a:prstGeom prst="wedgeRectCallout">
            <a:avLst>
              <a:gd name="adj1" fmla="val -64618"/>
              <a:gd name="adj2" fmla="val 75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tx1"/>
                </a:solidFill>
              </a:rPr>
              <a:t>.</a:t>
            </a:r>
            <a:r>
              <a:rPr lang="nl-NL" sz="1600" b="1" dirty="0" err="1">
                <a:solidFill>
                  <a:schemeClr val="tx1"/>
                </a:solidFill>
              </a:rPr>
              <a:t>ToString</a:t>
            </a:r>
            <a:r>
              <a:rPr lang="nl-NL" sz="1600" b="1" dirty="0">
                <a:solidFill>
                  <a:schemeClr val="tx1"/>
                </a:solidFill>
              </a:rPr>
              <a:t> methode</a:t>
            </a:r>
          </a:p>
          <a:p>
            <a:pPr algn="ctr"/>
            <a:r>
              <a:rPr lang="nl-NL" sz="1600" dirty="0">
                <a:solidFill>
                  <a:schemeClr val="tx1"/>
                </a:solidFill>
              </a:rPr>
              <a:t>Om (bijv.) een getal of datum om te zetten in een string, gebruik je de .</a:t>
            </a:r>
            <a:r>
              <a:rPr lang="nl-NL" sz="1600" dirty="0" err="1">
                <a:solidFill>
                  <a:schemeClr val="tx1"/>
                </a:solidFill>
              </a:rPr>
              <a:t>ToString-method</a:t>
            </a:r>
            <a:r>
              <a:rPr lang="nl-NL" sz="1600" dirty="0">
                <a:solidFill>
                  <a:schemeClr val="tx1"/>
                </a:solidFill>
              </a:rPr>
              <a:t>. Dit werkt met alle datatypes.</a:t>
            </a:r>
          </a:p>
        </p:txBody>
      </p:sp>
      <p:pic>
        <p:nvPicPr>
          <p:cNvPr id="11" name="Afbeelding 10">
            <a:extLst>
              <a:ext uri="{FF2B5EF4-FFF2-40B4-BE49-F238E27FC236}">
                <a16:creationId xmlns:a16="http://schemas.microsoft.com/office/drawing/2014/main" id="{A97F68D0-9491-42B9-88AD-182A678E2582}"/>
              </a:ext>
            </a:extLst>
          </p:cNvPr>
          <p:cNvPicPr>
            <a:picLocks noChangeAspect="1"/>
          </p:cNvPicPr>
          <p:nvPr/>
        </p:nvPicPr>
        <p:blipFill>
          <a:blip r:embed="rId4"/>
          <a:stretch>
            <a:fillRect/>
          </a:stretch>
        </p:blipFill>
        <p:spPr>
          <a:xfrm>
            <a:off x="406663" y="3865635"/>
            <a:ext cx="10157770" cy="793176"/>
          </a:xfrm>
          <a:prstGeom prst="rect">
            <a:avLst/>
          </a:prstGeom>
        </p:spPr>
      </p:pic>
      <p:sp>
        <p:nvSpPr>
          <p:cNvPr id="12" name="Tekstballon: rechthoek 11">
            <a:extLst>
              <a:ext uri="{FF2B5EF4-FFF2-40B4-BE49-F238E27FC236}">
                <a16:creationId xmlns:a16="http://schemas.microsoft.com/office/drawing/2014/main" id="{7B175ED9-63C9-4078-A7E1-01D83A7A0FE2}"/>
              </a:ext>
            </a:extLst>
          </p:cNvPr>
          <p:cNvSpPr/>
          <p:nvPr/>
        </p:nvSpPr>
        <p:spPr>
          <a:xfrm>
            <a:off x="406663" y="4903555"/>
            <a:ext cx="11244864" cy="846239"/>
          </a:xfrm>
          <a:prstGeom prst="wedgeRectCallout">
            <a:avLst>
              <a:gd name="adj1" fmla="val 21313"/>
              <a:gd name="adj2" fmla="val -854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a:t>
            </a:r>
            <a:r>
              <a:rPr lang="nl-NL" sz="1463" b="1" dirty="0" err="1">
                <a:solidFill>
                  <a:schemeClr val="tx1"/>
                </a:solidFill>
              </a:rPr>
              <a:t>ToString</a:t>
            </a:r>
            <a:r>
              <a:rPr lang="nl-NL" sz="1463" b="1" dirty="0">
                <a:solidFill>
                  <a:schemeClr val="tx1"/>
                </a:solidFill>
              </a:rPr>
              <a:t> format</a:t>
            </a:r>
          </a:p>
          <a:p>
            <a:pPr algn="ctr"/>
            <a:r>
              <a:rPr lang="nl-NL" sz="1463" dirty="0">
                <a:solidFill>
                  <a:schemeClr val="tx1"/>
                </a:solidFill>
              </a:rPr>
              <a:t>Je kunt opgeven in welk formaat de .</a:t>
            </a:r>
            <a:r>
              <a:rPr lang="nl-NL" sz="1463" dirty="0" err="1">
                <a:solidFill>
                  <a:schemeClr val="tx1"/>
                </a:solidFill>
              </a:rPr>
              <a:t>ToString</a:t>
            </a:r>
            <a:r>
              <a:rPr lang="nl-NL" sz="1463" dirty="0">
                <a:solidFill>
                  <a:schemeClr val="tx1"/>
                </a:solidFill>
              </a:rPr>
              <a:t>-methode de tekst moet zetten; hier zie je hoe een </a:t>
            </a:r>
            <a:r>
              <a:rPr lang="nl-NL" sz="1463" dirty="0" err="1">
                <a:solidFill>
                  <a:schemeClr val="tx1"/>
                </a:solidFill>
              </a:rPr>
              <a:t>DateTime</a:t>
            </a:r>
            <a:r>
              <a:rPr lang="nl-NL" sz="1463" dirty="0">
                <a:solidFill>
                  <a:schemeClr val="tx1"/>
                </a:solidFill>
              </a:rPr>
              <a:t>-object wordt getoond in het Nederlandse datum-formaat.</a:t>
            </a:r>
          </a:p>
        </p:txBody>
      </p:sp>
      <p:sp>
        <p:nvSpPr>
          <p:cNvPr id="15" name="Tijdelijke aanduiding voor inhoud 7">
            <a:extLst>
              <a:ext uri="{FF2B5EF4-FFF2-40B4-BE49-F238E27FC236}">
                <a16:creationId xmlns:a16="http://schemas.microsoft.com/office/drawing/2014/main" id="{16BC6563-9B8E-465F-8C28-0DD438096018}"/>
              </a:ext>
            </a:extLst>
          </p:cNvPr>
          <p:cNvSpPr txBox="1">
            <a:spLocks/>
          </p:cNvSpPr>
          <p:nvPr/>
        </p:nvSpPr>
        <p:spPr>
          <a:xfrm>
            <a:off x="323999" y="1008000"/>
            <a:ext cx="11227534" cy="1191190"/>
          </a:xfrm>
          <a:prstGeom prst="rect">
            <a:avLst/>
          </a:prstGeom>
        </p:spPr>
        <p:txBody>
          <a:bodyPr numCol="1"/>
          <a:lstStyle>
            <a:lvl1pPr marL="0" indent="0" algn="l" defTabSz="914400" rtl="0" eaLnBrk="1" latinLnBrk="0" hangingPunct="1">
              <a:lnSpc>
                <a:spcPct val="100000"/>
              </a:lnSpc>
              <a:spcBef>
                <a:spcPts val="0"/>
              </a:spcBef>
              <a:buFont typeface="Arial" panose="020B0604020202020204" pitchFamily="34" charset="0"/>
              <a:buNone/>
              <a:defRPr sz="2200" kern="1200">
                <a:solidFill>
                  <a:schemeClr val="tx2"/>
                </a:solidFill>
                <a:latin typeface="Arial" panose="020B0604020202020204" pitchFamily="34" charset="0"/>
                <a:ea typeface="+mn-ea"/>
                <a:cs typeface="Arial" panose="020B0604020202020204" pitchFamily="34" charset="0"/>
              </a:defRPr>
            </a:lvl1pPr>
            <a:lvl2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2"/>
                </a:solidFill>
                <a:latin typeface="Arial" panose="020B0604020202020204" pitchFamily="34" charset="0"/>
                <a:ea typeface="+mn-ea"/>
                <a:cs typeface="Arial" panose="020B0604020202020204" pitchFamily="34" charset="0"/>
              </a:defRPr>
            </a:lvl2pPr>
            <a:lvl3pPr marL="594900" indent="-342900" algn="l" defTabSz="914400" rtl="0" eaLnBrk="1" latinLnBrk="0" hangingPunct="1">
              <a:lnSpc>
                <a:spcPct val="100000"/>
              </a:lnSpc>
              <a:spcBef>
                <a:spcPts val="0"/>
              </a:spcBef>
              <a:buFont typeface="Arial" panose="020B0604020202020204" pitchFamily="34" charset="0"/>
              <a:buChar char="•"/>
              <a:defRPr sz="2200" b="0" kern="1200">
                <a:solidFill>
                  <a:schemeClr val="tx2"/>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0"/>
              </a:spcBef>
              <a:buFont typeface="Arial" panose="020B0604020202020204" pitchFamily="34" charset="0"/>
              <a:buNone/>
              <a:defRPr sz="3000" b="1" kern="1200">
                <a:solidFill>
                  <a:schemeClr val="tx2"/>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5pPr>
            <a:lvl6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9pPr>
          </a:lstStyle>
          <a:p>
            <a:pPr marL="0" lvl="1" indent="0">
              <a:lnSpc>
                <a:spcPct val="150000"/>
              </a:lnSpc>
              <a:buFont typeface="Arial" panose="020B0604020202020204" pitchFamily="34" charset="0"/>
              <a:buNone/>
            </a:pPr>
            <a:r>
              <a:rPr lang="nl-NL" sz="2000" i="1" dirty="0">
                <a:solidFill>
                  <a:schemeClr val="accent1"/>
                </a:solidFill>
              </a:rPr>
              <a:t>Soms wil je een datatype omzetten. Bijvoorbeeld een getal naar een string (om die te laten zien). Of de invoer van een gebruiker (string) naar een getal.</a:t>
            </a:r>
            <a:endParaRPr lang="nl-NL" sz="2800" dirty="0">
              <a:solidFill>
                <a:schemeClr val="accent1"/>
              </a:solidFill>
            </a:endParaRPr>
          </a:p>
        </p:txBody>
      </p:sp>
    </p:spTree>
    <p:extLst>
      <p:ext uri="{BB962C8B-B14F-4D97-AF65-F5344CB8AC3E}">
        <p14:creationId xmlns:p14="http://schemas.microsoft.com/office/powerpoint/2010/main" val="3284545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61B7127-D5C6-4817-9C8B-A969F9B5B3B8}"/>
              </a:ext>
            </a:extLst>
          </p:cNvPr>
          <p:cNvSpPr>
            <a:spLocks noGrp="1"/>
          </p:cNvSpPr>
          <p:nvPr>
            <p:ph type="title"/>
          </p:nvPr>
        </p:nvSpPr>
        <p:spPr/>
        <p:txBody>
          <a:bodyPr/>
          <a:lstStyle/>
          <a:p>
            <a:r>
              <a:rPr lang="nl-NL" dirty="0"/>
              <a:t>03. </a:t>
            </a:r>
            <a:r>
              <a:rPr lang="nl-NL" sz="5400" dirty="0"/>
              <a:t>Datatypes</a:t>
            </a:r>
            <a:endParaRPr lang="nl-NL" dirty="0"/>
          </a:p>
        </p:txBody>
      </p:sp>
      <p:sp>
        <p:nvSpPr>
          <p:cNvPr id="4" name="Tijdelijke aanduiding voor datum 3">
            <a:extLst>
              <a:ext uri="{FF2B5EF4-FFF2-40B4-BE49-F238E27FC236}">
                <a16:creationId xmlns:a16="http://schemas.microsoft.com/office/drawing/2014/main" id="{C4E78B33-13B1-4851-BFE0-3C5CA156C89A}"/>
              </a:ext>
            </a:extLst>
          </p:cNvPr>
          <p:cNvSpPr>
            <a:spLocks noGrp="1"/>
          </p:cNvSpPr>
          <p:nvPr>
            <p:ph type="dt" sz="half" idx="10"/>
          </p:nvPr>
        </p:nvSpPr>
        <p:spPr/>
        <p:txBody>
          <a:bodyPr/>
          <a:lstStyle/>
          <a:p>
            <a:r>
              <a:rPr lang="nl-NL"/>
              <a:t>1 november 2019</a:t>
            </a:r>
            <a:endParaRPr lang="nl-NL" dirty="0"/>
          </a:p>
        </p:txBody>
      </p:sp>
      <p:sp>
        <p:nvSpPr>
          <p:cNvPr id="2" name="Tijdelijke aanduiding voor voettekst 1">
            <a:extLst>
              <a:ext uri="{FF2B5EF4-FFF2-40B4-BE49-F238E27FC236}">
                <a16:creationId xmlns:a16="http://schemas.microsoft.com/office/drawing/2014/main" id="{518D9F7C-47F2-45C8-A356-20B1908045FE}"/>
              </a:ext>
            </a:extLst>
          </p:cNvPr>
          <p:cNvSpPr>
            <a:spLocks noGrp="1"/>
          </p:cNvSpPr>
          <p:nvPr>
            <p:ph type="ftr" sz="quarter" idx="11"/>
          </p:nvPr>
        </p:nvSpPr>
        <p:spPr/>
        <p:txBody>
          <a:bodyPr/>
          <a:lstStyle/>
          <a:p>
            <a:endParaRPr lang="nl-NL"/>
          </a:p>
        </p:txBody>
      </p:sp>
      <p:sp>
        <p:nvSpPr>
          <p:cNvPr id="3" name="Tijdelijke aanduiding voor dianummer 2">
            <a:extLst>
              <a:ext uri="{FF2B5EF4-FFF2-40B4-BE49-F238E27FC236}">
                <a16:creationId xmlns:a16="http://schemas.microsoft.com/office/drawing/2014/main" id="{340E4A04-DBDA-44F1-B097-CB764AFD8552}"/>
              </a:ext>
            </a:extLst>
          </p:cNvPr>
          <p:cNvSpPr>
            <a:spLocks noGrp="1"/>
          </p:cNvSpPr>
          <p:nvPr>
            <p:ph type="sldNum" sz="quarter" idx="12"/>
          </p:nvPr>
        </p:nvSpPr>
        <p:spPr/>
        <p:txBody>
          <a:bodyPr/>
          <a:lstStyle/>
          <a:p>
            <a:fld id="{F42B3F14-D836-496B-80A2-23BE75BD68CB}" type="slidenum">
              <a:rPr lang="nl-NL" smtClean="0"/>
              <a:pPr/>
              <a:t>9</a:t>
            </a:fld>
            <a:endParaRPr lang="nl-NL" dirty="0"/>
          </a:p>
        </p:txBody>
      </p:sp>
      <p:pic>
        <p:nvPicPr>
          <p:cNvPr id="13" name="Afbeelding 12">
            <a:extLst>
              <a:ext uri="{FF2B5EF4-FFF2-40B4-BE49-F238E27FC236}">
                <a16:creationId xmlns:a16="http://schemas.microsoft.com/office/drawing/2014/main" id="{5410B454-63EF-408A-B5D2-93C8B4E5F4BA}"/>
              </a:ext>
            </a:extLst>
          </p:cNvPr>
          <p:cNvPicPr>
            <a:picLocks noChangeAspect="1"/>
          </p:cNvPicPr>
          <p:nvPr/>
        </p:nvPicPr>
        <p:blipFill>
          <a:blip r:embed="rId3"/>
          <a:stretch>
            <a:fillRect/>
          </a:stretch>
        </p:blipFill>
        <p:spPr>
          <a:xfrm>
            <a:off x="3795571" y="1797767"/>
            <a:ext cx="4438650" cy="647700"/>
          </a:xfrm>
          <a:prstGeom prst="rect">
            <a:avLst/>
          </a:prstGeom>
        </p:spPr>
      </p:pic>
      <p:sp>
        <p:nvSpPr>
          <p:cNvPr id="14" name="Tekstballon: rechthoek 13">
            <a:extLst>
              <a:ext uri="{FF2B5EF4-FFF2-40B4-BE49-F238E27FC236}">
                <a16:creationId xmlns:a16="http://schemas.microsoft.com/office/drawing/2014/main" id="{04E56684-D9A2-469D-B040-F128F082B9FF}"/>
              </a:ext>
            </a:extLst>
          </p:cNvPr>
          <p:cNvSpPr/>
          <p:nvPr/>
        </p:nvSpPr>
        <p:spPr>
          <a:xfrm>
            <a:off x="1319514" y="2683870"/>
            <a:ext cx="8229600" cy="899570"/>
          </a:xfrm>
          <a:prstGeom prst="wedgeRectCallout">
            <a:avLst>
              <a:gd name="adj1" fmla="val 20296"/>
              <a:gd name="adj2" fmla="val -849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b="1" dirty="0">
                <a:solidFill>
                  <a:schemeClr val="tx1"/>
                </a:solidFill>
              </a:rPr>
              <a:t>Cast van int naar double</a:t>
            </a:r>
          </a:p>
          <a:p>
            <a:pPr algn="ctr"/>
            <a:r>
              <a:rPr lang="nl-NL" dirty="0">
                <a:solidFill>
                  <a:schemeClr val="tx1"/>
                </a:solidFill>
              </a:rPr>
              <a:t>Het casten van een int naar double veroorzaakt geen gegevensverlies</a:t>
            </a:r>
          </a:p>
        </p:txBody>
      </p:sp>
      <p:sp>
        <p:nvSpPr>
          <p:cNvPr id="15" name="Tijdelijke aanduiding voor inhoud 7">
            <a:extLst>
              <a:ext uri="{FF2B5EF4-FFF2-40B4-BE49-F238E27FC236}">
                <a16:creationId xmlns:a16="http://schemas.microsoft.com/office/drawing/2014/main" id="{16BC6563-9B8E-465F-8C28-0DD438096018}"/>
              </a:ext>
            </a:extLst>
          </p:cNvPr>
          <p:cNvSpPr txBox="1">
            <a:spLocks/>
          </p:cNvSpPr>
          <p:nvPr/>
        </p:nvSpPr>
        <p:spPr>
          <a:xfrm>
            <a:off x="323999" y="1008000"/>
            <a:ext cx="11227534" cy="1191190"/>
          </a:xfrm>
          <a:prstGeom prst="rect">
            <a:avLst/>
          </a:prstGeom>
        </p:spPr>
        <p:txBody>
          <a:bodyPr numCol="1"/>
          <a:lstStyle>
            <a:lvl1pPr marL="0" indent="0" algn="l" defTabSz="914400" rtl="0" eaLnBrk="1" latinLnBrk="0" hangingPunct="1">
              <a:lnSpc>
                <a:spcPct val="100000"/>
              </a:lnSpc>
              <a:spcBef>
                <a:spcPts val="0"/>
              </a:spcBef>
              <a:buFont typeface="Arial" panose="020B0604020202020204" pitchFamily="34" charset="0"/>
              <a:buNone/>
              <a:defRPr sz="2200" kern="1200">
                <a:solidFill>
                  <a:schemeClr val="tx2"/>
                </a:solidFill>
                <a:latin typeface="Arial" panose="020B0604020202020204" pitchFamily="34" charset="0"/>
                <a:ea typeface="+mn-ea"/>
                <a:cs typeface="Arial" panose="020B0604020202020204" pitchFamily="34" charset="0"/>
              </a:defRPr>
            </a:lvl1pPr>
            <a:lvl2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2"/>
                </a:solidFill>
                <a:latin typeface="Arial" panose="020B0604020202020204" pitchFamily="34" charset="0"/>
                <a:ea typeface="+mn-ea"/>
                <a:cs typeface="Arial" panose="020B0604020202020204" pitchFamily="34" charset="0"/>
              </a:defRPr>
            </a:lvl2pPr>
            <a:lvl3pPr marL="594900" indent="-342900" algn="l" defTabSz="914400" rtl="0" eaLnBrk="1" latinLnBrk="0" hangingPunct="1">
              <a:lnSpc>
                <a:spcPct val="100000"/>
              </a:lnSpc>
              <a:spcBef>
                <a:spcPts val="0"/>
              </a:spcBef>
              <a:buFont typeface="Arial" panose="020B0604020202020204" pitchFamily="34" charset="0"/>
              <a:buChar char="•"/>
              <a:defRPr sz="2200" b="0" kern="1200">
                <a:solidFill>
                  <a:schemeClr val="tx2"/>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0"/>
              </a:spcBef>
              <a:buFont typeface="Arial" panose="020B0604020202020204" pitchFamily="34" charset="0"/>
              <a:buNone/>
              <a:defRPr sz="3000" b="1" kern="1200">
                <a:solidFill>
                  <a:schemeClr val="tx2"/>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5pPr>
            <a:lvl6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9pPr>
          </a:lstStyle>
          <a:p>
            <a:pPr marL="0" lvl="1" indent="0">
              <a:lnSpc>
                <a:spcPct val="150000"/>
              </a:lnSpc>
              <a:buFont typeface="Arial" panose="020B0604020202020204" pitchFamily="34" charset="0"/>
              <a:buNone/>
            </a:pPr>
            <a:r>
              <a:rPr lang="nl-NL" sz="2000" i="1" dirty="0">
                <a:solidFill>
                  <a:schemeClr val="accent1"/>
                </a:solidFill>
              </a:rPr>
              <a:t>Getallen kun je “casten”. Dat wil zeggen dat je akkoord gaat met eventuele verloren data</a:t>
            </a:r>
            <a:endParaRPr lang="nl-NL" sz="2800" dirty="0">
              <a:solidFill>
                <a:schemeClr val="accent1"/>
              </a:solidFill>
            </a:endParaRPr>
          </a:p>
        </p:txBody>
      </p:sp>
      <p:pic>
        <p:nvPicPr>
          <p:cNvPr id="7" name="Afbeelding 6">
            <a:extLst>
              <a:ext uri="{FF2B5EF4-FFF2-40B4-BE49-F238E27FC236}">
                <a16:creationId xmlns:a16="http://schemas.microsoft.com/office/drawing/2014/main" id="{19E0BF61-AB87-4BEE-8F0C-AF1EA30279C4}"/>
              </a:ext>
            </a:extLst>
          </p:cNvPr>
          <p:cNvPicPr>
            <a:picLocks noChangeAspect="1"/>
          </p:cNvPicPr>
          <p:nvPr/>
        </p:nvPicPr>
        <p:blipFill>
          <a:blip r:embed="rId4"/>
          <a:stretch>
            <a:fillRect/>
          </a:stretch>
        </p:blipFill>
        <p:spPr>
          <a:xfrm>
            <a:off x="3795571" y="3844993"/>
            <a:ext cx="4363059" cy="790685"/>
          </a:xfrm>
          <a:prstGeom prst="rect">
            <a:avLst/>
          </a:prstGeom>
        </p:spPr>
      </p:pic>
      <p:sp>
        <p:nvSpPr>
          <p:cNvPr id="16" name="Tekstballon: rechthoek 15">
            <a:extLst>
              <a:ext uri="{FF2B5EF4-FFF2-40B4-BE49-F238E27FC236}">
                <a16:creationId xmlns:a16="http://schemas.microsoft.com/office/drawing/2014/main" id="{99F6E8E4-122A-4FC5-A6BB-F71049CC20D0}"/>
              </a:ext>
            </a:extLst>
          </p:cNvPr>
          <p:cNvSpPr/>
          <p:nvPr/>
        </p:nvSpPr>
        <p:spPr>
          <a:xfrm>
            <a:off x="1319514" y="5000968"/>
            <a:ext cx="8518967" cy="1191189"/>
          </a:xfrm>
          <a:prstGeom prst="wedgeRectCallout">
            <a:avLst>
              <a:gd name="adj1" fmla="val 20296"/>
              <a:gd name="adj2" fmla="val -849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b="1" dirty="0">
                <a:solidFill>
                  <a:schemeClr val="tx1"/>
                </a:solidFill>
              </a:rPr>
              <a:t>Cast van double naar int</a:t>
            </a:r>
          </a:p>
          <a:p>
            <a:pPr algn="ctr"/>
            <a:r>
              <a:rPr lang="nl-NL" dirty="0">
                <a:solidFill>
                  <a:schemeClr val="tx1"/>
                </a:solidFill>
              </a:rPr>
              <a:t>Hier verliezen we gegevens. Alles achter de komma valt weg want een int kan geen kommagetallen bevatten.</a:t>
            </a:r>
          </a:p>
        </p:txBody>
      </p:sp>
    </p:spTree>
    <p:extLst>
      <p:ext uri="{BB962C8B-B14F-4D97-AF65-F5344CB8AC3E}">
        <p14:creationId xmlns:p14="http://schemas.microsoft.com/office/powerpoint/2010/main" val="1775090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61B7127-D5C6-4817-9C8B-A969F9B5B3B8}"/>
              </a:ext>
            </a:extLst>
          </p:cNvPr>
          <p:cNvSpPr>
            <a:spLocks noGrp="1"/>
          </p:cNvSpPr>
          <p:nvPr>
            <p:ph type="title"/>
          </p:nvPr>
        </p:nvSpPr>
        <p:spPr/>
        <p:txBody>
          <a:bodyPr/>
          <a:lstStyle/>
          <a:p>
            <a:r>
              <a:rPr lang="nl-NL" dirty="0"/>
              <a:t>03. </a:t>
            </a:r>
            <a:r>
              <a:rPr lang="nl-NL" sz="5400" dirty="0"/>
              <a:t>Datatypes</a:t>
            </a:r>
            <a:endParaRPr lang="nl-NL" dirty="0"/>
          </a:p>
        </p:txBody>
      </p:sp>
      <p:sp>
        <p:nvSpPr>
          <p:cNvPr id="4" name="Tijdelijke aanduiding voor datum 3">
            <a:extLst>
              <a:ext uri="{FF2B5EF4-FFF2-40B4-BE49-F238E27FC236}">
                <a16:creationId xmlns:a16="http://schemas.microsoft.com/office/drawing/2014/main" id="{C4E78B33-13B1-4851-BFE0-3C5CA156C89A}"/>
              </a:ext>
            </a:extLst>
          </p:cNvPr>
          <p:cNvSpPr>
            <a:spLocks noGrp="1"/>
          </p:cNvSpPr>
          <p:nvPr>
            <p:ph type="dt" sz="half" idx="10"/>
          </p:nvPr>
        </p:nvSpPr>
        <p:spPr/>
        <p:txBody>
          <a:bodyPr/>
          <a:lstStyle/>
          <a:p>
            <a:r>
              <a:rPr lang="nl-NL"/>
              <a:t>1 november 2019</a:t>
            </a:r>
            <a:endParaRPr lang="nl-NL" dirty="0"/>
          </a:p>
        </p:txBody>
      </p:sp>
      <p:sp>
        <p:nvSpPr>
          <p:cNvPr id="2" name="Tijdelijke aanduiding voor voettekst 1">
            <a:extLst>
              <a:ext uri="{FF2B5EF4-FFF2-40B4-BE49-F238E27FC236}">
                <a16:creationId xmlns:a16="http://schemas.microsoft.com/office/drawing/2014/main" id="{518D9F7C-47F2-45C8-A356-20B1908045FE}"/>
              </a:ext>
            </a:extLst>
          </p:cNvPr>
          <p:cNvSpPr>
            <a:spLocks noGrp="1"/>
          </p:cNvSpPr>
          <p:nvPr>
            <p:ph type="ftr" sz="quarter" idx="11"/>
          </p:nvPr>
        </p:nvSpPr>
        <p:spPr/>
        <p:txBody>
          <a:bodyPr/>
          <a:lstStyle/>
          <a:p>
            <a:endParaRPr lang="nl-NL"/>
          </a:p>
        </p:txBody>
      </p:sp>
      <p:pic>
        <p:nvPicPr>
          <p:cNvPr id="16" name="Afbeelding 15">
            <a:extLst>
              <a:ext uri="{FF2B5EF4-FFF2-40B4-BE49-F238E27FC236}">
                <a16:creationId xmlns:a16="http://schemas.microsoft.com/office/drawing/2014/main" id="{D60A5E0B-656C-47F8-BCCC-C835BDFE050E}"/>
              </a:ext>
            </a:extLst>
          </p:cNvPr>
          <p:cNvPicPr>
            <a:picLocks noChangeAspect="1"/>
          </p:cNvPicPr>
          <p:nvPr/>
        </p:nvPicPr>
        <p:blipFill>
          <a:blip r:embed="rId3"/>
          <a:stretch>
            <a:fillRect/>
          </a:stretch>
        </p:blipFill>
        <p:spPr>
          <a:xfrm>
            <a:off x="2376953" y="1863818"/>
            <a:ext cx="7438093" cy="1144322"/>
          </a:xfrm>
          <a:prstGeom prst="rect">
            <a:avLst/>
          </a:prstGeom>
        </p:spPr>
      </p:pic>
      <p:sp>
        <p:nvSpPr>
          <p:cNvPr id="17" name="Tekstballon: rechthoek 16">
            <a:extLst>
              <a:ext uri="{FF2B5EF4-FFF2-40B4-BE49-F238E27FC236}">
                <a16:creationId xmlns:a16="http://schemas.microsoft.com/office/drawing/2014/main" id="{767FC2F0-01B9-44D9-92D9-5058FD78CB1A}"/>
              </a:ext>
            </a:extLst>
          </p:cNvPr>
          <p:cNvSpPr/>
          <p:nvPr/>
        </p:nvSpPr>
        <p:spPr>
          <a:xfrm>
            <a:off x="2847372" y="3139928"/>
            <a:ext cx="6159087" cy="2253875"/>
          </a:xfrm>
          <a:prstGeom prst="wedgeRectCallout">
            <a:avLst>
              <a:gd name="adj1" fmla="val 19755"/>
              <a:gd name="adj2" fmla="val -615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2000" b="1" dirty="0" err="1">
                <a:solidFill>
                  <a:schemeClr val="tx1"/>
                </a:solidFill>
              </a:rPr>
              <a:t>Parse</a:t>
            </a:r>
            <a:endParaRPr lang="nl-NL" sz="2000" b="1" dirty="0">
              <a:solidFill>
                <a:schemeClr val="tx1"/>
              </a:solidFill>
            </a:endParaRPr>
          </a:p>
          <a:p>
            <a:pPr algn="ctr"/>
            <a:r>
              <a:rPr lang="nl-NL" sz="2000" dirty="0">
                <a:solidFill>
                  <a:schemeClr val="tx1"/>
                </a:solidFill>
              </a:rPr>
              <a:t>Om een tekst om te zetten in een getal, gebruik je de .</a:t>
            </a:r>
            <a:r>
              <a:rPr lang="nl-NL" sz="2000" dirty="0" err="1">
                <a:solidFill>
                  <a:schemeClr val="tx1"/>
                </a:solidFill>
              </a:rPr>
              <a:t>Parse</a:t>
            </a:r>
            <a:r>
              <a:rPr lang="nl-NL" sz="2000" dirty="0">
                <a:solidFill>
                  <a:schemeClr val="tx1"/>
                </a:solidFill>
              </a:rPr>
              <a:t>-methode van dat datatype (hier bijv. van de int). Wanneer het omzetten niet lukt, geeft dit een fatale foutmelding.</a:t>
            </a:r>
          </a:p>
        </p:txBody>
      </p:sp>
    </p:spTree>
    <p:extLst>
      <p:ext uri="{BB962C8B-B14F-4D97-AF65-F5344CB8AC3E}">
        <p14:creationId xmlns:p14="http://schemas.microsoft.com/office/powerpoint/2010/main" val="653273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61B7127-D5C6-4817-9C8B-A969F9B5B3B8}"/>
              </a:ext>
            </a:extLst>
          </p:cNvPr>
          <p:cNvSpPr>
            <a:spLocks noGrp="1"/>
          </p:cNvSpPr>
          <p:nvPr>
            <p:ph type="title"/>
          </p:nvPr>
        </p:nvSpPr>
        <p:spPr/>
        <p:txBody>
          <a:bodyPr/>
          <a:lstStyle/>
          <a:p>
            <a:r>
              <a:rPr lang="nl-NL" dirty="0"/>
              <a:t>03. </a:t>
            </a:r>
            <a:r>
              <a:rPr lang="nl-NL" sz="5400" dirty="0"/>
              <a:t>Datatypes</a:t>
            </a:r>
            <a:endParaRPr lang="nl-NL" dirty="0"/>
          </a:p>
        </p:txBody>
      </p:sp>
      <p:sp>
        <p:nvSpPr>
          <p:cNvPr id="4" name="Tijdelijke aanduiding voor datum 3">
            <a:extLst>
              <a:ext uri="{FF2B5EF4-FFF2-40B4-BE49-F238E27FC236}">
                <a16:creationId xmlns:a16="http://schemas.microsoft.com/office/drawing/2014/main" id="{C4E78B33-13B1-4851-BFE0-3C5CA156C89A}"/>
              </a:ext>
            </a:extLst>
          </p:cNvPr>
          <p:cNvSpPr>
            <a:spLocks noGrp="1"/>
          </p:cNvSpPr>
          <p:nvPr>
            <p:ph type="dt" sz="half" idx="10"/>
          </p:nvPr>
        </p:nvSpPr>
        <p:spPr/>
        <p:txBody>
          <a:bodyPr/>
          <a:lstStyle/>
          <a:p>
            <a:r>
              <a:rPr lang="nl-NL"/>
              <a:t>1 november 2019</a:t>
            </a:r>
            <a:endParaRPr lang="nl-NL" dirty="0"/>
          </a:p>
        </p:txBody>
      </p:sp>
      <p:sp>
        <p:nvSpPr>
          <p:cNvPr id="2" name="Tijdelijke aanduiding voor voettekst 1">
            <a:extLst>
              <a:ext uri="{FF2B5EF4-FFF2-40B4-BE49-F238E27FC236}">
                <a16:creationId xmlns:a16="http://schemas.microsoft.com/office/drawing/2014/main" id="{518D9F7C-47F2-45C8-A356-20B1908045FE}"/>
              </a:ext>
            </a:extLst>
          </p:cNvPr>
          <p:cNvSpPr>
            <a:spLocks noGrp="1"/>
          </p:cNvSpPr>
          <p:nvPr>
            <p:ph type="ftr" sz="quarter" idx="11"/>
          </p:nvPr>
        </p:nvSpPr>
        <p:spPr/>
        <p:txBody>
          <a:bodyPr/>
          <a:lstStyle/>
          <a:p>
            <a:endParaRPr lang="nl-NL"/>
          </a:p>
        </p:txBody>
      </p:sp>
      <p:pic>
        <p:nvPicPr>
          <p:cNvPr id="18" name="Afbeelding 17">
            <a:extLst>
              <a:ext uri="{FF2B5EF4-FFF2-40B4-BE49-F238E27FC236}">
                <a16:creationId xmlns:a16="http://schemas.microsoft.com/office/drawing/2014/main" id="{52384B37-504A-40D9-A78B-C814FD7B6D3E}"/>
              </a:ext>
            </a:extLst>
          </p:cNvPr>
          <p:cNvPicPr>
            <a:picLocks noChangeAspect="1"/>
          </p:cNvPicPr>
          <p:nvPr/>
        </p:nvPicPr>
        <p:blipFill>
          <a:blip r:embed="rId3"/>
          <a:stretch>
            <a:fillRect/>
          </a:stretch>
        </p:blipFill>
        <p:spPr>
          <a:xfrm>
            <a:off x="3110984" y="2518377"/>
            <a:ext cx="8733016" cy="3619677"/>
          </a:xfrm>
          <a:prstGeom prst="rect">
            <a:avLst/>
          </a:prstGeom>
        </p:spPr>
      </p:pic>
      <p:sp>
        <p:nvSpPr>
          <p:cNvPr id="19" name="Tekstballon: rechthoek 18">
            <a:extLst>
              <a:ext uri="{FF2B5EF4-FFF2-40B4-BE49-F238E27FC236}">
                <a16:creationId xmlns:a16="http://schemas.microsoft.com/office/drawing/2014/main" id="{FFF90CA2-CDB7-4486-B49D-ED9D52C41801}"/>
              </a:ext>
            </a:extLst>
          </p:cNvPr>
          <p:cNvSpPr/>
          <p:nvPr/>
        </p:nvSpPr>
        <p:spPr>
          <a:xfrm>
            <a:off x="324000" y="2112381"/>
            <a:ext cx="2488648" cy="4137948"/>
          </a:xfrm>
          <a:prstGeom prst="wedgeRectCallout">
            <a:avLst>
              <a:gd name="adj1" fmla="val 62472"/>
              <a:gd name="adj2" fmla="val -208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b="1" dirty="0" err="1">
                <a:solidFill>
                  <a:schemeClr val="tx1"/>
                </a:solidFill>
              </a:rPr>
              <a:t>TryParse</a:t>
            </a:r>
            <a:endParaRPr lang="nl-NL" b="1" dirty="0">
              <a:solidFill>
                <a:schemeClr val="tx1"/>
              </a:solidFill>
            </a:endParaRPr>
          </a:p>
          <a:p>
            <a:pPr algn="ctr"/>
            <a:r>
              <a:rPr lang="nl-NL" dirty="0">
                <a:solidFill>
                  <a:schemeClr val="tx1"/>
                </a:solidFill>
              </a:rPr>
              <a:t>Je kunt ook </a:t>
            </a:r>
            <a:r>
              <a:rPr lang="nl-NL" dirty="0" err="1">
                <a:solidFill>
                  <a:schemeClr val="tx1"/>
                </a:solidFill>
              </a:rPr>
              <a:t>TryParse</a:t>
            </a:r>
            <a:r>
              <a:rPr lang="nl-NL" dirty="0">
                <a:solidFill>
                  <a:schemeClr val="tx1"/>
                </a:solidFill>
              </a:rPr>
              <a:t> gebruiken; dit zet ook een stuk tekst om in een getal, maar geeft alleen een BOOL terug om aan te geven of het parsen gelukt is. Hierdoor kun je een </a:t>
            </a:r>
            <a:r>
              <a:rPr lang="nl-NL" dirty="0" err="1">
                <a:solidFill>
                  <a:schemeClr val="tx1"/>
                </a:solidFill>
              </a:rPr>
              <a:t>TryParse</a:t>
            </a:r>
            <a:r>
              <a:rPr lang="nl-NL" dirty="0">
                <a:solidFill>
                  <a:schemeClr val="tx1"/>
                </a:solidFill>
              </a:rPr>
              <a:t> gebruiken in een </a:t>
            </a:r>
            <a:r>
              <a:rPr lang="nl-NL" dirty="0" err="1">
                <a:solidFill>
                  <a:schemeClr val="tx1"/>
                </a:solidFill>
              </a:rPr>
              <a:t>if</a:t>
            </a:r>
            <a:r>
              <a:rPr lang="nl-NL" dirty="0">
                <a:solidFill>
                  <a:schemeClr val="tx1"/>
                </a:solidFill>
              </a:rPr>
              <a:t>-statement of </a:t>
            </a:r>
            <a:r>
              <a:rPr lang="nl-NL" dirty="0" err="1">
                <a:solidFill>
                  <a:schemeClr val="tx1"/>
                </a:solidFill>
              </a:rPr>
              <a:t>while</a:t>
            </a:r>
            <a:r>
              <a:rPr lang="nl-NL" dirty="0">
                <a:solidFill>
                  <a:schemeClr val="tx1"/>
                </a:solidFill>
              </a:rPr>
              <a:t>-loop.</a:t>
            </a:r>
          </a:p>
        </p:txBody>
      </p:sp>
      <p:sp>
        <p:nvSpPr>
          <p:cNvPr id="20" name="Tekstballon: rechthoek 19">
            <a:extLst>
              <a:ext uri="{FF2B5EF4-FFF2-40B4-BE49-F238E27FC236}">
                <a16:creationId xmlns:a16="http://schemas.microsoft.com/office/drawing/2014/main" id="{32297C95-0545-4521-8A99-6364E61316B2}"/>
              </a:ext>
            </a:extLst>
          </p:cNvPr>
          <p:cNvSpPr/>
          <p:nvPr/>
        </p:nvSpPr>
        <p:spPr>
          <a:xfrm>
            <a:off x="6395259" y="459276"/>
            <a:ext cx="2164465" cy="1529447"/>
          </a:xfrm>
          <a:prstGeom prst="wedgeRectCallout">
            <a:avLst>
              <a:gd name="adj1" fmla="val -27215"/>
              <a:gd name="adj2" fmla="val 12589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tx1"/>
                </a:solidFill>
              </a:rPr>
              <a:t>Waarde</a:t>
            </a:r>
          </a:p>
          <a:p>
            <a:pPr algn="ctr"/>
            <a:r>
              <a:rPr lang="nl-NL" sz="1600" dirty="0">
                <a:solidFill>
                  <a:schemeClr val="tx1"/>
                </a:solidFill>
              </a:rPr>
              <a:t>De eerste parameter van de </a:t>
            </a:r>
            <a:r>
              <a:rPr lang="nl-NL" sz="1600" dirty="0" err="1">
                <a:solidFill>
                  <a:schemeClr val="tx1"/>
                </a:solidFill>
              </a:rPr>
              <a:t>TryParse</a:t>
            </a:r>
            <a:r>
              <a:rPr lang="nl-NL" sz="1600" dirty="0">
                <a:solidFill>
                  <a:schemeClr val="tx1"/>
                </a:solidFill>
              </a:rPr>
              <a:t> is de waarde die je om wilt zetten</a:t>
            </a:r>
          </a:p>
        </p:txBody>
      </p:sp>
      <p:sp>
        <p:nvSpPr>
          <p:cNvPr id="21" name="Tekstballon: rechthoek 20">
            <a:extLst>
              <a:ext uri="{FF2B5EF4-FFF2-40B4-BE49-F238E27FC236}">
                <a16:creationId xmlns:a16="http://schemas.microsoft.com/office/drawing/2014/main" id="{9A205C34-8B35-44F2-A6A7-B0429E3DB1D7}"/>
              </a:ext>
            </a:extLst>
          </p:cNvPr>
          <p:cNvSpPr/>
          <p:nvPr/>
        </p:nvSpPr>
        <p:spPr>
          <a:xfrm>
            <a:off x="8970380" y="206843"/>
            <a:ext cx="2897620" cy="2109230"/>
          </a:xfrm>
          <a:prstGeom prst="wedgeRectCallout">
            <a:avLst>
              <a:gd name="adj1" fmla="val -80151"/>
              <a:gd name="adj2" fmla="val 8651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tx1"/>
                </a:solidFill>
              </a:rPr>
              <a:t>out</a:t>
            </a:r>
          </a:p>
          <a:p>
            <a:pPr algn="ctr"/>
            <a:r>
              <a:rPr lang="nl-NL" sz="1600" dirty="0">
                <a:solidFill>
                  <a:schemeClr val="tx1"/>
                </a:solidFill>
              </a:rPr>
              <a:t>Het resultaat van </a:t>
            </a:r>
            <a:r>
              <a:rPr lang="nl-NL" sz="1600" dirty="0" err="1">
                <a:solidFill>
                  <a:schemeClr val="tx1"/>
                </a:solidFill>
              </a:rPr>
              <a:t>TryParse</a:t>
            </a:r>
            <a:r>
              <a:rPr lang="nl-NL" sz="1600" dirty="0">
                <a:solidFill>
                  <a:schemeClr val="tx1"/>
                </a:solidFill>
              </a:rPr>
              <a:t> is een </a:t>
            </a:r>
            <a:r>
              <a:rPr lang="nl-NL" sz="1600" dirty="0" err="1">
                <a:solidFill>
                  <a:schemeClr val="tx1"/>
                </a:solidFill>
              </a:rPr>
              <a:t>bool</a:t>
            </a:r>
            <a:r>
              <a:rPr lang="nl-NL" sz="1600" dirty="0">
                <a:solidFill>
                  <a:schemeClr val="tx1"/>
                </a:solidFill>
              </a:rPr>
              <a:t> (TRUE/FALSE). Daarom geef je bij een </a:t>
            </a:r>
            <a:r>
              <a:rPr lang="nl-NL" sz="1600" dirty="0" err="1">
                <a:solidFill>
                  <a:schemeClr val="tx1"/>
                </a:solidFill>
              </a:rPr>
              <a:t>TryParse</a:t>
            </a:r>
            <a:r>
              <a:rPr lang="nl-NL" sz="1600" dirty="0">
                <a:solidFill>
                  <a:schemeClr val="tx1"/>
                </a:solidFill>
              </a:rPr>
              <a:t> met behulp van ‘out’ op in welke variabele je de </a:t>
            </a:r>
            <a:r>
              <a:rPr lang="nl-NL" sz="1600" dirty="0" err="1">
                <a:solidFill>
                  <a:schemeClr val="tx1"/>
                </a:solidFill>
              </a:rPr>
              <a:t>geparse</a:t>
            </a:r>
            <a:r>
              <a:rPr lang="nl-NL" sz="1600" dirty="0">
                <a:solidFill>
                  <a:schemeClr val="tx1"/>
                </a:solidFill>
              </a:rPr>
              <a:t> waarde op wilt slaan (als het parsen gelukt is)</a:t>
            </a:r>
          </a:p>
        </p:txBody>
      </p:sp>
    </p:spTree>
    <p:extLst>
      <p:ext uri="{BB962C8B-B14F-4D97-AF65-F5344CB8AC3E}">
        <p14:creationId xmlns:p14="http://schemas.microsoft.com/office/powerpoint/2010/main" val="1919698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44170865-6089-45CD-BF5E-9BE20858350A}"/>
              </a:ext>
            </a:extLst>
          </p:cNvPr>
          <p:cNvSpPr>
            <a:spLocks noGrp="1"/>
          </p:cNvSpPr>
          <p:nvPr>
            <p:ph type="title"/>
          </p:nvPr>
        </p:nvSpPr>
        <p:spPr/>
        <p:txBody>
          <a:bodyPr/>
          <a:lstStyle/>
          <a:p>
            <a:r>
              <a:rPr lang="nl-NL" dirty="0"/>
              <a:t>04. </a:t>
            </a:r>
            <a:r>
              <a:rPr lang="nl-NL" sz="4800" dirty="0" err="1"/>
              <a:t>If</a:t>
            </a:r>
            <a:r>
              <a:rPr lang="nl-NL" sz="4800" dirty="0"/>
              <a:t>-statements</a:t>
            </a:r>
            <a:endParaRPr lang="nl-NL" dirty="0"/>
          </a:p>
        </p:txBody>
      </p:sp>
      <p:sp>
        <p:nvSpPr>
          <p:cNvPr id="6" name="Tijdelijke aanduiding voor datum 5">
            <a:extLst>
              <a:ext uri="{FF2B5EF4-FFF2-40B4-BE49-F238E27FC236}">
                <a16:creationId xmlns:a16="http://schemas.microsoft.com/office/drawing/2014/main" id="{7D429F9F-ABE8-4D77-928C-17ABB74009C8}"/>
              </a:ext>
            </a:extLst>
          </p:cNvPr>
          <p:cNvSpPr>
            <a:spLocks noGrp="1"/>
          </p:cNvSpPr>
          <p:nvPr>
            <p:ph type="dt" sz="half" idx="10"/>
          </p:nvPr>
        </p:nvSpPr>
        <p:spPr/>
        <p:txBody>
          <a:bodyPr/>
          <a:lstStyle/>
          <a:p>
            <a:r>
              <a:rPr lang="nl-NL"/>
              <a:t>1 november 2019</a:t>
            </a:r>
          </a:p>
        </p:txBody>
      </p:sp>
      <p:sp>
        <p:nvSpPr>
          <p:cNvPr id="3" name="Tijdelijke aanduiding voor dianummer 2">
            <a:extLst>
              <a:ext uri="{FF2B5EF4-FFF2-40B4-BE49-F238E27FC236}">
                <a16:creationId xmlns:a16="http://schemas.microsoft.com/office/drawing/2014/main" id="{1569550B-2693-442D-946F-04DFC5912206}"/>
              </a:ext>
            </a:extLst>
          </p:cNvPr>
          <p:cNvSpPr>
            <a:spLocks noGrp="1"/>
          </p:cNvSpPr>
          <p:nvPr>
            <p:ph type="sldNum" sz="quarter" idx="12"/>
          </p:nvPr>
        </p:nvSpPr>
        <p:spPr/>
        <p:txBody>
          <a:bodyPr/>
          <a:lstStyle/>
          <a:p>
            <a:fld id="{F42B3F14-D836-496B-80A2-23BE75BD68CB}" type="slidenum">
              <a:rPr lang="nl-NL" smtClean="0"/>
              <a:pPr/>
              <a:t>12</a:t>
            </a:fld>
            <a:endParaRPr lang="nl-NL"/>
          </a:p>
        </p:txBody>
      </p:sp>
      <p:pic>
        <p:nvPicPr>
          <p:cNvPr id="10" name="Afbeelding 9">
            <a:extLst>
              <a:ext uri="{FF2B5EF4-FFF2-40B4-BE49-F238E27FC236}">
                <a16:creationId xmlns:a16="http://schemas.microsoft.com/office/drawing/2014/main" id="{83340D28-A83E-4586-88A2-998BDC985FF4}"/>
              </a:ext>
            </a:extLst>
          </p:cNvPr>
          <p:cNvPicPr>
            <a:picLocks noChangeAspect="1"/>
          </p:cNvPicPr>
          <p:nvPr/>
        </p:nvPicPr>
        <p:blipFill>
          <a:blip r:embed="rId3"/>
          <a:stretch>
            <a:fillRect/>
          </a:stretch>
        </p:blipFill>
        <p:spPr>
          <a:xfrm>
            <a:off x="5972537" y="1785009"/>
            <a:ext cx="5904357" cy="4366675"/>
          </a:xfrm>
          <a:prstGeom prst="rect">
            <a:avLst/>
          </a:prstGeom>
        </p:spPr>
      </p:pic>
      <p:sp>
        <p:nvSpPr>
          <p:cNvPr id="11" name="Tekstballon: rechthoek 10">
            <a:extLst>
              <a:ext uri="{FF2B5EF4-FFF2-40B4-BE49-F238E27FC236}">
                <a16:creationId xmlns:a16="http://schemas.microsoft.com/office/drawing/2014/main" id="{919C41E0-A0C3-4C82-81D9-CA32C7571DCC}"/>
              </a:ext>
            </a:extLst>
          </p:cNvPr>
          <p:cNvSpPr/>
          <p:nvPr/>
        </p:nvSpPr>
        <p:spPr>
          <a:xfrm>
            <a:off x="935129" y="1716753"/>
            <a:ext cx="3798915" cy="1059853"/>
          </a:xfrm>
          <a:prstGeom prst="wedgeRectCallout">
            <a:avLst>
              <a:gd name="adj1" fmla="val 84512"/>
              <a:gd name="adj2" fmla="val 4896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tx1"/>
                </a:solidFill>
              </a:rPr>
              <a:t>Waarden vergelijken</a:t>
            </a:r>
          </a:p>
          <a:p>
            <a:pPr algn="ctr"/>
            <a:r>
              <a:rPr lang="nl-NL" sz="1600" dirty="0">
                <a:solidFill>
                  <a:schemeClr val="tx1"/>
                </a:solidFill>
              </a:rPr>
              <a:t>Je kunt met een </a:t>
            </a:r>
            <a:r>
              <a:rPr lang="nl-NL" sz="1600" dirty="0" err="1">
                <a:solidFill>
                  <a:schemeClr val="tx1"/>
                </a:solidFill>
              </a:rPr>
              <a:t>if</a:t>
            </a:r>
            <a:r>
              <a:rPr lang="nl-NL" sz="1600" dirty="0">
                <a:solidFill>
                  <a:schemeClr val="tx1"/>
                </a:solidFill>
              </a:rPr>
              <a:t>-statement twee waarden direct met elkaar vergelijken</a:t>
            </a:r>
          </a:p>
        </p:txBody>
      </p:sp>
      <p:sp>
        <p:nvSpPr>
          <p:cNvPr id="12" name="Tekstballon: rechthoek 11">
            <a:extLst>
              <a:ext uri="{FF2B5EF4-FFF2-40B4-BE49-F238E27FC236}">
                <a16:creationId xmlns:a16="http://schemas.microsoft.com/office/drawing/2014/main" id="{4BE0C81E-2817-4E92-9BDB-774A9FF7A10A}"/>
              </a:ext>
            </a:extLst>
          </p:cNvPr>
          <p:cNvSpPr/>
          <p:nvPr/>
        </p:nvSpPr>
        <p:spPr>
          <a:xfrm>
            <a:off x="924075" y="3183036"/>
            <a:ext cx="3809969" cy="1059853"/>
          </a:xfrm>
          <a:prstGeom prst="wedgeRectCallout">
            <a:avLst>
              <a:gd name="adj1" fmla="val 86002"/>
              <a:gd name="adj2" fmla="val 160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tx1"/>
                </a:solidFill>
              </a:rPr>
              <a:t>Variabelen vergelijken</a:t>
            </a:r>
          </a:p>
          <a:p>
            <a:pPr algn="ctr"/>
            <a:r>
              <a:rPr lang="nl-NL" sz="1600" dirty="0">
                <a:solidFill>
                  <a:schemeClr val="tx1"/>
                </a:solidFill>
              </a:rPr>
              <a:t>Je kunt ook een waarde in een variabele met elkaar vergelijken</a:t>
            </a:r>
          </a:p>
        </p:txBody>
      </p:sp>
      <p:sp>
        <p:nvSpPr>
          <p:cNvPr id="13" name="Tekstballon: rechthoek 12">
            <a:extLst>
              <a:ext uri="{FF2B5EF4-FFF2-40B4-BE49-F238E27FC236}">
                <a16:creationId xmlns:a16="http://schemas.microsoft.com/office/drawing/2014/main" id="{85F52EB4-E4E0-40AC-BC86-C4F9BD2663A9}"/>
              </a:ext>
            </a:extLst>
          </p:cNvPr>
          <p:cNvSpPr/>
          <p:nvPr/>
        </p:nvSpPr>
        <p:spPr>
          <a:xfrm>
            <a:off x="924076" y="4618297"/>
            <a:ext cx="3809970" cy="1487087"/>
          </a:xfrm>
          <a:prstGeom prst="wedgeRectCallout">
            <a:avLst>
              <a:gd name="adj1" fmla="val 82453"/>
              <a:gd name="adj2" fmla="val -2253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b="1" dirty="0">
                <a:solidFill>
                  <a:schemeClr val="tx1"/>
                </a:solidFill>
              </a:rPr>
              <a:t>Resultaat vergelijken</a:t>
            </a:r>
          </a:p>
          <a:p>
            <a:pPr algn="ctr"/>
            <a:r>
              <a:rPr lang="nl-NL" dirty="0">
                <a:solidFill>
                  <a:schemeClr val="tx1"/>
                </a:solidFill>
              </a:rPr>
              <a:t>Je kunt zelfs het resultaat van een methode direct in een </a:t>
            </a:r>
            <a:r>
              <a:rPr lang="nl-NL" dirty="0" err="1">
                <a:solidFill>
                  <a:schemeClr val="tx1"/>
                </a:solidFill>
              </a:rPr>
              <a:t>if</a:t>
            </a:r>
            <a:r>
              <a:rPr lang="nl-NL" dirty="0">
                <a:solidFill>
                  <a:schemeClr val="tx1"/>
                </a:solidFill>
              </a:rPr>
              <a:t>-statement gebruiken</a:t>
            </a:r>
          </a:p>
        </p:txBody>
      </p:sp>
    </p:spTree>
    <p:extLst>
      <p:ext uri="{BB962C8B-B14F-4D97-AF65-F5344CB8AC3E}">
        <p14:creationId xmlns:p14="http://schemas.microsoft.com/office/powerpoint/2010/main" val="1448964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44170865-6089-45CD-BF5E-9BE20858350A}"/>
              </a:ext>
            </a:extLst>
          </p:cNvPr>
          <p:cNvSpPr>
            <a:spLocks noGrp="1"/>
          </p:cNvSpPr>
          <p:nvPr>
            <p:ph type="title"/>
          </p:nvPr>
        </p:nvSpPr>
        <p:spPr/>
        <p:txBody>
          <a:bodyPr/>
          <a:lstStyle/>
          <a:p>
            <a:r>
              <a:rPr lang="nl-NL" dirty="0"/>
              <a:t>04. </a:t>
            </a:r>
            <a:r>
              <a:rPr lang="nl-NL" sz="4800" dirty="0" err="1"/>
              <a:t>If</a:t>
            </a:r>
            <a:r>
              <a:rPr lang="nl-NL" sz="4800" dirty="0"/>
              <a:t>-statements</a:t>
            </a:r>
            <a:endParaRPr lang="nl-NL" dirty="0"/>
          </a:p>
        </p:txBody>
      </p:sp>
      <p:sp>
        <p:nvSpPr>
          <p:cNvPr id="6" name="Tijdelijke aanduiding voor datum 5">
            <a:extLst>
              <a:ext uri="{FF2B5EF4-FFF2-40B4-BE49-F238E27FC236}">
                <a16:creationId xmlns:a16="http://schemas.microsoft.com/office/drawing/2014/main" id="{7D429F9F-ABE8-4D77-928C-17ABB74009C8}"/>
              </a:ext>
            </a:extLst>
          </p:cNvPr>
          <p:cNvSpPr>
            <a:spLocks noGrp="1"/>
          </p:cNvSpPr>
          <p:nvPr>
            <p:ph type="dt" sz="half" idx="10"/>
          </p:nvPr>
        </p:nvSpPr>
        <p:spPr/>
        <p:txBody>
          <a:bodyPr/>
          <a:lstStyle/>
          <a:p>
            <a:r>
              <a:rPr lang="nl-NL"/>
              <a:t>1 november 2019</a:t>
            </a:r>
          </a:p>
        </p:txBody>
      </p:sp>
      <p:sp>
        <p:nvSpPr>
          <p:cNvPr id="3" name="Tijdelijke aanduiding voor dianummer 2">
            <a:extLst>
              <a:ext uri="{FF2B5EF4-FFF2-40B4-BE49-F238E27FC236}">
                <a16:creationId xmlns:a16="http://schemas.microsoft.com/office/drawing/2014/main" id="{1569550B-2693-442D-946F-04DFC5912206}"/>
              </a:ext>
            </a:extLst>
          </p:cNvPr>
          <p:cNvSpPr>
            <a:spLocks noGrp="1"/>
          </p:cNvSpPr>
          <p:nvPr>
            <p:ph type="sldNum" sz="quarter" idx="12"/>
          </p:nvPr>
        </p:nvSpPr>
        <p:spPr/>
        <p:txBody>
          <a:bodyPr/>
          <a:lstStyle/>
          <a:p>
            <a:fld id="{F42B3F14-D836-496B-80A2-23BE75BD68CB}" type="slidenum">
              <a:rPr lang="nl-NL" smtClean="0"/>
              <a:pPr/>
              <a:t>13</a:t>
            </a:fld>
            <a:endParaRPr lang="nl-NL"/>
          </a:p>
        </p:txBody>
      </p:sp>
      <p:graphicFrame>
        <p:nvGraphicFramePr>
          <p:cNvPr id="8" name="Tabel 4">
            <a:extLst>
              <a:ext uri="{FF2B5EF4-FFF2-40B4-BE49-F238E27FC236}">
                <a16:creationId xmlns:a16="http://schemas.microsoft.com/office/drawing/2014/main" id="{3D984355-5B39-4CBF-8E0E-7C997B0EF557}"/>
              </a:ext>
            </a:extLst>
          </p:cNvPr>
          <p:cNvGraphicFramePr>
            <a:graphicFrameLocks noGrp="1"/>
          </p:cNvGraphicFramePr>
          <p:nvPr>
            <p:extLst>
              <p:ext uri="{D42A27DB-BD31-4B8C-83A1-F6EECF244321}">
                <p14:modId xmlns:p14="http://schemas.microsoft.com/office/powerpoint/2010/main" val="473722722"/>
              </p:ext>
            </p:extLst>
          </p:nvPr>
        </p:nvGraphicFramePr>
        <p:xfrm>
          <a:off x="3634882" y="1376999"/>
          <a:ext cx="4898235" cy="4104002"/>
        </p:xfrm>
        <a:graphic>
          <a:graphicData uri="http://schemas.openxmlformats.org/drawingml/2006/table">
            <a:tbl>
              <a:tblPr firstRow="1" bandRow="1">
                <a:tableStyleId>{5C22544A-7EE6-4342-B048-85BDC9FD1C3A}</a:tableStyleId>
              </a:tblPr>
              <a:tblGrid>
                <a:gridCol w="1091184">
                  <a:extLst>
                    <a:ext uri="{9D8B030D-6E8A-4147-A177-3AD203B41FA5}">
                      <a16:colId xmlns:a16="http://schemas.microsoft.com/office/drawing/2014/main" val="2596566298"/>
                    </a:ext>
                  </a:extLst>
                </a:gridCol>
                <a:gridCol w="3807051">
                  <a:extLst>
                    <a:ext uri="{9D8B030D-6E8A-4147-A177-3AD203B41FA5}">
                      <a16:colId xmlns:a16="http://schemas.microsoft.com/office/drawing/2014/main" val="685002972"/>
                    </a:ext>
                  </a:extLst>
                </a:gridCol>
              </a:tblGrid>
              <a:tr h="586286">
                <a:tc>
                  <a:txBody>
                    <a:bodyPr/>
                    <a:lstStyle/>
                    <a:p>
                      <a:r>
                        <a:rPr lang="nl-NL" sz="2400" dirty="0">
                          <a:solidFill>
                            <a:schemeClr val="tx1"/>
                          </a:solidFill>
                        </a:rPr>
                        <a:t>Teken</a:t>
                      </a:r>
                    </a:p>
                  </a:txBody>
                  <a:tcPr marL="74295" marR="74295" marT="37148" marB="37148" anchor="ctr"/>
                </a:tc>
                <a:tc>
                  <a:txBody>
                    <a:bodyPr/>
                    <a:lstStyle/>
                    <a:p>
                      <a:r>
                        <a:rPr lang="nl-NL" sz="2400" dirty="0">
                          <a:solidFill>
                            <a:schemeClr val="tx1"/>
                          </a:solidFill>
                        </a:rPr>
                        <a:t>Betekenis</a:t>
                      </a:r>
                    </a:p>
                  </a:txBody>
                  <a:tcPr marL="74295" marR="74295" marT="37148" marB="37148" anchor="ctr"/>
                </a:tc>
                <a:extLst>
                  <a:ext uri="{0D108BD9-81ED-4DB2-BD59-A6C34878D82A}">
                    <a16:rowId xmlns:a16="http://schemas.microsoft.com/office/drawing/2014/main" val="2451422085"/>
                  </a:ext>
                </a:extLst>
              </a:tr>
              <a:tr h="586286">
                <a:tc>
                  <a:txBody>
                    <a:bodyPr/>
                    <a:lstStyle/>
                    <a:p>
                      <a:r>
                        <a:rPr lang="nl-NL" sz="2400" dirty="0">
                          <a:solidFill>
                            <a:schemeClr val="tx1"/>
                          </a:solidFill>
                        </a:rPr>
                        <a:t>== </a:t>
                      </a:r>
                    </a:p>
                  </a:txBody>
                  <a:tcPr marL="74295" marR="74295" marT="37148" marB="37148" anchor="ctr"/>
                </a:tc>
                <a:tc>
                  <a:txBody>
                    <a:bodyPr/>
                    <a:lstStyle/>
                    <a:p>
                      <a:r>
                        <a:rPr lang="nl-NL" sz="2400" dirty="0">
                          <a:solidFill>
                            <a:schemeClr val="tx1"/>
                          </a:solidFill>
                        </a:rPr>
                        <a:t>Is gelijk aan</a:t>
                      </a:r>
                    </a:p>
                  </a:txBody>
                  <a:tcPr marL="74295" marR="74295" marT="37148" marB="37148" anchor="ctr"/>
                </a:tc>
                <a:extLst>
                  <a:ext uri="{0D108BD9-81ED-4DB2-BD59-A6C34878D82A}">
                    <a16:rowId xmlns:a16="http://schemas.microsoft.com/office/drawing/2014/main" val="2250114560"/>
                  </a:ext>
                </a:extLst>
              </a:tr>
              <a:tr h="586286">
                <a:tc>
                  <a:txBody>
                    <a:bodyPr/>
                    <a:lstStyle/>
                    <a:p>
                      <a:r>
                        <a:rPr lang="nl-NL" sz="2400" dirty="0">
                          <a:solidFill>
                            <a:schemeClr val="tx1"/>
                          </a:solidFill>
                        </a:rPr>
                        <a:t>!=</a:t>
                      </a:r>
                    </a:p>
                  </a:txBody>
                  <a:tcPr marL="74295" marR="74295" marT="37148" marB="37148" anchor="ctr"/>
                </a:tc>
                <a:tc>
                  <a:txBody>
                    <a:bodyPr/>
                    <a:lstStyle/>
                    <a:p>
                      <a:r>
                        <a:rPr lang="nl-NL" sz="2400" dirty="0">
                          <a:solidFill>
                            <a:schemeClr val="tx1"/>
                          </a:solidFill>
                        </a:rPr>
                        <a:t>Is niet gelijk aan</a:t>
                      </a:r>
                    </a:p>
                  </a:txBody>
                  <a:tcPr marL="74295" marR="74295" marT="37148" marB="37148" anchor="ctr"/>
                </a:tc>
                <a:extLst>
                  <a:ext uri="{0D108BD9-81ED-4DB2-BD59-A6C34878D82A}">
                    <a16:rowId xmlns:a16="http://schemas.microsoft.com/office/drawing/2014/main" val="2814315705"/>
                  </a:ext>
                </a:extLst>
              </a:tr>
              <a:tr h="586286">
                <a:tc>
                  <a:txBody>
                    <a:bodyPr/>
                    <a:lstStyle/>
                    <a:p>
                      <a:r>
                        <a:rPr lang="nl-NL" sz="2400" dirty="0">
                          <a:solidFill>
                            <a:schemeClr val="tx1"/>
                          </a:solidFill>
                        </a:rPr>
                        <a:t>&gt;</a:t>
                      </a:r>
                    </a:p>
                  </a:txBody>
                  <a:tcPr marL="74295" marR="74295" marT="37148" marB="37148" anchor="ctr"/>
                </a:tc>
                <a:tc>
                  <a:txBody>
                    <a:bodyPr/>
                    <a:lstStyle/>
                    <a:p>
                      <a:r>
                        <a:rPr lang="nl-NL" sz="2400" dirty="0">
                          <a:solidFill>
                            <a:schemeClr val="tx1"/>
                          </a:solidFill>
                        </a:rPr>
                        <a:t>Groter dan</a:t>
                      </a:r>
                    </a:p>
                  </a:txBody>
                  <a:tcPr marL="74295" marR="74295" marT="37148" marB="37148" anchor="ctr"/>
                </a:tc>
                <a:extLst>
                  <a:ext uri="{0D108BD9-81ED-4DB2-BD59-A6C34878D82A}">
                    <a16:rowId xmlns:a16="http://schemas.microsoft.com/office/drawing/2014/main" val="4075287466"/>
                  </a:ext>
                </a:extLst>
              </a:tr>
              <a:tr h="586286">
                <a:tc>
                  <a:txBody>
                    <a:bodyPr/>
                    <a:lstStyle/>
                    <a:p>
                      <a:r>
                        <a:rPr lang="nl-NL" sz="2400" dirty="0">
                          <a:solidFill>
                            <a:schemeClr val="tx1"/>
                          </a:solidFill>
                        </a:rPr>
                        <a:t>&lt;</a:t>
                      </a:r>
                    </a:p>
                  </a:txBody>
                  <a:tcPr marL="74295" marR="74295" marT="37148" marB="37148" anchor="ctr"/>
                </a:tc>
                <a:tc>
                  <a:txBody>
                    <a:bodyPr/>
                    <a:lstStyle/>
                    <a:p>
                      <a:r>
                        <a:rPr lang="nl-NL" sz="2400" dirty="0">
                          <a:solidFill>
                            <a:schemeClr val="tx1"/>
                          </a:solidFill>
                        </a:rPr>
                        <a:t>Kleiner dan</a:t>
                      </a:r>
                    </a:p>
                  </a:txBody>
                  <a:tcPr marL="74295" marR="74295" marT="37148" marB="37148" anchor="ctr"/>
                </a:tc>
                <a:extLst>
                  <a:ext uri="{0D108BD9-81ED-4DB2-BD59-A6C34878D82A}">
                    <a16:rowId xmlns:a16="http://schemas.microsoft.com/office/drawing/2014/main" val="4018526989"/>
                  </a:ext>
                </a:extLst>
              </a:tr>
              <a:tr h="586286">
                <a:tc>
                  <a:txBody>
                    <a:bodyPr/>
                    <a:lstStyle/>
                    <a:p>
                      <a:r>
                        <a:rPr lang="nl-NL" sz="2400" dirty="0">
                          <a:solidFill>
                            <a:schemeClr val="tx1"/>
                          </a:solidFill>
                        </a:rPr>
                        <a:t>&gt;=</a:t>
                      </a:r>
                    </a:p>
                  </a:txBody>
                  <a:tcPr marL="74295" marR="74295" marT="37148" marB="37148" anchor="ctr"/>
                </a:tc>
                <a:tc>
                  <a:txBody>
                    <a:bodyPr/>
                    <a:lstStyle/>
                    <a:p>
                      <a:r>
                        <a:rPr lang="nl-NL" sz="2400" dirty="0">
                          <a:solidFill>
                            <a:schemeClr val="tx1"/>
                          </a:solidFill>
                        </a:rPr>
                        <a:t>Groter of gelijk aan</a:t>
                      </a:r>
                    </a:p>
                  </a:txBody>
                  <a:tcPr marL="74295" marR="74295" marT="37148" marB="37148" anchor="ctr"/>
                </a:tc>
                <a:extLst>
                  <a:ext uri="{0D108BD9-81ED-4DB2-BD59-A6C34878D82A}">
                    <a16:rowId xmlns:a16="http://schemas.microsoft.com/office/drawing/2014/main" val="3337095952"/>
                  </a:ext>
                </a:extLst>
              </a:tr>
              <a:tr h="586286">
                <a:tc>
                  <a:txBody>
                    <a:bodyPr/>
                    <a:lstStyle/>
                    <a:p>
                      <a:r>
                        <a:rPr lang="nl-NL" sz="2400" dirty="0">
                          <a:solidFill>
                            <a:schemeClr val="tx1"/>
                          </a:solidFill>
                        </a:rPr>
                        <a:t>&lt;=</a:t>
                      </a:r>
                    </a:p>
                  </a:txBody>
                  <a:tcPr marL="74295" marR="74295" marT="37148" marB="37148" anchor="ctr"/>
                </a:tc>
                <a:tc>
                  <a:txBody>
                    <a:bodyPr/>
                    <a:lstStyle/>
                    <a:p>
                      <a:r>
                        <a:rPr lang="nl-NL" sz="2400" dirty="0">
                          <a:solidFill>
                            <a:schemeClr val="tx1"/>
                          </a:solidFill>
                        </a:rPr>
                        <a:t>Kleiner of gelijk aan</a:t>
                      </a:r>
                    </a:p>
                  </a:txBody>
                  <a:tcPr marL="74295" marR="74295" marT="37148" marB="37148" anchor="ctr"/>
                </a:tc>
                <a:extLst>
                  <a:ext uri="{0D108BD9-81ED-4DB2-BD59-A6C34878D82A}">
                    <a16:rowId xmlns:a16="http://schemas.microsoft.com/office/drawing/2014/main" val="4027999399"/>
                  </a:ext>
                </a:extLst>
              </a:tr>
            </a:tbl>
          </a:graphicData>
        </a:graphic>
      </p:graphicFrame>
    </p:spTree>
    <p:extLst>
      <p:ext uri="{BB962C8B-B14F-4D97-AF65-F5344CB8AC3E}">
        <p14:creationId xmlns:p14="http://schemas.microsoft.com/office/powerpoint/2010/main" val="3145693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44170865-6089-45CD-BF5E-9BE20858350A}"/>
              </a:ext>
            </a:extLst>
          </p:cNvPr>
          <p:cNvSpPr>
            <a:spLocks noGrp="1"/>
          </p:cNvSpPr>
          <p:nvPr>
            <p:ph type="title"/>
          </p:nvPr>
        </p:nvSpPr>
        <p:spPr/>
        <p:txBody>
          <a:bodyPr/>
          <a:lstStyle/>
          <a:p>
            <a:r>
              <a:rPr lang="nl-NL" dirty="0"/>
              <a:t>04. </a:t>
            </a:r>
            <a:r>
              <a:rPr lang="nl-NL" sz="4800" dirty="0" err="1"/>
              <a:t>If</a:t>
            </a:r>
            <a:r>
              <a:rPr lang="nl-NL" sz="4800" dirty="0"/>
              <a:t>-statements</a:t>
            </a:r>
            <a:endParaRPr lang="nl-NL" dirty="0"/>
          </a:p>
        </p:txBody>
      </p:sp>
      <p:sp>
        <p:nvSpPr>
          <p:cNvPr id="6" name="Tijdelijke aanduiding voor datum 5">
            <a:extLst>
              <a:ext uri="{FF2B5EF4-FFF2-40B4-BE49-F238E27FC236}">
                <a16:creationId xmlns:a16="http://schemas.microsoft.com/office/drawing/2014/main" id="{7D429F9F-ABE8-4D77-928C-17ABB74009C8}"/>
              </a:ext>
            </a:extLst>
          </p:cNvPr>
          <p:cNvSpPr>
            <a:spLocks noGrp="1"/>
          </p:cNvSpPr>
          <p:nvPr>
            <p:ph type="dt" sz="half" idx="10"/>
          </p:nvPr>
        </p:nvSpPr>
        <p:spPr/>
        <p:txBody>
          <a:bodyPr/>
          <a:lstStyle/>
          <a:p>
            <a:r>
              <a:rPr lang="nl-NL"/>
              <a:t>1 november 2019</a:t>
            </a:r>
          </a:p>
        </p:txBody>
      </p:sp>
      <p:sp>
        <p:nvSpPr>
          <p:cNvPr id="3" name="Tijdelijke aanduiding voor dianummer 2">
            <a:extLst>
              <a:ext uri="{FF2B5EF4-FFF2-40B4-BE49-F238E27FC236}">
                <a16:creationId xmlns:a16="http://schemas.microsoft.com/office/drawing/2014/main" id="{1569550B-2693-442D-946F-04DFC5912206}"/>
              </a:ext>
            </a:extLst>
          </p:cNvPr>
          <p:cNvSpPr>
            <a:spLocks noGrp="1"/>
          </p:cNvSpPr>
          <p:nvPr>
            <p:ph type="sldNum" sz="quarter" idx="12"/>
          </p:nvPr>
        </p:nvSpPr>
        <p:spPr/>
        <p:txBody>
          <a:bodyPr/>
          <a:lstStyle/>
          <a:p>
            <a:fld id="{F42B3F14-D836-496B-80A2-23BE75BD68CB}" type="slidenum">
              <a:rPr lang="nl-NL" smtClean="0"/>
              <a:pPr/>
              <a:t>14</a:t>
            </a:fld>
            <a:endParaRPr lang="nl-NL"/>
          </a:p>
        </p:txBody>
      </p:sp>
      <p:pic>
        <p:nvPicPr>
          <p:cNvPr id="9" name="Afbeelding 8">
            <a:extLst>
              <a:ext uri="{FF2B5EF4-FFF2-40B4-BE49-F238E27FC236}">
                <a16:creationId xmlns:a16="http://schemas.microsoft.com/office/drawing/2014/main" id="{353FB8E3-0838-4CFF-92EA-87CD81CF8ACA}"/>
              </a:ext>
            </a:extLst>
          </p:cNvPr>
          <p:cNvPicPr>
            <a:picLocks noChangeAspect="1"/>
          </p:cNvPicPr>
          <p:nvPr/>
        </p:nvPicPr>
        <p:blipFill>
          <a:blip r:embed="rId3"/>
          <a:stretch>
            <a:fillRect/>
          </a:stretch>
        </p:blipFill>
        <p:spPr>
          <a:xfrm>
            <a:off x="5453512" y="1459521"/>
            <a:ext cx="6390488" cy="4345532"/>
          </a:xfrm>
          <a:prstGeom prst="rect">
            <a:avLst/>
          </a:prstGeom>
        </p:spPr>
      </p:pic>
      <p:sp>
        <p:nvSpPr>
          <p:cNvPr id="10" name="Tekstballon: rechthoek 9">
            <a:extLst>
              <a:ext uri="{FF2B5EF4-FFF2-40B4-BE49-F238E27FC236}">
                <a16:creationId xmlns:a16="http://schemas.microsoft.com/office/drawing/2014/main" id="{EAB8122E-6DF3-48E1-AEE1-C85E5779E44A}"/>
              </a:ext>
            </a:extLst>
          </p:cNvPr>
          <p:cNvSpPr/>
          <p:nvPr/>
        </p:nvSpPr>
        <p:spPr>
          <a:xfrm>
            <a:off x="324000" y="1249594"/>
            <a:ext cx="4097529" cy="1356766"/>
          </a:xfrm>
          <a:prstGeom prst="wedgeRectCallout">
            <a:avLst>
              <a:gd name="adj1" fmla="val 76181"/>
              <a:gd name="adj2" fmla="val -131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b="1" dirty="0" err="1">
                <a:solidFill>
                  <a:schemeClr val="tx1"/>
                </a:solidFill>
              </a:rPr>
              <a:t>If</a:t>
            </a:r>
            <a:endParaRPr lang="nl-NL" b="1" dirty="0">
              <a:solidFill>
                <a:schemeClr val="tx1"/>
              </a:solidFill>
            </a:endParaRPr>
          </a:p>
          <a:p>
            <a:pPr algn="ctr"/>
            <a:r>
              <a:rPr lang="nl-NL" dirty="0">
                <a:solidFill>
                  <a:schemeClr val="tx1"/>
                </a:solidFill>
              </a:rPr>
              <a:t>De code direct na het </a:t>
            </a:r>
            <a:r>
              <a:rPr lang="nl-NL" dirty="0" err="1">
                <a:solidFill>
                  <a:schemeClr val="tx1"/>
                </a:solidFill>
              </a:rPr>
              <a:t>if</a:t>
            </a:r>
            <a:r>
              <a:rPr lang="nl-NL" dirty="0">
                <a:solidFill>
                  <a:schemeClr val="tx1"/>
                </a:solidFill>
              </a:rPr>
              <a:t>-statement wordt uitgevoerd wanneer de voorwaarde ( in dit geval a &gt; b) TRUE is</a:t>
            </a:r>
          </a:p>
        </p:txBody>
      </p:sp>
      <p:sp>
        <p:nvSpPr>
          <p:cNvPr id="11" name="Tekstballon: rechthoek 10">
            <a:extLst>
              <a:ext uri="{FF2B5EF4-FFF2-40B4-BE49-F238E27FC236}">
                <a16:creationId xmlns:a16="http://schemas.microsoft.com/office/drawing/2014/main" id="{400FE6F5-76DD-4422-8911-80FEDF2E3D64}"/>
              </a:ext>
            </a:extLst>
          </p:cNvPr>
          <p:cNvSpPr/>
          <p:nvPr/>
        </p:nvSpPr>
        <p:spPr>
          <a:xfrm>
            <a:off x="324000" y="2953904"/>
            <a:ext cx="4097529" cy="1356766"/>
          </a:xfrm>
          <a:prstGeom prst="wedgeRectCallout">
            <a:avLst>
              <a:gd name="adj1" fmla="val 76336"/>
              <a:gd name="adj2" fmla="val -358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b="1" dirty="0">
                <a:solidFill>
                  <a:schemeClr val="tx1"/>
                </a:solidFill>
              </a:rPr>
              <a:t>Else </a:t>
            </a:r>
            <a:r>
              <a:rPr lang="nl-NL" b="1" dirty="0" err="1">
                <a:solidFill>
                  <a:schemeClr val="tx1"/>
                </a:solidFill>
              </a:rPr>
              <a:t>if</a:t>
            </a:r>
            <a:r>
              <a:rPr lang="nl-NL" b="1" dirty="0">
                <a:solidFill>
                  <a:schemeClr val="tx1"/>
                </a:solidFill>
              </a:rPr>
              <a:t>	</a:t>
            </a:r>
          </a:p>
          <a:p>
            <a:pPr algn="ctr"/>
            <a:r>
              <a:rPr lang="nl-NL" dirty="0">
                <a:solidFill>
                  <a:schemeClr val="tx1"/>
                </a:solidFill>
              </a:rPr>
              <a:t>De code direct na de </a:t>
            </a:r>
            <a:r>
              <a:rPr lang="nl-NL" dirty="0" err="1">
                <a:solidFill>
                  <a:schemeClr val="tx1"/>
                </a:solidFill>
              </a:rPr>
              <a:t>else</a:t>
            </a:r>
            <a:r>
              <a:rPr lang="nl-NL" dirty="0">
                <a:solidFill>
                  <a:schemeClr val="tx1"/>
                </a:solidFill>
              </a:rPr>
              <a:t> </a:t>
            </a:r>
            <a:r>
              <a:rPr lang="nl-NL" dirty="0" err="1">
                <a:solidFill>
                  <a:schemeClr val="tx1"/>
                </a:solidFill>
              </a:rPr>
              <a:t>if</a:t>
            </a:r>
            <a:r>
              <a:rPr lang="nl-NL" dirty="0">
                <a:solidFill>
                  <a:schemeClr val="tx1"/>
                </a:solidFill>
              </a:rPr>
              <a:t> wordt uitgevoerd wanneer de </a:t>
            </a:r>
            <a:r>
              <a:rPr lang="nl-NL" dirty="0" err="1">
                <a:solidFill>
                  <a:schemeClr val="tx1"/>
                </a:solidFill>
              </a:rPr>
              <a:t>if</a:t>
            </a:r>
            <a:r>
              <a:rPr lang="nl-NL" dirty="0">
                <a:solidFill>
                  <a:schemeClr val="tx1"/>
                </a:solidFill>
              </a:rPr>
              <a:t> niet TRUE is, maar de </a:t>
            </a:r>
            <a:r>
              <a:rPr lang="nl-NL" dirty="0" err="1">
                <a:solidFill>
                  <a:schemeClr val="tx1"/>
                </a:solidFill>
              </a:rPr>
              <a:t>else</a:t>
            </a:r>
            <a:r>
              <a:rPr lang="nl-NL" dirty="0">
                <a:solidFill>
                  <a:schemeClr val="tx1"/>
                </a:solidFill>
              </a:rPr>
              <a:t> </a:t>
            </a:r>
            <a:r>
              <a:rPr lang="nl-NL" dirty="0" err="1">
                <a:solidFill>
                  <a:schemeClr val="tx1"/>
                </a:solidFill>
              </a:rPr>
              <a:t>if</a:t>
            </a:r>
            <a:r>
              <a:rPr lang="nl-NL" dirty="0">
                <a:solidFill>
                  <a:schemeClr val="tx1"/>
                </a:solidFill>
              </a:rPr>
              <a:t>-voorwaarde wel</a:t>
            </a:r>
          </a:p>
        </p:txBody>
      </p:sp>
      <p:sp>
        <p:nvSpPr>
          <p:cNvPr id="12" name="Tekstballon: rechthoek 11">
            <a:extLst>
              <a:ext uri="{FF2B5EF4-FFF2-40B4-BE49-F238E27FC236}">
                <a16:creationId xmlns:a16="http://schemas.microsoft.com/office/drawing/2014/main" id="{48D99336-1643-435A-BE95-2F3836744113}"/>
              </a:ext>
            </a:extLst>
          </p:cNvPr>
          <p:cNvSpPr/>
          <p:nvPr/>
        </p:nvSpPr>
        <p:spPr>
          <a:xfrm>
            <a:off x="324000" y="4658214"/>
            <a:ext cx="4097529" cy="1356766"/>
          </a:xfrm>
          <a:prstGeom prst="wedgeRectCallout">
            <a:avLst>
              <a:gd name="adj1" fmla="val 77481"/>
              <a:gd name="adj2" fmla="val -6550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b="1" dirty="0">
                <a:solidFill>
                  <a:schemeClr val="tx1"/>
                </a:solidFill>
              </a:rPr>
              <a:t>Else</a:t>
            </a:r>
          </a:p>
          <a:p>
            <a:pPr algn="ctr"/>
            <a:r>
              <a:rPr lang="nl-NL" dirty="0">
                <a:solidFill>
                  <a:schemeClr val="tx1"/>
                </a:solidFill>
              </a:rPr>
              <a:t>De code direct na het </a:t>
            </a:r>
            <a:r>
              <a:rPr lang="nl-NL" dirty="0" err="1">
                <a:solidFill>
                  <a:schemeClr val="tx1"/>
                </a:solidFill>
              </a:rPr>
              <a:t>else</a:t>
            </a:r>
            <a:r>
              <a:rPr lang="nl-NL" dirty="0">
                <a:solidFill>
                  <a:schemeClr val="tx1"/>
                </a:solidFill>
              </a:rPr>
              <a:t>-statement wordt uitgevoerd wanneer géén van de </a:t>
            </a:r>
            <a:r>
              <a:rPr lang="nl-NL" dirty="0" err="1">
                <a:solidFill>
                  <a:schemeClr val="tx1"/>
                </a:solidFill>
              </a:rPr>
              <a:t>if’s</a:t>
            </a:r>
            <a:r>
              <a:rPr lang="nl-NL" dirty="0">
                <a:solidFill>
                  <a:schemeClr val="tx1"/>
                </a:solidFill>
              </a:rPr>
              <a:t> en </a:t>
            </a:r>
            <a:r>
              <a:rPr lang="nl-NL" dirty="0" err="1">
                <a:solidFill>
                  <a:schemeClr val="tx1"/>
                </a:solidFill>
              </a:rPr>
              <a:t>else</a:t>
            </a:r>
            <a:r>
              <a:rPr lang="nl-NL" dirty="0">
                <a:solidFill>
                  <a:schemeClr val="tx1"/>
                </a:solidFill>
              </a:rPr>
              <a:t> </a:t>
            </a:r>
            <a:r>
              <a:rPr lang="nl-NL" dirty="0" err="1">
                <a:solidFill>
                  <a:schemeClr val="tx1"/>
                </a:solidFill>
              </a:rPr>
              <a:t>if’s</a:t>
            </a:r>
            <a:r>
              <a:rPr lang="nl-NL" dirty="0">
                <a:solidFill>
                  <a:schemeClr val="tx1"/>
                </a:solidFill>
              </a:rPr>
              <a:t> TRUE is</a:t>
            </a:r>
          </a:p>
        </p:txBody>
      </p:sp>
    </p:spTree>
    <p:extLst>
      <p:ext uri="{BB962C8B-B14F-4D97-AF65-F5344CB8AC3E}">
        <p14:creationId xmlns:p14="http://schemas.microsoft.com/office/powerpoint/2010/main" val="4227091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61B7127-D5C6-4817-9C8B-A969F9B5B3B8}"/>
              </a:ext>
            </a:extLst>
          </p:cNvPr>
          <p:cNvSpPr>
            <a:spLocks noGrp="1"/>
          </p:cNvSpPr>
          <p:nvPr>
            <p:ph type="title"/>
          </p:nvPr>
        </p:nvSpPr>
        <p:spPr/>
        <p:txBody>
          <a:bodyPr/>
          <a:lstStyle/>
          <a:p>
            <a:r>
              <a:rPr lang="nl-NL" dirty="0"/>
              <a:t>05. </a:t>
            </a:r>
            <a:r>
              <a:rPr lang="nl-NL" sz="4800" dirty="0"/>
              <a:t>Loops</a:t>
            </a:r>
            <a:endParaRPr lang="nl-NL" dirty="0"/>
          </a:p>
        </p:txBody>
      </p:sp>
      <p:sp>
        <p:nvSpPr>
          <p:cNvPr id="4" name="Tijdelijke aanduiding voor datum 3">
            <a:extLst>
              <a:ext uri="{FF2B5EF4-FFF2-40B4-BE49-F238E27FC236}">
                <a16:creationId xmlns:a16="http://schemas.microsoft.com/office/drawing/2014/main" id="{C4E78B33-13B1-4851-BFE0-3C5CA156C89A}"/>
              </a:ext>
            </a:extLst>
          </p:cNvPr>
          <p:cNvSpPr>
            <a:spLocks noGrp="1"/>
          </p:cNvSpPr>
          <p:nvPr>
            <p:ph type="dt" sz="half" idx="10"/>
          </p:nvPr>
        </p:nvSpPr>
        <p:spPr/>
        <p:txBody>
          <a:bodyPr/>
          <a:lstStyle/>
          <a:p>
            <a:r>
              <a:rPr lang="nl-NL"/>
              <a:t>1 november 2019</a:t>
            </a:r>
            <a:endParaRPr lang="nl-NL" dirty="0"/>
          </a:p>
        </p:txBody>
      </p:sp>
      <p:sp>
        <p:nvSpPr>
          <p:cNvPr id="2" name="Tijdelijke aanduiding voor voettekst 1">
            <a:extLst>
              <a:ext uri="{FF2B5EF4-FFF2-40B4-BE49-F238E27FC236}">
                <a16:creationId xmlns:a16="http://schemas.microsoft.com/office/drawing/2014/main" id="{518D9F7C-47F2-45C8-A356-20B1908045FE}"/>
              </a:ext>
            </a:extLst>
          </p:cNvPr>
          <p:cNvSpPr>
            <a:spLocks noGrp="1"/>
          </p:cNvSpPr>
          <p:nvPr>
            <p:ph type="ftr" sz="quarter" idx="11"/>
          </p:nvPr>
        </p:nvSpPr>
        <p:spPr/>
        <p:txBody>
          <a:bodyPr/>
          <a:lstStyle/>
          <a:p>
            <a:endParaRPr lang="nl-NL"/>
          </a:p>
        </p:txBody>
      </p:sp>
      <p:sp>
        <p:nvSpPr>
          <p:cNvPr id="3" name="Tijdelijke aanduiding voor dianummer 2">
            <a:extLst>
              <a:ext uri="{FF2B5EF4-FFF2-40B4-BE49-F238E27FC236}">
                <a16:creationId xmlns:a16="http://schemas.microsoft.com/office/drawing/2014/main" id="{340E4A04-DBDA-44F1-B097-CB764AFD8552}"/>
              </a:ext>
            </a:extLst>
          </p:cNvPr>
          <p:cNvSpPr>
            <a:spLocks noGrp="1"/>
          </p:cNvSpPr>
          <p:nvPr>
            <p:ph type="sldNum" sz="quarter" idx="12"/>
          </p:nvPr>
        </p:nvSpPr>
        <p:spPr/>
        <p:txBody>
          <a:bodyPr/>
          <a:lstStyle/>
          <a:p>
            <a:fld id="{F42B3F14-D836-496B-80A2-23BE75BD68CB}" type="slidenum">
              <a:rPr lang="nl-NL" smtClean="0"/>
              <a:pPr/>
              <a:t>15</a:t>
            </a:fld>
            <a:endParaRPr lang="nl-NL" dirty="0"/>
          </a:p>
        </p:txBody>
      </p:sp>
      <p:graphicFrame>
        <p:nvGraphicFramePr>
          <p:cNvPr id="8" name="Tabel 4">
            <a:extLst>
              <a:ext uri="{FF2B5EF4-FFF2-40B4-BE49-F238E27FC236}">
                <a16:creationId xmlns:a16="http://schemas.microsoft.com/office/drawing/2014/main" id="{1A29A9A3-549E-4344-BFEA-6D55F96B7635}"/>
              </a:ext>
            </a:extLst>
          </p:cNvPr>
          <p:cNvGraphicFramePr>
            <a:graphicFrameLocks noGrp="1"/>
          </p:cNvGraphicFramePr>
          <p:nvPr>
            <p:extLst>
              <p:ext uri="{D42A27DB-BD31-4B8C-83A1-F6EECF244321}">
                <p14:modId xmlns:p14="http://schemas.microsoft.com/office/powerpoint/2010/main" val="633409303"/>
              </p:ext>
            </p:extLst>
          </p:nvPr>
        </p:nvGraphicFramePr>
        <p:xfrm>
          <a:off x="348000" y="1224000"/>
          <a:ext cx="11496000" cy="5346001"/>
        </p:xfrm>
        <a:graphic>
          <a:graphicData uri="http://schemas.openxmlformats.org/drawingml/2006/table">
            <a:tbl>
              <a:tblPr firstRow="1" bandRow="1">
                <a:tableStyleId>{5C22544A-7EE6-4342-B048-85BDC9FD1C3A}</a:tableStyleId>
              </a:tblPr>
              <a:tblGrid>
                <a:gridCol w="1291032">
                  <a:extLst>
                    <a:ext uri="{9D8B030D-6E8A-4147-A177-3AD203B41FA5}">
                      <a16:colId xmlns:a16="http://schemas.microsoft.com/office/drawing/2014/main" val="2596566298"/>
                    </a:ext>
                  </a:extLst>
                </a:gridCol>
                <a:gridCol w="2487090">
                  <a:extLst>
                    <a:ext uri="{9D8B030D-6E8A-4147-A177-3AD203B41FA5}">
                      <a16:colId xmlns:a16="http://schemas.microsoft.com/office/drawing/2014/main" val="685002972"/>
                    </a:ext>
                  </a:extLst>
                </a:gridCol>
                <a:gridCol w="7717878">
                  <a:extLst>
                    <a:ext uri="{9D8B030D-6E8A-4147-A177-3AD203B41FA5}">
                      <a16:colId xmlns:a16="http://schemas.microsoft.com/office/drawing/2014/main" val="2978911330"/>
                    </a:ext>
                  </a:extLst>
                </a:gridCol>
              </a:tblGrid>
              <a:tr h="421775">
                <a:tc>
                  <a:txBody>
                    <a:bodyPr/>
                    <a:lstStyle/>
                    <a:p>
                      <a:r>
                        <a:rPr lang="nl-NL" sz="1600" dirty="0">
                          <a:solidFill>
                            <a:schemeClr val="tx1"/>
                          </a:solidFill>
                        </a:rPr>
                        <a:t>Loop</a:t>
                      </a:r>
                    </a:p>
                  </a:txBody>
                  <a:tcPr marL="101159" marR="101159" marT="50581" marB="50581"/>
                </a:tc>
                <a:tc>
                  <a:txBody>
                    <a:bodyPr/>
                    <a:lstStyle/>
                    <a:p>
                      <a:r>
                        <a:rPr lang="nl-NL" sz="1600" dirty="0">
                          <a:solidFill>
                            <a:schemeClr val="tx1"/>
                          </a:solidFill>
                        </a:rPr>
                        <a:t>Gebruik je</a:t>
                      </a:r>
                    </a:p>
                  </a:txBody>
                  <a:tcPr marL="101159" marR="101159" marT="50581" marB="50581"/>
                </a:tc>
                <a:tc>
                  <a:txBody>
                    <a:bodyPr/>
                    <a:lstStyle/>
                    <a:p>
                      <a:r>
                        <a:rPr lang="nl-NL" sz="1600" dirty="0">
                          <a:solidFill>
                            <a:schemeClr val="tx1"/>
                          </a:solidFill>
                        </a:rPr>
                        <a:t>Voorbeeld</a:t>
                      </a:r>
                    </a:p>
                  </a:txBody>
                  <a:tcPr marL="101159" marR="101159" marT="50581" marB="50581"/>
                </a:tc>
                <a:extLst>
                  <a:ext uri="{0D108BD9-81ED-4DB2-BD59-A6C34878D82A}">
                    <a16:rowId xmlns:a16="http://schemas.microsoft.com/office/drawing/2014/main" val="2451422085"/>
                  </a:ext>
                </a:extLst>
              </a:tr>
              <a:tr h="1106737">
                <a:tc>
                  <a:txBody>
                    <a:bodyPr/>
                    <a:lstStyle/>
                    <a:p>
                      <a:r>
                        <a:rPr lang="nl-NL" sz="1600" dirty="0" err="1">
                          <a:latin typeface="Consolas" panose="020B0609020204030204" pitchFamily="49" charset="0"/>
                        </a:rPr>
                        <a:t>for</a:t>
                      </a:r>
                      <a:endParaRPr lang="nl-NL" sz="1600" dirty="0">
                        <a:latin typeface="Consolas" panose="020B0609020204030204" pitchFamily="49" charset="0"/>
                      </a:endParaRPr>
                    </a:p>
                  </a:txBody>
                  <a:tcPr marL="101159" marR="101159" marT="50581" marB="50581"/>
                </a:tc>
                <a:tc>
                  <a:txBody>
                    <a:bodyPr/>
                    <a:lstStyle/>
                    <a:p>
                      <a:r>
                        <a:rPr lang="nl-NL" sz="1600" dirty="0"/>
                        <a:t>Als je code een specifiek aantal keer wilt herhalen</a:t>
                      </a:r>
                    </a:p>
                  </a:txBody>
                  <a:tcPr marL="101159" marR="101159" marT="50581" marB="50581"/>
                </a:tc>
                <a:tc>
                  <a:txBody>
                    <a:bodyPr/>
                    <a:lstStyle/>
                    <a:p>
                      <a:r>
                        <a:rPr lang="nl-NL" sz="1600" dirty="0" err="1">
                          <a:latin typeface="Consolas" panose="020B0609020204030204" pitchFamily="49" charset="0"/>
                        </a:rPr>
                        <a:t>for</a:t>
                      </a:r>
                      <a:r>
                        <a:rPr lang="nl-NL" sz="1600" dirty="0">
                          <a:latin typeface="Consolas" panose="020B0609020204030204" pitchFamily="49" charset="0"/>
                        </a:rPr>
                        <a:t>(int i = 0; i &lt; 10; i++) </a:t>
                      </a:r>
                    </a:p>
                    <a:p>
                      <a:r>
                        <a:rPr lang="nl-NL" sz="1600" dirty="0">
                          <a:latin typeface="Consolas" panose="020B0609020204030204" pitchFamily="49" charset="0"/>
                        </a:rPr>
                        <a:t>{ </a:t>
                      </a:r>
                    </a:p>
                    <a:p>
                      <a:r>
                        <a:rPr lang="nl-NL" sz="1600" dirty="0">
                          <a:latin typeface="Consolas" panose="020B0609020204030204" pitchFamily="49" charset="0"/>
                        </a:rPr>
                        <a:t>      // doe iets 10x</a:t>
                      </a:r>
                    </a:p>
                    <a:p>
                      <a:r>
                        <a:rPr lang="nl-NL" sz="1600" dirty="0">
                          <a:latin typeface="Consolas" panose="020B0609020204030204" pitchFamily="49" charset="0"/>
                        </a:rPr>
                        <a:t>}</a:t>
                      </a:r>
                    </a:p>
                  </a:txBody>
                  <a:tcPr marL="101159" marR="101159" marT="50581" marB="50581"/>
                </a:tc>
                <a:extLst>
                  <a:ext uri="{0D108BD9-81ED-4DB2-BD59-A6C34878D82A}">
                    <a16:rowId xmlns:a16="http://schemas.microsoft.com/office/drawing/2014/main" val="2250114560"/>
                  </a:ext>
                </a:extLst>
              </a:tr>
              <a:tr h="1357420">
                <a:tc>
                  <a:txBody>
                    <a:bodyPr/>
                    <a:lstStyle/>
                    <a:p>
                      <a:r>
                        <a:rPr lang="nl-NL" sz="1600" dirty="0" err="1">
                          <a:latin typeface="Consolas" panose="020B0609020204030204" pitchFamily="49" charset="0"/>
                        </a:rPr>
                        <a:t>while</a:t>
                      </a:r>
                      <a:endParaRPr lang="nl-NL" sz="1600" dirty="0">
                        <a:latin typeface="Consolas" panose="020B0609020204030204" pitchFamily="49" charset="0"/>
                      </a:endParaRPr>
                    </a:p>
                  </a:txBody>
                  <a:tcPr marL="101159" marR="101159" marT="50581" marB="50581"/>
                </a:tc>
                <a:tc>
                  <a:txBody>
                    <a:bodyPr/>
                    <a:lstStyle/>
                    <a:p>
                      <a:r>
                        <a:rPr lang="nl-NL" sz="1600" dirty="0"/>
                        <a:t>Als je code wilt herhalen, zolang aan een voorwaarde voldaan is</a:t>
                      </a:r>
                    </a:p>
                  </a:txBody>
                  <a:tcPr marL="101159" marR="101159" marT="50581" marB="5058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err="1">
                          <a:latin typeface="Consolas" panose="020B0609020204030204" pitchFamily="49" charset="0"/>
                        </a:rPr>
                        <a:t>while</a:t>
                      </a:r>
                      <a:r>
                        <a:rPr lang="nl-NL" sz="1600" dirty="0">
                          <a:latin typeface="Consolas" panose="020B0609020204030204" pitchFamily="49" charset="0"/>
                        </a:rPr>
                        <a:t>( a &gt; b )</a:t>
                      </a:r>
                    </a:p>
                    <a:p>
                      <a:r>
                        <a:rPr lang="nl-NL" sz="1600" dirty="0">
                          <a:latin typeface="Consolas" panose="020B0609020204030204" pitchFamily="49" charset="0"/>
                        </a:rPr>
                        <a:t>{ </a:t>
                      </a:r>
                    </a:p>
                    <a:p>
                      <a:r>
                        <a:rPr lang="nl-NL" sz="1600" dirty="0">
                          <a:latin typeface="Consolas" panose="020B0609020204030204" pitchFamily="49" charset="0"/>
                        </a:rPr>
                        <a:t>      // doe iets, zolang a groter is dan b</a:t>
                      </a:r>
                    </a:p>
                    <a:p>
                      <a:r>
                        <a:rPr lang="nl-NL" sz="1600" dirty="0">
                          <a:latin typeface="Consolas" panose="020B0609020204030204" pitchFamily="49" charset="0"/>
                        </a:rPr>
                        <a:t>}</a:t>
                      </a:r>
                    </a:p>
                  </a:txBody>
                  <a:tcPr marL="101159" marR="101159" marT="50581" marB="50581"/>
                </a:tc>
                <a:extLst>
                  <a:ext uri="{0D108BD9-81ED-4DB2-BD59-A6C34878D82A}">
                    <a16:rowId xmlns:a16="http://schemas.microsoft.com/office/drawing/2014/main" val="2814315705"/>
                  </a:ext>
                </a:extLst>
              </a:tr>
              <a:tr h="1102649">
                <a:tc>
                  <a:txBody>
                    <a:bodyPr/>
                    <a:lstStyle/>
                    <a:p>
                      <a:r>
                        <a:rPr lang="nl-NL" sz="1600" dirty="0" err="1">
                          <a:latin typeface="Consolas" panose="020B0609020204030204" pitchFamily="49" charset="0"/>
                        </a:rPr>
                        <a:t>foreach</a:t>
                      </a:r>
                      <a:endParaRPr lang="nl-NL" sz="1600" dirty="0">
                        <a:latin typeface="Consolas" panose="020B0609020204030204" pitchFamily="49" charset="0"/>
                      </a:endParaRPr>
                    </a:p>
                  </a:txBody>
                  <a:tcPr marL="101159" marR="101159" marT="50581" marB="50581"/>
                </a:tc>
                <a:tc>
                  <a:txBody>
                    <a:bodyPr/>
                    <a:lstStyle/>
                    <a:p>
                      <a:r>
                        <a:rPr lang="nl-NL" sz="1600" dirty="0"/>
                        <a:t>Als je code wilt herhalen voor alle objecten uit een verzameling</a:t>
                      </a:r>
                    </a:p>
                  </a:txBody>
                  <a:tcPr marL="101159" marR="101159" marT="50581" marB="50581"/>
                </a:tc>
                <a:tc>
                  <a:txBody>
                    <a:bodyPr/>
                    <a:lstStyle/>
                    <a:p>
                      <a:r>
                        <a:rPr lang="nl-NL" sz="1600" dirty="0" err="1">
                          <a:latin typeface="Consolas" panose="020B0609020204030204" pitchFamily="49" charset="0"/>
                        </a:rPr>
                        <a:t>foreach</a:t>
                      </a:r>
                      <a:r>
                        <a:rPr lang="nl-NL" sz="1600" dirty="0">
                          <a:latin typeface="Consolas" panose="020B0609020204030204" pitchFamily="49" charset="0"/>
                        </a:rPr>
                        <a:t>(string student in </a:t>
                      </a:r>
                      <a:r>
                        <a:rPr lang="nl-NL" sz="1600" dirty="0" err="1">
                          <a:latin typeface="Consolas" panose="020B0609020204030204" pitchFamily="49" charset="0"/>
                        </a:rPr>
                        <a:t>students</a:t>
                      </a:r>
                      <a:r>
                        <a:rPr lang="nl-NL" sz="1600" dirty="0">
                          <a:latin typeface="Consolas" panose="020B0609020204030204" pitchFamily="49" charset="0"/>
                        </a:rPr>
                        <a:t>) </a:t>
                      </a:r>
                    </a:p>
                    <a:p>
                      <a:r>
                        <a:rPr lang="nl-NL" sz="1600" dirty="0">
                          <a:latin typeface="Consolas" panose="020B0609020204030204" pitchFamily="49" charset="0"/>
                        </a:rPr>
                        <a:t>{ </a:t>
                      </a:r>
                    </a:p>
                    <a:p>
                      <a:r>
                        <a:rPr lang="nl-NL" sz="1600" dirty="0">
                          <a:latin typeface="Consolas" panose="020B0609020204030204" pitchFamily="49" charset="0"/>
                        </a:rPr>
                        <a:t>      // doe iets voor alle studenten in de lijst </a:t>
                      </a:r>
                      <a:r>
                        <a:rPr lang="nl-NL" sz="1600" dirty="0" err="1">
                          <a:latin typeface="Consolas" panose="020B0609020204030204" pitchFamily="49" charset="0"/>
                        </a:rPr>
                        <a:t>students</a:t>
                      </a:r>
                      <a:endParaRPr lang="nl-NL" sz="1600" dirty="0">
                        <a:latin typeface="Consolas" panose="020B0609020204030204" pitchFamily="49" charset="0"/>
                      </a:endParaRPr>
                    </a:p>
                    <a:p>
                      <a:r>
                        <a:rPr lang="nl-NL" sz="1600" dirty="0">
                          <a:latin typeface="Consolas" panose="020B0609020204030204" pitchFamily="49" charset="0"/>
                        </a:rPr>
                        <a:t>}</a:t>
                      </a:r>
                    </a:p>
                  </a:txBody>
                  <a:tcPr marL="101159" marR="101159" marT="50581" marB="50581"/>
                </a:tc>
                <a:extLst>
                  <a:ext uri="{0D108BD9-81ED-4DB2-BD59-A6C34878D82A}">
                    <a16:rowId xmlns:a16="http://schemas.microsoft.com/office/drawing/2014/main" val="4075287466"/>
                  </a:ext>
                </a:extLst>
              </a:tr>
              <a:tr h="1357420">
                <a:tc>
                  <a:txBody>
                    <a:bodyPr/>
                    <a:lstStyle/>
                    <a:p>
                      <a:r>
                        <a:rPr lang="nl-NL" sz="1600" dirty="0">
                          <a:latin typeface="Consolas" panose="020B0609020204030204" pitchFamily="49" charset="0"/>
                        </a:rPr>
                        <a:t>do </a:t>
                      </a:r>
                      <a:r>
                        <a:rPr lang="nl-NL" sz="1600" dirty="0" err="1">
                          <a:latin typeface="Consolas" panose="020B0609020204030204" pitchFamily="49" charset="0"/>
                        </a:rPr>
                        <a:t>while</a:t>
                      </a:r>
                      <a:endParaRPr lang="nl-NL" sz="1600" dirty="0">
                        <a:latin typeface="Consolas" panose="020B0609020204030204" pitchFamily="49" charset="0"/>
                      </a:endParaRPr>
                    </a:p>
                  </a:txBody>
                  <a:tcPr marL="101159" marR="101159" marT="50581" marB="50581"/>
                </a:tc>
                <a:tc>
                  <a:txBody>
                    <a:bodyPr/>
                    <a:lstStyle/>
                    <a:p>
                      <a:r>
                        <a:rPr lang="nl-NL" sz="1600" dirty="0"/>
                        <a:t>Als je een </a:t>
                      </a:r>
                      <a:r>
                        <a:rPr lang="nl-NL" sz="1600" dirty="0" err="1"/>
                        <a:t>while</a:t>
                      </a:r>
                      <a:r>
                        <a:rPr lang="nl-NL" sz="1600" dirty="0"/>
                        <a:t> wilt die ten minste één keer wordt uitgevoerd</a:t>
                      </a:r>
                    </a:p>
                  </a:txBody>
                  <a:tcPr marL="101159" marR="101159" marT="50581" marB="50581"/>
                </a:tc>
                <a:tc>
                  <a:txBody>
                    <a:bodyPr/>
                    <a:lstStyle/>
                    <a:p>
                      <a:r>
                        <a:rPr lang="nl-NL" sz="1600" dirty="0">
                          <a:latin typeface="Consolas" panose="020B0609020204030204" pitchFamily="49" charset="0"/>
                        </a:rPr>
                        <a:t>do </a:t>
                      </a:r>
                    </a:p>
                    <a:p>
                      <a:r>
                        <a:rPr lang="nl-NL" sz="1600" dirty="0">
                          <a:latin typeface="Consolas" panose="020B0609020204030204" pitchFamily="49" charset="0"/>
                        </a:rPr>
                        <a:t>{ </a:t>
                      </a:r>
                    </a:p>
                    <a:p>
                      <a:r>
                        <a:rPr lang="nl-NL" sz="1600" dirty="0">
                          <a:latin typeface="Consolas" panose="020B0609020204030204" pitchFamily="49" charset="0"/>
                        </a:rPr>
                        <a:t>      // doe iets één keer, en daarna zolang a groter is dan b</a:t>
                      </a:r>
                    </a:p>
                    <a:p>
                      <a:r>
                        <a:rPr lang="nl-NL" sz="1600" dirty="0">
                          <a:latin typeface="Consolas" panose="020B0609020204030204" pitchFamily="49" charset="0"/>
                        </a:rPr>
                        <a:t>}</a:t>
                      </a:r>
                    </a:p>
                    <a:p>
                      <a:r>
                        <a:rPr lang="nl-NL" sz="1600" dirty="0" err="1">
                          <a:latin typeface="Consolas" panose="020B0609020204030204" pitchFamily="49" charset="0"/>
                        </a:rPr>
                        <a:t>while</a:t>
                      </a:r>
                      <a:r>
                        <a:rPr lang="nl-NL" sz="1600" dirty="0">
                          <a:latin typeface="Consolas" panose="020B0609020204030204" pitchFamily="49" charset="0"/>
                        </a:rPr>
                        <a:t> ( a &gt; b );</a:t>
                      </a:r>
                    </a:p>
                  </a:txBody>
                  <a:tcPr marL="101159" marR="101159" marT="50581" marB="50581"/>
                </a:tc>
                <a:extLst>
                  <a:ext uri="{0D108BD9-81ED-4DB2-BD59-A6C34878D82A}">
                    <a16:rowId xmlns:a16="http://schemas.microsoft.com/office/drawing/2014/main" val="4018526989"/>
                  </a:ext>
                </a:extLst>
              </a:tr>
            </a:tbl>
          </a:graphicData>
        </a:graphic>
      </p:graphicFrame>
    </p:spTree>
    <p:extLst>
      <p:ext uri="{BB962C8B-B14F-4D97-AF65-F5344CB8AC3E}">
        <p14:creationId xmlns:p14="http://schemas.microsoft.com/office/powerpoint/2010/main" val="3125954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44170865-6089-45CD-BF5E-9BE20858350A}"/>
              </a:ext>
            </a:extLst>
          </p:cNvPr>
          <p:cNvSpPr>
            <a:spLocks noGrp="1"/>
          </p:cNvSpPr>
          <p:nvPr>
            <p:ph type="title"/>
          </p:nvPr>
        </p:nvSpPr>
        <p:spPr/>
        <p:txBody>
          <a:bodyPr/>
          <a:lstStyle/>
          <a:p>
            <a:r>
              <a:rPr lang="nl-NL" dirty="0"/>
              <a:t>06. </a:t>
            </a:r>
            <a:r>
              <a:rPr lang="nl-NL" sz="4800" dirty="0"/>
              <a:t>Methodes</a:t>
            </a:r>
            <a:endParaRPr lang="nl-NL" dirty="0"/>
          </a:p>
        </p:txBody>
      </p:sp>
      <p:sp>
        <p:nvSpPr>
          <p:cNvPr id="6" name="Tijdelijke aanduiding voor datum 5">
            <a:extLst>
              <a:ext uri="{FF2B5EF4-FFF2-40B4-BE49-F238E27FC236}">
                <a16:creationId xmlns:a16="http://schemas.microsoft.com/office/drawing/2014/main" id="{7D429F9F-ABE8-4D77-928C-17ABB74009C8}"/>
              </a:ext>
            </a:extLst>
          </p:cNvPr>
          <p:cNvSpPr>
            <a:spLocks noGrp="1"/>
          </p:cNvSpPr>
          <p:nvPr>
            <p:ph type="dt" sz="half" idx="10"/>
          </p:nvPr>
        </p:nvSpPr>
        <p:spPr/>
        <p:txBody>
          <a:bodyPr/>
          <a:lstStyle/>
          <a:p>
            <a:r>
              <a:rPr lang="nl-NL"/>
              <a:t>1 november 2019</a:t>
            </a:r>
          </a:p>
        </p:txBody>
      </p:sp>
      <p:sp>
        <p:nvSpPr>
          <p:cNvPr id="3" name="Tijdelijke aanduiding voor dianummer 2">
            <a:extLst>
              <a:ext uri="{FF2B5EF4-FFF2-40B4-BE49-F238E27FC236}">
                <a16:creationId xmlns:a16="http://schemas.microsoft.com/office/drawing/2014/main" id="{1569550B-2693-442D-946F-04DFC5912206}"/>
              </a:ext>
            </a:extLst>
          </p:cNvPr>
          <p:cNvSpPr>
            <a:spLocks noGrp="1"/>
          </p:cNvSpPr>
          <p:nvPr>
            <p:ph type="sldNum" sz="quarter" idx="12"/>
          </p:nvPr>
        </p:nvSpPr>
        <p:spPr/>
        <p:txBody>
          <a:bodyPr/>
          <a:lstStyle/>
          <a:p>
            <a:fld id="{F42B3F14-D836-496B-80A2-23BE75BD68CB}" type="slidenum">
              <a:rPr lang="nl-NL" smtClean="0"/>
              <a:pPr/>
              <a:t>16</a:t>
            </a:fld>
            <a:endParaRPr lang="nl-NL"/>
          </a:p>
        </p:txBody>
      </p:sp>
      <p:sp>
        <p:nvSpPr>
          <p:cNvPr id="10" name="Tekstballon: rechthoek 9">
            <a:extLst>
              <a:ext uri="{FF2B5EF4-FFF2-40B4-BE49-F238E27FC236}">
                <a16:creationId xmlns:a16="http://schemas.microsoft.com/office/drawing/2014/main" id="{88AA931D-1FCC-4E3F-9DE4-2D4D92B28031}"/>
              </a:ext>
            </a:extLst>
          </p:cNvPr>
          <p:cNvSpPr/>
          <p:nvPr/>
        </p:nvSpPr>
        <p:spPr>
          <a:xfrm>
            <a:off x="3326900" y="1399433"/>
            <a:ext cx="3490201" cy="1096945"/>
          </a:xfrm>
          <a:prstGeom prst="wedgeRectCallout">
            <a:avLst>
              <a:gd name="adj1" fmla="val -7555"/>
              <a:gd name="adj2" fmla="val 9311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tx1"/>
                </a:solidFill>
              </a:rPr>
              <a:t>2. Return type</a:t>
            </a:r>
          </a:p>
          <a:p>
            <a:pPr algn="ctr"/>
            <a:r>
              <a:rPr lang="nl-NL" sz="1600" dirty="0">
                <a:solidFill>
                  <a:schemeClr val="tx1"/>
                </a:solidFill>
              </a:rPr>
              <a:t>Als je methode iets teruggeeft, vul je hier het datatype is. Schrijf ‘</a:t>
            </a:r>
            <a:r>
              <a:rPr lang="nl-NL" sz="1600" dirty="0" err="1">
                <a:solidFill>
                  <a:schemeClr val="tx1"/>
                </a:solidFill>
              </a:rPr>
              <a:t>void</a:t>
            </a:r>
            <a:r>
              <a:rPr lang="nl-NL" sz="1600" dirty="0">
                <a:solidFill>
                  <a:schemeClr val="tx1"/>
                </a:solidFill>
              </a:rPr>
              <a:t>’ als je methode niets teruggeeft.</a:t>
            </a:r>
          </a:p>
        </p:txBody>
      </p:sp>
      <p:pic>
        <p:nvPicPr>
          <p:cNvPr id="4" name="Afbeelding 3">
            <a:extLst>
              <a:ext uri="{FF2B5EF4-FFF2-40B4-BE49-F238E27FC236}">
                <a16:creationId xmlns:a16="http://schemas.microsoft.com/office/drawing/2014/main" id="{96793514-1869-4CCA-AE58-CC17AF5BDC58}"/>
              </a:ext>
            </a:extLst>
          </p:cNvPr>
          <p:cNvPicPr>
            <a:picLocks noChangeAspect="1"/>
          </p:cNvPicPr>
          <p:nvPr/>
        </p:nvPicPr>
        <p:blipFill>
          <a:blip r:embed="rId3"/>
          <a:stretch>
            <a:fillRect/>
          </a:stretch>
        </p:blipFill>
        <p:spPr>
          <a:xfrm>
            <a:off x="3845862" y="3071424"/>
            <a:ext cx="5687219" cy="1095528"/>
          </a:xfrm>
          <a:prstGeom prst="rect">
            <a:avLst/>
          </a:prstGeom>
        </p:spPr>
      </p:pic>
      <p:sp>
        <p:nvSpPr>
          <p:cNvPr id="11" name="Tekstballon: rechthoek 10">
            <a:extLst>
              <a:ext uri="{FF2B5EF4-FFF2-40B4-BE49-F238E27FC236}">
                <a16:creationId xmlns:a16="http://schemas.microsoft.com/office/drawing/2014/main" id="{94836634-FB82-4F87-809F-A437D9BEF2E7}"/>
              </a:ext>
            </a:extLst>
          </p:cNvPr>
          <p:cNvSpPr/>
          <p:nvPr/>
        </p:nvSpPr>
        <p:spPr>
          <a:xfrm>
            <a:off x="7278360" y="1399432"/>
            <a:ext cx="4565640" cy="1096945"/>
          </a:xfrm>
          <a:prstGeom prst="wedgeRectCallout">
            <a:avLst>
              <a:gd name="adj1" fmla="val -86050"/>
              <a:gd name="adj2" fmla="val 1029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tx1"/>
                </a:solidFill>
              </a:rPr>
              <a:t>3. Methodenaam</a:t>
            </a:r>
          </a:p>
          <a:p>
            <a:pPr algn="ctr"/>
            <a:r>
              <a:rPr lang="nl-NL" sz="1600" dirty="0">
                <a:solidFill>
                  <a:schemeClr val="tx1"/>
                </a:solidFill>
              </a:rPr>
              <a:t>Hier komt de methodenaam; kies een beschrijvende naam (wat doet de methode?) en altijd </a:t>
            </a:r>
            <a:r>
              <a:rPr lang="nl-NL" sz="1600" dirty="0" err="1">
                <a:solidFill>
                  <a:schemeClr val="tx1"/>
                </a:solidFill>
              </a:rPr>
              <a:t>UpperCamelCase</a:t>
            </a:r>
            <a:r>
              <a:rPr lang="nl-NL" sz="1600" dirty="0">
                <a:solidFill>
                  <a:schemeClr val="tx1"/>
                </a:solidFill>
              </a:rPr>
              <a:t>/</a:t>
            </a:r>
            <a:r>
              <a:rPr lang="nl-NL" sz="1600" dirty="0" err="1">
                <a:solidFill>
                  <a:schemeClr val="tx1"/>
                </a:solidFill>
              </a:rPr>
              <a:t>PascalCase</a:t>
            </a:r>
            <a:endParaRPr lang="nl-NL" sz="1600" dirty="0">
              <a:solidFill>
                <a:schemeClr val="tx1"/>
              </a:solidFill>
            </a:endParaRPr>
          </a:p>
        </p:txBody>
      </p:sp>
      <p:sp>
        <p:nvSpPr>
          <p:cNvPr id="12" name="Tekstballon: rechthoek 11">
            <a:extLst>
              <a:ext uri="{FF2B5EF4-FFF2-40B4-BE49-F238E27FC236}">
                <a16:creationId xmlns:a16="http://schemas.microsoft.com/office/drawing/2014/main" id="{E7CA1291-A55A-4756-AF8D-666C84FC405E}"/>
              </a:ext>
            </a:extLst>
          </p:cNvPr>
          <p:cNvSpPr/>
          <p:nvPr/>
        </p:nvSpPr>
        <p:spPr>
          <a:xfrm>
            <a:off x="6993820" y="4361624"/>
            <a:ext cx="4850180" cy="1264473"/>
          </a:xfrm>
          <a:prstGeom prst="wedgeRectCallout">
            <a:avLst>
              <a:gd name="adj1" fmla="val -34372"/>
              <a:gd name="adj2" fmla="val -1186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tx1"/>
                </a:solidFill>
              </a:rPr>
              <a:t>4. Parameters</a:t>
            </a:r>
          </a:p>
          <a:p>
            <a:pPr algn="ctr"/>
            <a:r>
              <a:rPr lang="nl-NL" sz="1600" dirty="0">
                <a:solidFill>
                  <a:schemeClr val="tx1"/>
                </a:solidFill>
              </a:rPr>
              <a:t>Hier geef je aan welke informatie de methode nodig heeft en in welke variabele je dit wilt opslaan. In dit voorbeeld twee integers </a:t>
            </a:r>
            <a:r>
              <a:rPr lang="nl-NL" sz="1600" i="1" dirty="0" err="1">
                <a:solidFill>
                  <a:schemeClr val="tx1"/>
                </a:solidFill>
              </a:rPr>
              <a:t>getalEen</a:t>
            </a:r>
            <a:r>
              <a:rPr lang="nl-NL" sz="1600" dirty="0">
                <a:solidFill>
                  <a:schemeClr val="tx1"/>
                </a:solidFill>
              </a:rPr>
              <a:t> en </a:t>
            </a:r>
            <a:r>
              <a:rPr lang="nl-NL" sz="1600" i="1" dirty="0" err="1">
                <a:solidFill>
                  <a:schemeClr val="tx1"/>
                </a:solidFill>
              </a:rPr>
              <a:t>getalTwee</a:t>
            </a:r>
            <a:r>
              <a:rPr lang="nl-NL" sz="1600" i="1" dirty="0">
                <a:solidFill>
                  <a:schemeClr val="tx1"/>
                </a:solidFill>
              </a:rPr>
              <a:t>.</a:t>
            </a:r>
            <a:r>
              <a:rPr lang="nl-NL" sz="1600" dirty="0">
                <a:solidFill>
                  <a:schemeClr val="tx1"/>
                </a:solidFill>
              </a:rPr>
              <a:t> </a:t>
            </a:r>
          </a:p>
        </p:txBody>
      </p:sp>
      <p:sp>
        <p:nvSpPr>
          <p:cNvPr id="13" name="Tekstballon: rechthoek 12">
            <a:extLst>
              <a:ext uri="{FF2B5EF4-FFF2-40B4-BE49-F238E27FC236}">
                <a16:creationId xmlns:a16="http://schemas.microsoft.com/office/drawing/2014/main" id="{2566E500-26FB-4002-8CBC-516CC2EB351B}"/>
              </a:ext>
            </a:extLst>
          </p:cNvPr>
          <p:cNvSpPr/>
          <p:nvPr/>
        </p:nvSpPr>
        <p:spPr>
          <a:xfrm>
            <a:off x="1075174" y="4740243"/>
            <a:ext cx="4326652" cy="1436648"/>
          </a:xfrm>
          <a:prstGeom prst="wedgeRectCallout">
            <a:avLst>
              <a:gd name="adj1" fmla="val 34460"/>
              <a:gd name="adj2" fmla="val -1019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tx1"/>
                </a:solidFill>
              </a:rPr>
              <a:t>5. Return</a:t>
            </a:r>
          </a:p>
          <a:p>
            <a:pPr algn="ctr"/>
            <a:r>
              <a:rPr lang="nl-NL" sz="1600" dirty="0">
                <a:solidFill>
                  <a:schemeClr val="tx1"/>
                </a:solidFill>
              </a:rPr>
              <a:t>Wanneer je methode iets teruggeeft (zie 2), moet er altijd een return zijn van het datatype dat je in de </a:t>
            </a:r>
            <a:r>
              <a:rPr lang="nl-NL" sz="1600" dirty="0" err="1">
                <a:solidFill>
                  <a:schemeClr val="tx1"/>
                </a:solidFill>
              </a:rPr>
              <a:t>declaration</a:t>
            </a:r>
            <a:r>
              <a:rPr lang="nl-NL" sz="1600" dirty="0">
                <a:solidFill>
                  <a:schemeClr val="tx1"/>
                </a:solidFill>
              </a:rPr>
              <a:t> hebt opgegeven (in dit geval een int).</a:t>
            </a:r>
          </a:p>
        </p:txBody>
      </p:sp>
      <p:sp>
        <p:nvSpPr>
          <p:cNvPr id="14" name="Tekstballon: rechthoek 13">
            <a:extLst>
              <a:ext uri="{FF2B5EF4-FFF2-40B4-BE49-F238E27FC236}">
                <a16:creationId xmlns:a16="http://schemas.microsoft.com/office/drawing/2014/main" id="{195F6979-077B-40F3-B766-FAA7469FE9D2}"/>
              </a:ext>
            </a:extLst>
          </p:cNvPr>
          <p:cNvSpPr/>
          <p:nvPr/>
        </p:nvSpPr>
        <p:spPr>
          <a:xfrm>
            <a:off x="624038" y="2702101"/>
            <a:ext cx="2702862" cy="1210142"/>
          </a:xfrm>
          <a:prstGeom prst="wedgeRectCallout">
            <a:avLst>
              <a:gd name="adj1" fmla="val 66302"/>
              <a:gd name="adj2" fmla="val 10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tx1"/>
                </a:solidFill>
              </a:rPr>
              <a:t>1. Access </a:t>
            </a:r>
            <a:r>
              <a:rPr lang="nl-NL" sz="1600" b="1" dirty="0" err="1">
                <a:solidFill>
                  <a:schemeClr val="tx1"/>
                </a:solidFill>
              </a:rPr>
              <a:t>modifier</a:t>
            </a:r>
            <a:endParaRPr lang="nl-NL" sz="1600" b="1" dirty="0">
              <a:solidFill>
                <a:schemeClr val="tx1"/>
              </a:solidFill>
            </a:endParaRPr>
          </a:p>
          <a:p>
            <a:pPr algn="ctr"/>
            <a:r>
              <a:rPr lang="nl-NL" sz="1600" dirty="0">
                <a:solidFill>
                  <a:schemeClr val="tx1"/>
                </a:solidFill>
              </a:rPr>
              <a:t>Voor nu mag je hier altijd ‘public’ gebruiken; als dat niet werkt, probeer ‘</a:t>
            </a:r>
            <a:r>
              <a:rPr lang="nl-NL" sz="1600" dirty="0" err="1">
                <a:solidFill>
                  <a:schemeClr val="tx1"/>
                </a:solidFill>
              </a:rPr>
              <a:t>static</a:t>
            </a:r>
            <a:r>
              <a:rPr lang="nl-NL" sz="1600" dirty="0">
                <a:solidFill>
                  <a:schemeClr val="tx1"/>
                </a:solidFill>
              </a:rPr>
              <a:t>’.</a:t>
            </a:r>
          </a:p>
        </p:txBody>
      </p:sp>
    </p:spTree>
    <p:extLst>
      <p:ext uri="{BB962C8B-B14F-4D97-AF65-F5344CB8AC3E}">
        <p14:creationId xmlns:p14="http://schemas.microsoft.com/office/powerpoint/2010/main" val="3092370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44170865-6089-45CD-BF5E-9BE20858350A}"/>
              </a:ext>
            </a:extLst>
          </p:cNvPr>
          <p:cNvSpPr>
            <a:spLocks noGrp="1"/>
          </p:cNvSpPr>
          <p:nvPr>
            <p:ph type="title"/>
          </p:nvPr>
        </p:nvSpPr>
        <p:spPr/>
        <p:txBody>
          <a:bodyPr/>
          <a:lstStyle/>
          <a:p>
            <a:r>
              <a:rPr lang="nl-NL" dirty="0"/>
              <a:t>06. </a:t>
            </a:r>
            <a:r>
              <a:rPr lang="nl-NL" sz="4800" dirty="0"/>
              <a:t>Methodes</a:t>
            </a:r>
            <a:endParaRPr lang="nl-NL" dirty="0"/>
          </a:p>
        </p:txBody>
      </p:sp>
      <p:sp>
        <p:nvSpPr>
          <p:cNvPr id="6" name="Tijdelijke aanduiding voor datum 5">
            <a:extLst>
              <a:ext uri="{FF2B5EF4-FFF2-40B4-BE49-F238E27FC236}">
                <a16:creationId xmlns:a16="http://schemas.microsoft.com/office/drawing/2014/main" id="{7D429F9F-ABE8-4D77-928C-17ABB74009C8}"/>
              </a:ext>
            </a:extLst>
          </p:cNvPr>
          <p:cNvSpPr>
            <a:spLocks noGrp="1"/>
          </p:cNvSpPr>
          <p:nvPr>
            <p:ph type="dt" sz="half" idx="10"/>
          </p:nvPr>
        </p:nvSpPr>
        <p:spPr/>
        <p:txBody>
          <a:bodyPr/>
          <a:lstStyle/>
          <a:p>
            <a:r>
              <a:rPr lang="nl-NL"/>
              <a:t>1 november 2019</a:t>
            </a:r>
          </a:p>
        </p:txBody>
      </p:sp>
      <p:sp>
        <p:nvSpPr>
          <p:cNvPr id="3" name="Tijdelijke aanduiding voor dianummer 2">
            <a:extLst>
              <a:ext uri="{FF2B5EF4-FFF2-40B4-BE49-F238E27FC236}">
                <a16:creationId xmlns:a16="http://schemas.microsoft.com/office/drawing/2014/main" id="{1569550B-2693-442D-946F-04DFC5912206}"/>
              </a:ext>
            </a:extLst>
          </p:cNvPr>
          <p:cNvSpPr>
            <a:spLocks noGrp="1"/>
          </p:cNvSpPr>
          <p:nvPr>
            <p:ph type="sldNum" sz="quarter" idx="12"/>
          </p:nvPr>
        </p:nvSpPr>
        <p:spPr/>
        <p:txBody>
          <a:bodyPr/>
          <a:lstStyle/>
          <a:p>
            <a:fld id="{F42B3F14-D836-496B-80A2-23BE75BD68CB}" type="slidenum">
              <a:rPr lang="nl-NL" smtClean="0"/>
              <a:pPr/>
              <a:t>17</a:t>
            </a:fld>
            <a:endParaRPr lang="nl-NL"/>
          </a:p>
        </p:txBody>
      </p:sp>
      <p:pic>
        <p:nvPicPr>
          <p:cNvPr id="15" name="Afbeelding 14">
            <a:extLst>
              <a:ext uri="{FF2B5EF4-FFF2-40B4-BE49-F238E27FC236}">
                <a16:creationId xmlns:a16="http://schemas.microsoft.com/office/drawing/2014/main" id="{6A9339DD-4DBA-4866-A3A0-E35A12A8D542}"/>
              </a:ext>
            </a:extLst>
          </p:cNvPr>
          <p:cNvPicPr>
            <a:picLocks noChangeAspect="1"/>
          </p:cNvPicPr>
          <p:nvPr/>
        </p:nvPicPr>
        <p:blipFill>
          <a:blip r:embed="rId3"/>
          <a:stretch>
            <a:fillRect/>
          </a:stretch>
        </p:blipFill>
        <p:spPr>
          <a:xfrm>
            <a:off x="1574601" y="3808613"/>
            <a:ext cx="3580114" cy="412785"/>
          </a:xfrm>
          <a:prstGeom prst="rect">
            <a:avLst/>
          </a:prstGeom>
        </p:spPr>
      </p:pic>
      <p:sp>
        <p:nvSpPr>
          <p:cNvPr id="16" name="Tekstballon: rechthoek 15">
            <a:extLst>
              <a:ext uri="{FF2B5EF4-FFF2-40B4-BE49-F238E27FC236}">
                <a16:creationId xmlns:a16="http://schemas.microsoft.com/office/drawing/2014/main" id="{45F140DB-2AB5-44C0-927D-CEA478AE3931}"/>
              </a:ext>
            </a:extLst>
          </p:cNvPr>
          <p:cNvSpPr/>
          <p:nvPr/>
        </p:nvSpPr>
        <p:spPr>
          <a:xfrm>
            <a:off x="4075331" y="2524808"/>
            <a:ext cx="5194150" cy="1096945"/>
          </a:xfrm>
          <a:prstGeom prst="wedgeRectCallout">
            <a:avLst>
              <a:gd name="adj1" fmla="val -38425"/>
              <a:gd name="adj2" fmla="val 688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2. Argumenten</a:t>
            </a:r>
          </a:p>
          <a:p>
            <a:pPr algn="ctr"/>
            <a:r>
              <a:rPr lang="nl-NL" sz="1463" dirty="0">
                <a:solidFill>
                  <a:schemeClr val="tx1"/>
                </a:solidFill>
              </a:rPr>
              <a:t>De methode heeft 2 parameters. Wanneer we die bij het aanroepen willen vullen noemen we dat argumenten. Hier zijn de argumenten: 4 en 5</a:t>
            </a:r>
          </a:p>
        </p:txBody>
      </p:sp>
      <p:sp>
        <p:nvSpPr>
          <p:cNvPr id="17" name="Tekstballon: rechthoek 16">
            <a:extLst>
              <a:ext uri="{FF2B5EF4-FFF2-40B4-BE49-F238E27FC236}">
                <a16:creationId xmlns:a16="http://schemas.microsoft.com/office/drawing/2014/main" id="{58CA4B51-23A7-4471-9A5A-99BB8BFA2478}"/>
              </a:ext>
            </a:extLst>
          </p:cNvPr>
          <p:cNvSpPr/>
          <p:nvPr/>
        </p:nvSpPr>
        <p:spPr>
          <a:xfrm>
            <a:off x="823141" y="4545748"/>
            <a:ext cx="4830718" cy="1185625"/>
          </a:xfrm>
          <a:prstGeom prst="wedgeRectCallout">
            <a:avLst>
              <a:gd name="adj1" fmla="val 2498"/>
              <a:gd name="adj2" fmla="val -802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3. Resultaat opslaan</a:t>
            </a:r>
          </a:p>
          <a:p>
            <a:pPr algn="ctr"/>
            <a:r>
              <a:rPr lang="nl-NL" sz="1463" dirty="0">
                <a:solidFill>
                  <a:schemeClr val="tx1"/>
                </a:solidFill>
              </a:rPr>
              <a:t>Optellen geeft een int terug. Met het =-teken geven we aan dat we willen dat dit resultaat (hier 9) wordt opgeslagen in de (nieuwe) int </a:t>
            </a:r>
            <a:r>
              <a:rPr lang="nl-NL" sz="1463" i="1" dirty="0">
                <a:solidFill>
                  <a:schemeClr val="tx1"/>
                </a:solidFill>
              </a:rPr>
              <a:t>resultaat</a:t>
            </a:r>
            <a:r>
              <a:rPr lang="nl-NL" sz="1463" dirty="0">
                <a:solidFill>
                  <a:schemeClr val="tx1"/>
                </a:solidFill>
              </a:rPr>
              <a:t>.</a:t>
            </a:r>
          </a:p>
        </p:txBody>
      </p:sp>
      <p:sp>
        <p:nvSpPr>
          <p:cNvPr id="19" name="Tekstballon: rechthoek 18">
            <a:extLst>
              <a:ext uri="{FF2B5EF4-FFF2-40B4-BE49-F238E27FC236}">
                <a16:creationId xmlns:a16="http://schemas.microsoft.com/office/drawing/2014/main" id="{4F4214A1-CA5F-4F22-8CA9-E27DEE277461}"/>
              </a:ext>
            </a:extLst>
          </p:cNvPr>
          <p:cNvSpPr/>
          <p:nvPr/>
        </p:nvSpPr>
        <p:spPr>
          <a:xfrm>
            <a:off x="924076" y="2536452"/>
            <a:ext cx="2697723" cy="1096945"/>
          </a:xfrm>
          <a:prstGeom prst="wedgeRectCallout">
            <a:avLst>
              <a:gd name="adj1" fmla="val 43714"/>
              <a:gd name="adj2" fmla="val 7202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1. Methode aanroep</a:t>
            </a:r>
          </a:p>
          <a:p>
            <a:pPr algn="ctr"/>
            <a:r>
              <a:rPr lang="nl-NL" sz="1463" dirty="0">
                <a:solidFill>
                  <a:schemeClr val="tx1"/>
                </a:solidFill>
              </a:rPr>
              <a:t>Hier staat de methode die je wilt gebruiken, in dit geval Optellen</a:t>
            </a:r>
          </a:p>
        </p:txBody>
      </p:sp>
      <p:sp>
        <p:nvSpPr>
          <p:cNvPr id="20" name="Rechthoek 19">
            <a:extLst>
              <a:ext uri="{FF2B5EF4-FFF2-40B4-BE49-F238E27FC236}">
                <a16:creationId xmlns:a16="http://schemas.microsoft.com/office/drawing/2014/main" id="{B0F553C4-BF3F-4B65-983F-567ADADAA300}"/>
              </a:ext>
            </a:extLst>
          </p:cNvPr>
          <p:cNvSpPr/>
          <p:nvPr/>
        </p:nvSpPr>
        <p:spPr>
          <a:xfrm>
            <a:off x="324000" y="969927"/>
            <a:ext cx="5194151" cy="125241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nl-NL" sz="1463" dirty="0"/>
              <a:t>Je kunt methodes (bijv. </a:t>
            </a:r>
            <a:r>
              <a:rPr lang="nl-NL" sz="1463" dirty="0" err="1"/>
              <a:t>Add</a:t>
            </a:r>
            <a:r>
              <a:rPr lang="nl-NL" sz="1463" dirty="0"/>
              <a:t>, in het kader hiernaast) op verschillende plekken in je code gebruiken. Het resultaat van een methode die iets teruggeeft wordt dan ingevuld op de plek waar hij wordt aangeroepen.</a:t>
            </a:r>
          </a:p>
        </p:txBody>
      </p:sp>
      <p:pic>
        <p:nvPicPr>
          <p:cNvPr id="22" name="Afbeelding 21">
            <a:extLst>
              <a:ext uri="{FF2B5EF4-FFF2-40B4-BE49-F238E27FC236}">
                <a16:creationId xmlns:a16="http://schemas.microsoft.com/office/drawing/2014/main" id="{775C951D-B8BD-464E-823B-39FC220AFB24}"/>
              </a:ext>
            </a:extLst>
          </p:cNvPr>
          <p:cNvPicPr>
            <a:picLocks noChangeAspect="1"/>
          </p:cNvPicPr>
          <p:nvPr/>
        </p:nvPicPr>
        <p:blipFill>
          <a:blip r:embed="rId4"/>
          <a:stretch>
            <a:fillRect/>
          </a:stretch>
        </p:blipFill>
        <p:spPr>
          <a:xfrm>
            <a:off x="5805125" y="5181098"/>
            <a:ext cx="5706862" cy="1109504"/>
          </a:xfrm>
          <a:prstGeom prst="rect">
            <a:avLst/>
          </a:prstGeom>
        </p:spPr>
      </p:pic>
      <p:pic>
        <p:nvPicPr>
          <p:cNvPr id="21" name="Afbeelding 20">
            <a:extLst>
              <a:ext uri="{FF2B5EF4-FFF2-40B4-BE49-F238E27FC236}">
                <a16:creationId xmlns:a16="http://schemas.microsoft.com/office/drawing/2014/main" id="{5BB0D1A8-02CA-44A2-8857-A28A18F7AC98}"/>
              </a:ext>
            </a:extLst>
          </p:cNvPr>
          <p:cNvPicPr>
            <a:picLocks noChangeAspect="1"/>
          </p:cNvPicPr>
          <p:nvPr/>
        </p:nvPicPr>
        <p:blipFill>
          <a:blip r:embed="rId5"/>
          <a:stretch>
            <a:fillRect/>
          </a:stretch>
        </p:blipFill>
        <p:spPr>
          <a:xfrm>
            <a:off x="6517205" y="969927"/>
            <a:ext cx="4759423" cy="961640"/>
          </a:xfrm>
          <a:prstGeom prst="rect">
            <a:avLst/>
          </a:prstGeom>
        </p:spPr>
      </p:pic>
      <p:sp>
        <p:nvSpPr>
          <p:cNvPr id="18" name="Tekstballon: rechthoek 17">
            <a:extLst>
              <a:ext uri="{FF2B5EF4-FFF2-40B4-BE49-F238E27FC236}">
                <a16:creationId xmlns:a16="http://schemas.microsoft.com/office/drawing/2014/main" id="{B2553B44-9A0D-4271-A952-59186CCF3FDC}"/>
              </a:ext>
            </a:extLst>
          </p:cNvPr>
          <p:cNvSpPr/>
          <p:nvPr/>
        </p:nvSpPr>
        <p:spPr>
          <a:xfrm>
            <a:off x="6672406" y="3808613"/>
            <a:ext cx="4954086" cy="1185625"/>
          </a:xfrm>
          <a:prstGeom prst="wedgeRectCallout">
            <a:avLst>
              <a:gd name="adj1" fmla="val -8669"/>
              <a:gd name="adj2" fmla="val 6887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63" b="1" dirty="0">
                <a:solidFill>
                  <a:schemeClr val="tx1"/>
                </a:solidFill>
              </a:rPr>
              <a:t>Andere manieren van aanroepen</a:t>
            </a:r>
          </a:p>
          <a:p>
            <a:pPr algn="ctr"/>
            <a:r>
              <a:rPr lang="nl-NL" sz="1463" dirty="0">
                <a:solidFill>
                  <a:schemeClr val="tx1"/>
                </a:solidFill>
              </a:rPr>
              <a:t>Je kunt een methode op allerlei plekken aanroepen, bijv. in een </a:t>
            </a:r>
            <a:r>
              <a:rPr lang="nl-NL" sz="1463" dirty="0" err="1">
                <a:solidFill>
                  <a:schemeClr val="tx1"/>
                </a:solidFill>
              </a:rPr>
              <a:t>Console.WriteLine</a:t>
            </a:r>
            <a:r>
              <a:rPr lang="nl-NL" sz="1463" dirty="0">
                <a:solidFill>
                  <a:schemeClr val="tx1"/>
                </a:solidFill>
              </a:rPr>
              <a:t> of een </a:t>
            </a:r>
            <a:r>
              <a:rPr lang="nl-NL" sz="1463" dirty="0" err="1">
                <a:solidFill>
                  <a:schemeClr val="tx1"/>
                </a:solidFill>
              </a:rPr>
              <a:t>if</a:t>
            </a:r>
            <a:r>
              <a:rPr lang="nl-NL" sz="1463" dirty="0">
                <a:solidFill>
                  <a:schemeClr val="tx1"/>
                </a:solidFill>
              </a:rPr>
              <a:t>-statement.</a:t>
            </a:r>
          </a:p>
        </p:txBody>
      </p:sp>
    </p:spTree>
    <p:extLst>
      <p:ext uri="{BB962C8B-B14F-4D97-AF65-F5344CB8AC3E}">
        <p14:creationId xmlns:p14="http://schemas.microsoft.com/office/powerpoint/2010/main" val="1035133914"/>
      </p:ext>
    </p:extLst>
  </p:cSld>
  <p:clrMapOvr>
    <a:masterClrMapping/>
  </p:clrMapOvr>
</p:sld>
</file>

<file path=ppt/theme/theme1.xml><?xml version="1.0" encoding="utf-8"?>
<a:theme xmlns:a="http://schemas.openxmlformats.org/drawingml/2006/main" name="Curio_B">
  <a:themeElements>
    <a:clrScheme name="Curio_B">
      <a:dk1>
        <a:srgbClr val="000000"/>
      </a:dk1>
      <a:lt1>
        <a:sysClr val="window" lastClr="FFFFFF"/>
      </a:lt1>
      <a:dk2>
        <a:srgbClr val="004C35"/>
      </a:dk2>
      <a:lt2>
        <a:srgbClr val="FFFFFF"/>
      </a:lt2>
      <a:accent1>
        <a:srgbClr val="FFCC00"/>
      </a:accent1>
      <a:accent2>
        <a:srgbClr val="03357C"/>
      </a:accent2>
      <a:accent3>
        <a:srgbClr val="F9329C"/>
      </a:accent3>
      <a:accent4>
        <a:srgbClr val="56DDEF"/>
      </a:accent4>
      <a:accent5>
        <a:srgbClr val="C1ED0C"/>
      </a:accent5>
      <a:accent6>
        <a:srgbClr val="78034B"/>
      </a:accent6>
      <a:hlink>
        <a:srgbClr val="004FE1"/>
      </a:hlink>
      <a:folHlink>
        <a:srgbClr val="79797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io_B [Alleen-lezen]" id="{5A8B243D-C053-4068-9832-3C9B5E91F07A}" vid="{97CE2755-9124-423A-8BBB-F16208C10CE4}"/>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12EF286F59344C916594550B43FF54" ma:contentTypeVersion="13" ma:contentTypeDescription="Een nieuw document maken." ma:contentTypeScope="" ma:versionID="331f8ca35fea794618ca1a746408342d">
  <xsd:schema xmlns:xsd="http://www.w3.org/2001/XMLSchema" xmlns:xs="http://www.w3.org/2001/XMLSchema" xmlns:p="http://schemas.microsoft.com/office/2006/metadata/properties" xmlns:ns2="2d96f5cc-d7ea-40f6-93af-32a13c797d1b" xmlns:ns3="91cdf6f5-f056-495a-8e79-c5907b52ee15" targetNamespace="http://schemas.microsoft.com/office/2006/metadata/properties" ma:root="true" ma:fieldsID="6be38e954cc96e413ed3c1a2b209590c" ns2:_="" ns3:_="">
    <xsd:import namespace="2d96f5cc-d7ea-40f6-93af-32a13c797d1b"/>
    <xsd:import namespace="91cdf6f5-f056-495a-8e79-c5907b52ee1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MediaServiceAutoKeyPoints" minOccurs="0"/>
                <xsd:element ref="ns2:MediaServiceKeyPoint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96f5cc-d7ea-40f6-93af-32a13c797d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cdf6f5-f056-495a-8e79-c5907b52ee15" elementFormDefault="qualified">
    <xsd:import namespace="http://schemas.microsoft.com/office/2006/documentManagement/types"/>
    <xsd:import namespace="http://schemas.microsoft.com/office/infopath/2007/PartnerControls"/>
    <xsd:element name="SharedWithUsers" ma:index="10"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B866DB-33E6-4EDC-B919-373755881F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96f5cc-d7ea-40f6-93af-32a13c797d1b"/>
    <ds:schemaRef ds:uri="91cdf6f5-f056-495a-8e79-c5907b52ee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6409EAC-08E6-4C6E-8972-9618C5B8AE3D}">
  <ds:schemaRefs>
    <ds:schemaRef ds:uri="http://schemas.microsoft.com/sharepoint/v3/contenttype/forms"/>
  </ds:schemaRefs>
</ds:datastoreItem>
</file>

<file path=customXml/itemProps3.xml><?xml version="1.0" encoding="utf-8"?>
<ds:datastoreItem xmlns:ds="http://schemas.openxmlformats.org/officeDocument/2006/customXml" ds:itemID="{EA62280D-FF4B-4996-827C-847E4901E7D0}">
  <ds:schemaRefs>
    <ds:schemaRef ds:uri="http://purl.org/dc/dcmitype/"/>
    <ds:schemaRef ds:uri="http://schemas.microsoft.com/office/2006/metadata/properties"/>
    <ds:schemaRef ds:uri="http://purl.org/dc/elements/1.1/"/>
    <ds:schemaRef ds:uri="http://www.w3.org/XML/1998/namespace"/>
    <ds:schemaRef ds:uri="http://schemas.microsoft.com/office/2006/documentManagement/types"/>
    <ds:schemaRef ds:uri="http://purl.org/dc/terms/"/>
    <ds:schemaRef ds:uri="91cdf6f5-f056-495a-8e79-c5907b52ee15"/>
    <ds:schemaRef ds:uri="http://schemas.microsoft.com/office/infopath/2007/PartnerControls"/>
    <ds:schemaRef ds:uri="http://schemas.openxmlformats.org/package/2006/metadata/core-properties"/>
    <ds:schemaRef ds:uri="2d96f5cc-d7ea-40f6-93af-32a13c797d1b"/>
  </ds:schemaRefs>
</ds:datastoreItem>
</file>

<file path=docProps/app.xml><?xml version="1.0" encoding="utf-8"?>
<Properties xmlns="http://schemas.openxmlformats.org/officeDocument/2006/extended-properties" xmlns:vt="http://schemas.openxmlformats.org/officeDocument/2006/docPropsVTypes">
  <Template>Office Theme</Template>
  <TotalTime>29203</TotalTime>
  <Words>1769</Words>
  <Application>Microsoft Office PowerPoint</Application>
  <PresentationFormat>Breedbeeld</PresentationFormat>
  <Paragraphs>280</Paragraphs>
  <Slides>17</Slides>
  <Notes>17</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17</vt:i4>
      </vt:variant>
    </vt:vector>
  </HeadingPairs>
  <TitlesOfParts>
    <vt:vector size="21" baseType="lpstr">
      <vt:lpstr>Arial</vt:lpstr>
      <vt:lpstr>Calibri</vt:lpstr>
      <vt:lpstr>Consolas</vt:lpstr>
      <vt:lpstr>Curio_B</vt:lpstr>
      <vt:lpstr>Cheat Sheet C#</vt:lpstr>
      <vt:lpstr>Over deze Cheat Sheet</vt:lpstr>
      <vt:lpstr>PowerPoint-presentatie</vt:lpstr>
      <vt:lpstr>02. Variabelen</vt:lpstr>
      <vt:lpstr>02. Variabelen</vt:lpstr>
      <vt:lpstr>PowerPoint-presentatie</vt:lpstr>
      <vt:lpstr>03. Datatypes</vt:lpstr>
      <vt:lpstr>03. Datatypes</vt:lpstr>
      <vt:lpstr>03. Datatypes</vt:lpstr>
      <vt:lpstr>03. Datatypes</vt:lpstr>
      <vt:lpstr>03. Datatypes</vt:lpstr>
      <vt:lpstr>04. If-statements</vt:lpstr>
      <vt:lpstr>04. If-statements</vt:lpstr>
      <vt:lpstr>04. If-statements</vt:lpstr>
      <vt:lpstr>05. Loops</vt:lpstr>
      <vt:lpstr>06. Methodes</vt:lpstr>
      <vt:lpstr>06. Methodes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Wicher Hulzebosch</dc:creator>
  <cp:lastModifiedBy>Hulzebosch, Wicher</cp:lastModifiedBy>
  <cp:revision>36</cp:revision>
  <cp:lastPrinted>2021-04-14T14:11:43Z</cp:lastPrinted>
  <dcterms:created xsi:type="dcterms:W3CDTF">2021-03-31T09:15:35Z</dcterms:created>
  <dcterms:modified xsi:type="dcterms:W3CDTF">2022-09-09T10:35:57Z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0x0101001C12EF286F59344C916594550B43FF54</vt:lpwstr>
  </property>
  <property fmtid="{D5CDD505-2E9C-101B-9397-08002B2CF9AE}" pid="3" name="TaxKeyword">
    <vt:lpwstr/>
  </property>
</Properties>
</file>